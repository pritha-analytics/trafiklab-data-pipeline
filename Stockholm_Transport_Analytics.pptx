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4.xml" ContentType="application/vnd.openxmlformats-officedocument.presentationml.notesSlide+xml"/>
  <Override PartName="/ppt/ink/ink12.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notesSlides/notesSlide8.xml" ContentType="application/vnd.openxmlformats-officedocument.presentationml.notesSlide+xml"/>
  <Override PartName="/ppt/ink/ink20.xml" ContentType="application/inkml+xml"/>
  <Override PartName="/ppt/notesSlides/notesSlide9.xml" ContentType="application/vnd.openxmlformats-officedocument.presentationml.notesSlide+xml"/>
  <Override PartName="/ppt/ink/ink2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319" r:id="rId3"/>
    <p:sldId id="257" r:id="rId4"/>
    <p:sldId id="266" r:id="rId5"/>
    <p:sldId id="320" r:id="rId6"/>
    <p:sldId id="303" r:id="rId7"/>
    <p:sldId id="326" r:id="rId8"/>
    <p:sldId id="267" r:id="rId9"/>
    <p:sldId id="269" r:id="rId10"/>
    <p:sldId id="292" r:id="rId11"/>
    <p:sldId id="316" r:id="rId12"/>
    <p:sldId id="328" r:id="rId13"/>
    <p:sldId id="260" r:id="rId14"/>
    <p:sldId id="280" r:id="rId15"/>
    <p:sldId id="321" r:id="rId16"/>
    <p:sldId id="314" r:id="rId17"/>
    <p:sldId id="306" r:id="rId18"/>
    <p:sldId id="281" r:id="rId19"/>
    <p:sldId id="282" r:id="rId20"/>
    <p:sldId id="283" r:id="rId21"/>
    <p:sldId id="284" r:id="rId22"/>
    <p:sldId id="285" r:id="rId23"/>
    <p:sldId id="329" r:id="rId24"/>
    <p:sldId id="261" r:id="rId25"/>
    <p:sldId id="322" r:id="rId26"/>
    <p:sldId id="287" r:id="rId27"/>
    <p:sldId id="286" r:id="rId28"/>
    <p:sldId id="308" r:id="rId29"/>
    <p:sldId id="317" r:id="rId30"/>
    <p:sldId id="324" r:id="rId31"/>
    <p:sldId id="312" r:id="rId32"/>
    <p:sldId id="310" r:id="rId33"/>
    <p:sldId id="262" r:id="rId34"/>
    <p:sldId id="291" r:id="rId35"/>
    <p:sldId id="330" r:id="rId36"/>
    <p:sldId id="318" r:id="rId37"/>
    <p:sldId id="265" r:id="rId3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CC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3" d="100"/>
          <a:sy n="123" d="100"/>
        </p:scale>
        <p:origin x="298" y="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800" b="0" i="0" u="none" strike="noStrike">
                <a:solidFill>
                  <a:srgbClr val="000000"/>
                </a:solidFill>
                <a:latin typeface="Arial"/>
              </a:defRPr>
            </a:pPr>
            <a:r>
              <a:rPr lang="en-IN" sz="1800" b="0" i="0" u="none" strike="noStrike">
                <a:solidFill>
                  <a:srgbClr val="000000"/>
                </a:solidFill>
                <a:latin typeface="Arial"/>
              </a:rPr>
              <a:t>Routes by Transport Mode</a:t>
            </a:r>
          </a:p>
        </c:rich>
      </c:tx>
      <c:overlay val="0"/>
    </c:title>
    <c:autoTitleDeleted val="0"/>
    <c:plotArea>
      <c:layout/>
      <c:barChart>
        <c:barDir val="bar"/>
        <c:grouping val="clustered"/>
        <c:varyColors val="0"/>
        <c:ser>
          <c:idx val="0"/>
          <c:order val="0"/>
          <c:tx>
            <c:strRef>
              <c:f>Sheet1!$B$1</c:f>
              <c:strCache>
                <c:ptCount val="1"/>
                <c:pt idx="0">
                  <c:v>Routes</c:v>
                </c:pt>
              </c:strCache>
            </c:strRef>
          </c:tx>
          <c:spPr>
            <a:solidFill>
              <a:srgbClr val="0096C7"/>
            </a:solidFill>
            <a:effectLst/>
          </c:spPr>
          <c:invertIfNegative val="0"/>
          <c:dPt>
            <c:idx val="0"/>
            <c:invertIfNegative val="0"/>
            <c:bubble3D val="0"/>
            <c:extLst>
              <c:ext xmlns:c16="http://schemas.microsoft.com/office/drawing/2014/chart" uri="{C3380CC4-5D6E-409C-BE32-E72D297353CC}">
                <c16:uniqueId val="{00000001-E595-4E45-BE2C-F41E66549AA3}"/>
              </c:ext>
            </c:extLst>
          </c:dPt>
          <c:dPt>
            <c:idx val="1"/>
            <c:invertIfNegative val="0"/>
            <c:bubble3D val="0"/>
            <c:spPr>
              <a:solidFill>
                <a:srgbClr val="0077B6"/>
              </a:solidFill>
              <a:effectLst/>
            </c:spPr>
            <c:extLst>
              <c:ext xmlns:c16="http://schemas.microsoft.com/office/drawing/2014/chart" uri="{C3380CC4-5D6E-409C-BE32-E72D297353CC}">
                <c16:uniqueId val="{00000003-E595-4E45-BE2C-F41E66549AA3}"/>
              </c:ext>
            </c:extLst>
          </c:dPt>
          <c:dPt>
            <c:idx val="2"/>
            <c:invertIfNegative val="0"/>
            <c:bubble3D val="0"/>
            <c:spPr>
              <a:solidFill>
                <a:srgbClr val="023E8A"/>
              </a:solidFill>
              <a:effectLst/>
            </c:spPr>
            <c:extLst>
              <c:ext xmlns:c16="http://schemas.microsoft.com/office/drawing/2014/chart" uri="{C3380CC4-5D6E-409C-BE32-E72D297353CC}">
                <c16:uniqueId val="{00000005-E595-4E45-BE2C-F41E66549AA3}"/>
              </c:ext>
            </c:extLst>
          </c:dPt>
          <c:dPt>
            <c:idx val="3"/>
            <c:invertIfNegative val="0"/>
            <c:bubble3D val="0"/>
            <c:spPr>
              <a:solidFill>
                <a:srgbClr val="03045E"/>
              </a:solidFill>
              <a:effectLst/>
            </c:spPr>
            <c:extLst>
              <c:ext xmlns:c16="http://schemas.microsoft.com/office/drawing/2014/chart" uri="{C3380CC4-5D6E-409C-BE32-E72D297353CC}">
                <c16:uniqueId val="{00000007-E595-4E45-BE2C-F41E66549AA3}"/>
              </c:ext>
            </c:extLst>
          </c:dPt>
          <c:dPt>
            <c:idx val="4"/>
            <c:invertIfNegative val="0"/>
            <c:bubble3D val="0"/>
            <c:spPr>
              <a:solidFill>
                <a:srgbClr val="00B4D8"/>
              </a:solidFill>
              <a:effectLst/>
            </c:spPr>
            <c:extLst>
              <c:ext xmlns:c16="http://schemas.microsoft.com/office/drawing/2014/chart" uri="{C3380CC4-5D6E-409C-BE32-E72D297353CC}">
                <c16:uniqueId val="{00000009-E595-4E45-BE2C-F41E66549AA3}"/>
              </c:ext>
            </c:extLst>
          </c:dPt>
          <c:dLbls>
            <c:numFmt formatCode="#,##0" sourceLinked="0"/>
            <c:spPr>
              <a:noFill/>
              <a:ln>
                <a:noFill/>
              </a:ln>
              <a:effectLst/>
            </c:spPr>
            <c:txPr>
              <a:bodyPr/>
              <a:lstStyle/>
              <a:p>
                <a:pPr>
                  <a:defRPr sz="1200" b="0" i="0" u="none" strike="noStrike">
                    <a:solidFill>
                      <a:srgbClr val="0D1B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Bus</c:v>
                </c:pt>
                <c:pt idx="1">
                  <c:v>Ferry</c:v>
                </c:pt>
                <c:pt idx="2">
                  <c:v>Tram</c:v>
                </c:pt>
                <c:pt idx="3">
                  <c:v>Metro</c:v>
                </c:pt>
                <c:pt idx="4">
                  <c:v>Commuter Rail</c:v>
                </c:pt>
              </c:strCache>
            </c:strRef>
          </c:cat>
          <c:val>
            <c:numRef>
              <c:f>Sheet1!$B$2:$B$6</c:f>
              <c:numCache>
                <c:formatCode>General</c:formatCode>
                <c:ptCount val="5"/>
                <c:pt idx="0">
                  <c:v>552</c:v>
                </c:pt>
                <c:pt idx="1">
                  <c:v>37</c:v>
                </c:pt>
                <c:pt idx="2">
                  <c:v>13</c:v>
                </c:pt>
                <c:pt idx="3">
                  <c:v>7</c:v>
                </c:pt>
                <c:pt idx="4">
                  <c:v>5</c:v>
                </c:pt>
              </c:numCache>
            </c:numRef>
          </c:val>
          <c:extLst>
            <c:ext xmlns:c16="http://schemas.microsoft.com/office/drawing/2014/chart" uri="{C3380CC4-5D6E-409C-BE32-E72D297353CC}">
              <c16:uniqueId val="{0000000A-E595-4E45-BE2C-F41E66549AA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627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4A627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Departures by Hour of Day</a:t>
            </a:r>
          </a:p>
        </c:rich>
      </c:tx>
      <c:overlay val="0"/>
    </c:title>
    <c:autoTitleDeleted val="0"/>
    <c:plotArea>
      <c:layout/>
      <c:lineChart>
        <c:grouping val="standard"/>
        <c:varyColors val="0"/>
        <c:ser>
          <c:idx val="0"/>
          <c:order val="0"/>
          <c:tx>
            <c:strRef>
              <c:f>Sheet1!$B$1</c:f>
              <c:strCache>
                <c:ptCount val="1"/>
                <c:pt idx="0">
                  <c:v>Departures</c:v>
                </c:pt>
              </c:strCache>
            </c:strRef>
          </c:tx>
          <c:spPr>
            <a:ln w="31750" cap="flat">
              <a:solidFill>
                <a:srgbClr val="00B4D8"/>
              </a:solidFill>
              <a:prstDash val="solid"/>
              <a:round/>
            </a:ln>
            <a:effectLst/>
          </c:spPr>
          <c:marker>
            <c:symbol val="circle"/>
            <c:size val="6"/>
            <c:spPr>
              <a:solidFill>
                <a:srgbClr val="00B4D8"/>
              </a:solidFill>
              <a:ln w="9525" cap="flat">
                <a:solidFill>
                  <a:srgbClr val="00B4D8"/>
                </a:solidFill>
                <a:prstDash val="solid"/>
                <a:round/>
              </a:ln>
              <a:effectLst/>
            </c:spPr>
          </c:marker>
          <c:cat>
            <c:strRef>
              <c:f>Sheet1!$A$2:$A$25</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Sheet1!$B$2:$B$25</c:f>
              <c:numCache>
                <c:formatCode>General</c:formatCode>
                <c:ptCount val="24"/>
                <c:pt idx="0">
                  <c:v>500</c:v>
                </c:pt>
                <c:pt idx="1">
                  <c:v>300</c:v>
                </c:pt>
                <c:pt idx="2">
                  <c:v>200</c:v>
                </c:pt>
                <c:pt idx="3">
                  <c:v>150</c:v>
                </c:pt>
                <c:pt idx="4">
                  <c:v>1200</c:v>
                </c:pt>
                <c:pt idx="5">
                  <c:v>55000</c:v>
                </c:pt>
                <c:pt idx="6">
                  <c:v>120000</c:v>
                </c:pt>
                <c:pt idx="7">
                  <c:v>154000</c:v>
                </c:pt>
                <c:pt idx="8">
                  <c:v>152000</c:v>
                </c:pt>
                <c:pt idx="9">
                  <c:v>143000</c:v>
                </c:pt>
                <c:pt idx="10">
                  <c:v>144000</c:v>
                </c:pt>
                <c:pt idx="11">
                  <c:v>146000</c:v>
                </c:pt>
                <c:pt idx="12">
                  <c:v>148000</c:v>
                </c:pt>
                <c:pt idx="13">
                  <c:v>152000</c:v>
                </c:pt>
                <c:pt idx="14">
                  <c:v>158000</c:v>
                </c:pt>
                <c:pt idx="15">
                  <c:v>165000</c:v>
                </c:pt>
                <c:pt idx="16">
                  <c:v>172000</c:v>
                </c:pt>
                <c:pt idx="17">
                  <c:v>181000</c:v>
                </c:pt>
                <c:pt idx="18">
                  <c:v>175000</c:v>
                </c:pt>
                <c:pt idx="19">
                  <c:v>163000</c:v>
                </c:pt>
                <c:pt idx="20">
                  <c:v>132000</c:v>
                </c:pt>
                <c:pt idx="21">
                  <c:v>113000</c:v>
                </c:pt>
                <c:pt idx="22">
                  <c:v>104000</c:v>
                </c:pt>
                <c:pt idx="23">
                  <c:v>84000</c:v>
                </c:pt>
              </c:numCache>
            </c:numRef>
          </c:val>
          <c:smooth val="1"/>
          <c:extLst>
            <c:ext xmlns:c16="http://schemas.microsoft.com/office/drawing/2014/chart" uri="{C3380CC4-5D6E-409C-BE32-E72D297353CC}">
              <c16:uniqueId val="{00000000-AB67-4430-887C-BD26EB72048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627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627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9T15:39:17.265"/>
    </inkml:context>
    <inkml:brush xml:id="br0">
      <inkml:brushProperty name="width" value="0.035" units="cm"/>
      <inkml:brushProperty name="height" value="0.035" units="cm"/>
      <inkml:brushProperty name="color" value="#E71224"/>
    </inkml:brush>
  </inkml:definitions>
  <inkml:trace contextRef="#ctx0" brushRef="#br0">1001 2 24575,'-33'0'0,"-42"-1"0,1 2 0,0 5 0,-91 17 0,115-10 0,0 2 0,1 3 0,1 1 0,1 3 0,1 2 0,-53 36 0,87-54 0,1 1 0,0 1 0,0 0 0,1 1 0,0-1 0,1 2 0,0 0 0,0 0 0,1 0 0,-13 23 0,9-6 0,0 2 0,2-1 0,1 1 0,1 1 0,2-1 0,1 1 0,1 1 0,2-1 0,1 0 0,1 1 0,1-1 0,8 41 0,3-5 0,3 0 0,3 0 0,3-2 0,42 93 0,-40-113 0,1 0 0,1-2 0,3 0 0,2-2 0,1-1 0,2-2 0,1-1 0,2-1 0,2-2 0,1-2 0,1-2 0,2-1 0,0-2 0,2-2 0,1-2 0,0-2 0,58 16 0,-78-30 0,1-1 0,0-1 0,1-2 0,-1 0 0,0-2 0,36-4 0,155-32 0,-167 26 0,-12 2 0,0-2 0,-1 0 0,0-3 0,52-25 0,-71 28 0,-1 0 0,1-1 0,-2-1 0,0-1 0,0 0 0,-1-1 0,-1-1 0,0 0 0,-1 0 0,14-24 0,-11 15 0,-2-1 0,-1-1 0,-1 0 0,-1 0 0,-1-1 0,-2-1 0,0 1 0,-2-1 0,-1-1 0,-1 1 0,-1-44 0,-1-51 0,-6-135 0,3 239 0,0 1 0,-2-1 0,-1 0 0,0 1 0,-1 0 0,-1 0 0,-1 0 0,0 0 0,-1 1 0,-1 1 0,-1-1 0,0 2 0,-14-17 0,-125-128 0,123 135 0,-2 1 0,-1 2 0,-61-37 0,67 46 0,-1 1 0,0 0 0,0 2 0,-1 1 0,-46-10 0,12 6 0,30 6 0,0 1 0,-1 2 0,-52-2 0,41 15-1365,29-6-5461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9T15:39:21.122"/>
    </inkml:context>
    <inkml:brush xml:id="br0">
      <inkml:brushProperty name="width" value="0.035" units="cm"/>
      <inkml:brushProperty name="height" value="0.035" units="cm"/>
      <inkml:brushProperty name="color" value="#E71224"/>
    </inkml:brush>
  </inkml:definitions>
  <inkml:trace contextRef="#ctx0" brushRef="#br0">1936 85 24575,'-7'-1'0,"0"0"0,0 0 0,1-1 0,-13-5 0,-1 1 0,-53-11 0,-1 4 0,-1 3 0,-99-1 0,38 4 0,-125-2 0,187 9 0,0 3 0,-119 20 0,85-3 0,40-9 0,-121 38 0,153-37 0,0 3 0,-47 26 0,67-31 0,1 0 0,0 1 0,0 0 0,1 1 0,1 1 0,0 0 0,-12 17 0,14-15 0,1 0 0,0 0 0,1 2 0,1-1 0,0 1 0,1 0 0,1 0 0,1 1 0,0 0 0,1 0 0,1 0 0,1 0 0,0 37 0,3-38 0,6 148 0,-4-145 0,0 0 0,1-1 0,1 1 0,1-1 0,1 0 0,11 21 0,4 2 0,3 0 0,37 47 0,-32-50 0,2-1 0,1-2 0,46 38 0,25 17 0,-44-36 0,91 62 0,-85-73 0,1-3 0,3-3 0,0-3 0,3-3 0,91 27 0,-85-39 0,1-4 0,1-3 0,0-4 0,119-1 0,207 9 0,-5 0 0,-152-8 0,111-2 0,-350-8 0,0-1 0,-1 0 0,1-1 0,0 0 0,-1 0 0,1-1 0,-1 0 0,0-1 0,0-1 0,-1 1 0,16-13 0,3-6 0,-2 0 0,30-36 0,-23 24 0,-19 21 0,0-1 0,0-1 0,-2 0 0,0-1 0,-1 0 0,-1-1 0,0 0 0,-2-1 0,0 0 0,-1 0 0,-1-1 0,4-27 0,-2-26 0,-2-1 0,-7-118 0,-2 166 0,-1 0 0,-1 0 0,-1 0 0,-2 1 0,-1 0 0,0 0 0,-16-28 0,5 16 0,-2 0 0,-2 2 0,-49-59 0,8 26 0,-97-78 0,111 103 0,-139-105 0,143 115 0,32 23 0,-1 1 0,0 1 0,-1 0 0,0 1 0,-25-8 0,-91-18 0,86 24 0,-42-14 0,62 15 0,-2 1 0,1 1 0,-1 2 0,-55-3 0,-152 8-1365,221 0-5461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9T15:39:43.416"/>
    </inkml:context>
    <inkml:brush xml:id="br0">
      <inkml:brushProperty name="width" value="0.035" units="cm"/>
      <inkml:brushProperty name="height" value="0.035" units="cm"/>
      <inkml:brushProperty name="color" value="#E71224"/>
    </inkml:brush>
  </inkml:definitions>
  <inkml:trace contextRef="#ctx0" brushRef="#br0">0 0 24575,'977'0'0,"-926"9"129,-17-2-1623,-21-6-5332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8T07:35:44.328"/>
    </inkml:context>
    <inkml:brush xml:id="br0">
      <inkml:brushProperty name="width" value="0.05" units="cm"/>
      <inkml:brushProperty name="height" value="0.05" units="cm"/>
      <inkml:brushProperty name="color" value="#E71224"/>
    </inkml:brush>
  </inkml:definitions>
  <inkml:trace contextRef="#ctx0" brushRef="#br0">0 33 24575,'1691'0'0,"-1513"9"0,4 0 0,220 3 0,110-6 0,-288-8 0,35-11 0,-124 6 0,-82 7 0,95-15 0,-106 9 0,75-1 0,-38 4 0,12-11-1365,-73 12-5461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8T07:35:46.692"/>
    </inkml:context>
    <inkml:brush xml:id="br0">
      <inkml:brushProperty name="width" value="0.05" units="cm"/>
      <inkml:brushProperty name="height" value="0.05" units="cm"/>
      <inkml:brushProperty name="color" value="#E71224"/>
    </inkml:brush>
  </inkml:definitions>
  <inkml:trace contextRef="#ctx0" brushRef="#br0">0 87 24575,'1'-1'0,"-1"0"0,0-1 0,1 1 0,-1 0 0,1 0 0,0 0 0,-1 0 0,1 0 0,0 0 0,-1 0 0,1 0 0,0 0 0,0 0 0,0 1 0,0-1 0,0 0 0,0 0 0,0 1 0,0-1 0,0 1 0,0-1 0,2 0 0,28-10 0,-27 10 0,39-9 0,1 2 0,86-5 0,-117 12 0,150-4 0,36-3 0,223 0 0,-255 10 0,629-2-1365,-777 0-5461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38"/>
    </inkml:context>
    <inkml:brush xml:id="br0">
      <inkml:brushProperty name="width" value="0.035" units="cm"/>
      <inkml:brushProperty name="height" value="0.035" units="cm"/>
      <inkml:brushProperty name="color" value="#FFC114"/>
    </inkml:brush>
  </inkml:definitions>
  <inkml:trace contextRef="#ctx0" brushRef="#br0">0 11 24575,'574'0'0,"-548"1"0,1 2 0,-1 1 0,45 13 0,-42-9 0,0-1 0,48 4 0,-34-10 0,-11 0 0,45 7 0,-23-2 0,1-2 0,89-6 0,-44 0 0,589 2 0,-671-1 0,-1 0 0,20-5 0,31-3 0,138-4 0,-45-4 0,-114 14 0,54 3 0,35-1 0,-77-7 0,-34 4 0,42-1 0,962 6 0,-981-8-1365,-34 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45"/>
    </inkml:context>
    <inkml:brush xml:id="br0">
      <inkml:brushProperty name="width" value="0.035" units="cm"/>
      <inkml:brushProperty name="height" value="0.035" units="cm"/>
      <inkml:brushProperty name="color" value="#FFC114"/>
    </inkml:brush>
  </inkml:definitions>
  <inkml:trace contextRef="#ctx0" brushRef="#br0">1 69 24575,'7'-1'0,"0"0"0,0-1 0,0 1 0,0-1 0,11-5 0,20-6 0,48 1 0,110-2 0,88 15 0,-112 1 0,-143-2 0,291-13 0,-255 8 0,94 4 0,-67 3 0,38 7 0,-5-1 0,109 5 0,-83-6 0,20 3 0,76 11 0,-147-14 0,61 2 0,-38 0 0,-2 0 0,553-10 0,-638-1 0,0-1 0,39-10 0,-37 6 0,65-3 0,66 11-1365,-154-1-5461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46"/>
    </inkml:context>
    <inkml:brush xml:id="br0">
      <inkml:brushProperty name="width" value="0.035" units="cm"/>
      <inkml:brushProperty name="height" value="0.035" units="cm"/>
      <inkml:brushProperty name="color" value="#FFC114"/>
    </inkml:brush>
  </inkml:definitions>
  <inkml:trace contextRef="#ctx0" brushRef="#br0">1 1 24575,'1863'0'0,"-1734"8"0,-9 1 0,29-1 0,14 1 0,222 3 0,-22 2 0,-9-8 0,-84-5 0,-147 7 0,53 2 0,72 2 0,116-6 0,-203-8 0,-43 1 0,134 2 0,-162 7 0,36 1 0,184 3 0,26-6 0,-7-1 0,-319-5 0,516 51 0,-444-43 0,0-3 0,90-6 0,-48-1 0,287 2-1365,-394 0-5461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47"/>
    </inkml:context>
    <inkml:brush xml:id="br0">
      <inkml:brushProperty name="width" value="0.035" units="cm"/>
      <inkml:brushProperty name="height" value="0.035" units="cm"/>
      <inkml:brushProperty name="color" value="#FFC114"/>
    </inkml:brush>
  </inkml:definitions>
  <inkml:trace contextRef="#ctx0" brushRef="#br0">1 36 24575,'94'2'0,"101"-4"0,44-25 0,255 19 0,-292 10 0,879-2 0,-961 8 0,4 1 0,-74-8 0,78 10 0,-76-6 0,1-2 0,58-5 0,-18 0 0,162 11 0,9 0 0,-176-11 0,112 4 0,-127 6 0,33 1 0,88 8 0,401-18-1365,-580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48"/>
    </inkml:context>
    <inkml:brush xml:id="br0">
      <inkml:brushProperty name="width" value="0.035" units="cm"/>
      <inkml:brushProperty name="height" value="0.035" units="cm"/>
      <inkml:brushProperty name="color" value="#FFC114"/>
    </inkml:brush>
  </inkml:definitions>
  <inkml:trace contextRef="#ctx0" brushRef="#br0">1 52 24575,'0'0'0,"0"-1"0,1 0 0,-1 0 0,1 1 0,-1-1 0,1 0 0,-1 1 0,1-1 0,-1 1 0,1-1 0,0 1 0,-1-1 0,1 1 0,0-1 0,-1 1 0,1-1 0,0 1 0,-1 0 0,1-1 0,0 1 0,0 0 0,0 0 0,-1 0 0,1-1 0,0 1 0,0 0 0,0 0 0,30-2 0,-26 1 0,720-17 0,-509 20 0,254-4 0,-327-7 0,68 0 0,1696 10 0,-1783 8 0,5 0 0,-107-8 0,37 6 0,17 1 0,314-7 0,-187-2 0,-184 2 0,37 6 0,19 2 0,589-10-1365,-640 1-5461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49"/>
    </inkml:context>
    <inkml:brush xml:id="br0">
      <inkml:brushProperty name="width" value="0.035" units="cm"/>
      <inkml:brushProperty name="height" value="0.035" units="cm"/>
      <inkml:brushProperty name="color" value="#FFC114"/>
    </inkml:brush>
  </inkml:definitions>
  <inkml:trace contextRef="#ctx0" brushRef="#br0">1 54 24575,'20'-7'0,"0"0"0,0 1 0,1 2 0,32-5 0,-28 6 0,79-8 0,1 4 0,114 9 0,-73 0 0,326 11 0,-262-8 0,45 4 0,0 1 0,-54-3 0,117 13 0,-131-14 0,12 2 0,107 1 0,-23-2 0,82 13 0,-231-15 0,48 4 0,187 1 0,-38-3 0,135 1 0,-283-10 0,6 3 0,498-15 0,-574 11 0,-69 3 0,85-11 0,23-8-1365,-138 16-5461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9T16:44:40.646"/>
    </inkml:context>
    <inkml:brush xml:id="br0">
      <inkml:brushProperty name="width" value="0.035" units="cm"/>
      <inkml:brushProperty name="height" value="0.035" units="cm"/>
      <inkml:brushProperty name="color" value="#E71224"/>
    </inkml:brush>
  </inkml:definitions>
  <inkml:trace contextRef="#ctx0" brushRef="#br0">0 1 24575,'0'0'-8191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0:50.901"/>
    </inkml:context>
    <inkml:brush xml:id="br0">
      <inkml:brushProperty name="width" value="0.035" units="cm"/>
      <inkml:brushProperty name="height" value="0.035" units="cm"/>
      <inkml:brushProperty name="color" value="#E71224"/>
    </inkml:brush>
  </inkml:definitions>
  <inkml:trace contextRef="#ctx0" brushRef="#br0">1756 120 24575,'0'-2'0,"-1"1"0,1-1 0,-1 1 0,1-1 0,-1 0 0,0 1 0,0-1 0,1 1 0,-1 0 0,0-1 0,0 1 0,0 0 0,-1-1 0,1 1 0,0 0 0,0 0 0,-1 0 0,1 0 0,-1 0 0,1 0 0,-1 1 0,1-1 0,-1 0 0,1 1 0,-1-1 0,0 1 0,1 0 0,-4-1 0,-10-2 0,0 1 0,-21-1 0,17 2 0,-245-18 0,174 15 0,-242 1 0,317 4 0,0 2 0,0-1 0,0 2 0,0 0 0,1 0 0,-14 8 0,-84 45 0,33-15 0,20-14 0,1 2 0,2 4 0,1 1 0,2 3 0,-54 50 0,10 20 0,83-93 0,-3 6 0,1 0 0,1 0 0,1 2 0,1-1 0,1 2 0,1 0 0,1 0 0,-13 51 0,17-33 0,3 0 0,2 0 0,7 78 0,0-82 0,2 1 0,2-1 0,26 66 0,-19-59 0,17 49 0,5-3 0,3-1 0,71 110 0,-76-145 0,2-2 0,73 76 0,-66-83 0,2-2 0,1-2 0,3-3 0,1-1 0,1-3 0,2-3 0,2-2 0,1-2 0,0-3 0,2-3 0,1-2 0,1-3 0,0-3 0,1-3 0,0-2 0,120 0 0,-138-8 0,0-2 0,-1-3 0,0-1 0,79-20 0,554-205 0,-647 218 0,-2-2 0,0-1 0,-1-1 0,29-23 0,-40 26 0,0-1 0,-2-1 0,0 0 0,0-1 0,-2-1 0,0 0 0,13-24 0,-11 13 0,-1-2 0,-1 0 0,8-32 0,21-99 0,-20 73 0,5-19 0,-5-1 0,-4-1 0,-5 0 0,-2-123 0,-9 145 0,0 39 0,-2 0 0,-12-84 0,7 108 0,-2 0 0,-1 0 0,-1 1 0,0 0 0,-2 1 0,-1 0 0,-23-32 0,1 9 0,-1 1 0,-51-47 0,66 73 0,-2 0 0,1 2 0,-2 0 0,0 1 0,-1 2 0,-1 0 0,0 2 0,0 1 0,-48-13 0,-8 4 0,-158-14 0,-127 25 0,219 10 0,76 2 0,-1 3 0,2 2 0,-106 29 0,110-24-1365,52-10-5461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0:57.517"/>
    </inkml:context>
    <inkml:brush xml:id="br0">
      <inkml:brushProperty name="width" value="0.35" units="cm"/>
      <inkml:brushProperty name="height" value="0.35" units="cm"/>
      <inkml:brushProperty name="color" value="#E71224"/>
    </inkml:brush>
  </inkml:definitions>
  <inkml:trace contextRef="#ctx0" brushRef="#br0">0 1 24575,'0'0'-8191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1:01.317"/>
    </inkml:context>
    <inkml:brush xml:id="br0">
      <inkml:brushProperty name="width" value="0.35" units="cm"/>
      <inkml:brushProperty name="height" value="0.35" units="cm"/>
      <inkml:brushProperty name="color" value="#E71224"/>
    </inkml:brush>
  </inkml:definitions>
  <inkml:trace contextRef="#ctx0" brushRef="#br0">2139 19 24575,'-540'-15'0,"486"12"0,-76 5 0,110 1 0,1 1 0,0 1 0,0 1 0,0 1 0,-18 9 0,18-8 0,0 0 0,0-1 0,-1-1 0,-32 5 0,22-6 0,0 2 0,0 0 0,-36 16 0,24-9 0,-128 28 0,30-9 0,74-15 0,-102 34 0,142-42 0,0 1 0,2 1 0,-1 1 0,-29 21 0,42-22 0,-1 1 0,2 0 0,0 0 0,0 1 0,2 0 0,-1 1 0,-11 25 0,3-6 0,7-11 0,0 1 0,2 1 0,1-1 0,1 1 0,-5 34 0,-17 56 0,17-75 0,1 0 0,1 1 0,3 0 0,1 0 0,2 1 0,2-1 0,2 1 0,5 45 0,0-60 0,0 0 0,2-1 0,15 37 0,38 72 0,-51-115 0,21 36 0,72 101 0,-44-72 0,-15-9 0,-29-49 0,25 35 0,-24-39 0,2-1 0,0-1 0,2 0 0,0-2 0,1 0 0,1-1 0,0-1 0,45 26 0,9 0 0,-52-29 0,0 0 0,1-1 0,1-2 0,46 16 0,98 8 0,255 20 0,-315-48 0,178-9 0,-256-2 0,49-12 0,-11 2 0,-23 7 0,215-43 0,-215 39 0,-1-2 0,0-3 0,67-32 0,-84 30 0,-1-1 0,0-2 0,-1 0 0,43-49 0,-60 61 0,-1 1 0,-1-1 0,1 0 0,-1 0 0,-1-1 0,0 0 0,-1 0 0,5-11 0,0-8 0,10-42 0,-19 67 0,22-70 0,3 1 0,3 1 0,43-75 0,-24 49 0,-26 54 0,-3-1 0,-1-1 0,-2 0 0,-3-2 0,13-76 0,-23 96 0,11-160 0,-14 171 0,-6-134 0,4 126 0,-2 0 0,-1 0 0,-16-47 0,13 50 0,-1 1 0,-1 1 0,-1 0 0,-1 0 0,0 1 0,-2 1 0,0 0 0,-1 0 0,-1 2 0,0 0 0,-1 1 0,-1 0 0,0 2 0,-1 0 0,-21-10 0,10 7 0,-1 2 0,0 0 0,-36-8 0,-98-19 0,104 28 0,49 10 0,-51-11 0,-84-9 0,-62-4 0,156 22-1365,-2-1-5461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4:06.755"/>
    </inkml:context>
    <inkml:brush xml:id="br0">
      <inkml:brushProperty name="width" value="0.035" units="cm"/>
      <inkml:brushProperty name="height" value="0.035" units="cm"/>
      <inkml:brushProperty name="color" value="#FFFFCC"/>
    </inkml:brush>
  </inkml:definitions>
  <inkml:trace contextRef="#ctx0" brushRef="#br0">1 1 24575,'0'0'-8191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7:57.389"/>
    </inkml:context>
    <inkml:brush xml:id="br0">
      <inkml:brushProperty name="width" value="0.2" units="cm"/>
      <inkml:brushProperty name="height" value="0.2" units="cm"/>
      <inkml:brushProperty name="color" value="#E71224"/>
    </inkml:brush>
  </inkml:definitions>
  <inkml:trace contextRef="#ctx0" brushRef="#br0">1 1 24575,'580'13'0,"-467"-7"0,120-9 0,-165-4 0,-30 2 0,41 1 0,-62 4-1365</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7:59.348"/>
    </inkml:context>
    <inkml:brush xml:id="br0">
      <inkml:brushProperty name="width" value="0.2" units="cm"/>
      <inkml:brushProperty name="height" value="0.2" units="cm"/>
      <inkml:brushProperty name="color" value="#E71224"/>
    </inkml:brush>
  </inkml:definitions>
  <inkml:trace contextRef="#ctx0" brushRef="#br0">0 84 24575,'243'-8'0,"8"-1"0,-205 7 0,89-16 0,-66 8 0,11-3-37,106-11-1291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8:01.144"/>
    </inkml:context>
    <inkml:brush xml:id="br0">
      <inkml:brushProperty name="width" value="0.2" units="cm"/>
      <inkml:brushProperty name="height" value="0.2" units="cm"/>
      <inkml:brushProperty name="color" value="#E71224"/>
    </inkml:brush>
  </inkml:definitions>
  <inkml:trace contextRef="#ctx0" brushRef="#br0">1 1 24575,'29'1'0,"36"7"0,23 1 0,492-8 80,-282-3-1525</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9:21.375"/>
    </inkml:context>
    <inkml:brush xml:id="br0">
      <inkml:brushProperty name="width" value="0.2" units="cm"/>
      <inkml:brushProperty name="height" value="0.2" units="cm"/>
      <inkml:brushProperty name="color" value="#E71224"/>
    </inkml:brush>
  </inkml:definitions>
  <inkml:trace contextRef="#ctx0" brushRef="#br0">1146 1 24575,'-56'0'0,"-213"4"0,199 1 0,-129 26 0,148-20 0,0 3 0,-92 37 0,128-44 0,1 0 0,-1 1 0,1 1 0,1 0 0,0 1 0,0 0 0,1 1 0,0 0 0,1 1 0,0 0 0,1 1 0,1 0 0,-14 23 0,2 11 0,1 0 0,2 1 0,3 1 0,2 0 0,1 1 0,3 0 0,3 1 0,1 0 0,3 52 0,2-66 0,0 36 0,13 111 0,-9-161 0,1 1 0,0 0 0,2-1 0,1 0 0,1-1 0,1 0 0,0 0 0,23 32 0,-15-29 0,1-1 0,2-1 0,0-1 0,2-1 0,0-1 0,1-1 0,27 17 0,0-6 0,1-2 0,95 35 0,43 12 0,173 64 0,-317-125 0,0-2 0,84 12 0,97-7 0,-172-18 0,1-4 0,-1-1 0,0-3 0,67-20 0,-32 8 0,-62 15 0,73-18 0,-88 20 0,0-1 0,-1 0 0,0-1 0,0 0 0,18-12 0,-23 11 0,0 0 0,0-1 0,-1 1 0,0-1 0,0-1 0,-1 1 0,0-1 0,5-12 0,12-19 0,65-83 0,-59 85 0,-17 22 0,-1-1 0,-1 0 0,0-1 0,-2 0 0,0 0 0,0-1 0,-2 0 0,-1 0 0,4-28 0,-2-21 0,-3-92 0,-4 123 0,-1-17 0,-2 0 0,-3 0 0,-2 1 0,-31-101 0,33 133 0,-18-62 0,-47-103 0,62 164 0,-2 0 0,0 0 0,-1 1 0,-1 1 0,-1 0 0,-1 1 0,-1 0 0,0 1 0,-27-20 0,25 26 0,0 0 0,-1 2 0,0 0 0,0 2 0,-1 0 0,-40-10 0,-135-14 0,186 31 0,-95-7 0,-145 7 0,111 3 0,8-2-1365</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9:21.375"/>
    </inkml:context>
    <inkml:brush xml:id="br0">
      <inkml:brushProperty name="width" value="0.2" units="cm"/>
      <inkml:brushProperty name="height" value="0.2" units="cm"/>
      <inkml:brushProperty name="color" value="#E71224"/>
    </inkml:brush>
  </inkml:definitions>
  <inkml:trace contextRef="#ctx0" brushRef="#br0">1146 1 24575,'-56'0'0,"-213"4"0,199 1 0,-129 26 0,148-20 0,0 3 0,-92 37 0,128-44 0,1 0 0,-1 1 0,1 1 0,1 0 0,0 1 0,0 0 0,1 1 0,0 0 0,1 1 0,0 0 0,1 1 0,1 0 0,-14 23 0,2 11 0,1 0 0,2 1 0,3 1 0,2 0 0,1 1 0,3 0 0,3 1 0,1 0 0,3 52 0,2-66 0,0 36 0,13 111 0,-9-161 0,1 1 0,0 0 0,2-1 0,1 0 0,1-1 0,1 0 0,0 0 0,23 32 0,-15-29 0,1-1 0,2-1 0,0-1 0,2-1 0,0-1 0,1-1 0,27 17 0,0-6 0,1-2 0,95 35 0,43 12 0,173 64 0,-317-125 0,0-2 0,84 12 0,97-7 0,-172-18 0,1-4 0,-1-1 0,0-3 0,67-20 0,-32 8 0,-62 15 0,73-18 0,-88 20 0,0-1 0,-1 0 0,0-1 0,0 0 0,18-12 0,-23 11 0,0 0 0,0-1 0,-1 1 0,0-1 0,0-1 0,-1 1 0,0-1 0,5-12 0,12-19 0,65-83 0,-59 85 0,-17 22 0,-1-1 0,-1 0 0,0-1 0,-2 0 0,0 0 0,0-1 0,-2 0 0,-1 0 0,4-28 0,-2-21 0,-3-92 0,-4 123 0,-1-17 0,-2 0 0,-3 0 0,-2 1 0,-31-101 0,33 133 0,-18-62 0,-47-103 0,62 164 0,-2 0 0,0 0 0,-1 1 0,-1 1 0,-1 0 0,-1 1 0,-1 0 0,0 1 0,-27-20 0,25 26 0,0 0 0,-1 2 0,0 0 0,0 2 0,-1 0 0,-40-10 0,-135-14 0,186 31 0,-95-7 0,-145 7 0,111 3 0,8-2-1365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2431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EBDCA-9C18-B429-BBB6-DD05D1E533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1A041-FB1D-4CE9-B358-780A6D34B6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CB0CF-2BD6-2EC1-9426-239F9DB2F6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011B53B-4D33-60BD-0956-7205A09063E6}"/>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6784408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69ED0-1F04-58CB-34D6-BC41A9970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5854E1-C798-14F8-7F4E-9D12FBA392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52C505-8DBB-2065-8053-065477533F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6DF7BB-7F87-4217-E742-72BA01A34AD1}"/>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782752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9143A-51F9-A7AE-0A62-5DB67EA139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EA363-06FE-6103-2B79-B51B6B939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BD7FE-5F20-0397-4318-B23819ACDD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05AFA1-2686-2914-9F0F-EA534799F171}"/>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0780163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customXml" Target="../ink/ink1.xml"/><Relationship Id="rId7" Type="http://schemas.openxmlformats.org/officeDocument/2006/relationships/customXml" Target="../ink/ink3.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customXml" Target="../ink/ink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customXml" Target="../ink/ink4.xml"/><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customXml" Target="../ink/ink5.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customXml" Target="../ink/ink11.xml"/><Relationship Id="rId3" Type="http://schemas.openxmlformats.org/officeDocument/2006/relationships/customXml" Target="../ink/ink6.xml"/><Relationship Id="rId7" Type="http://schemas.openxmlformats.org/officeDocument/2006/relationships/customXml" Target="../ink/ink8.xml"/><Relationship Id="rId12" Type="http://schemas.openxmlformats.org/officeDocument/2006/relationships/image" Target="../media/image23.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20.png"/><Relationship Id="rId11" Type="http://schemas.openxmlformats.org/officeDocument/2006/relationships/customXml" Target="../ink/ink10.xml"/><Relationship Id="rId5" Type="http://schemas.openxmlformats.org/officeDocument/2006/relationships/customXml" Target="../ink/ink7.xml"/><Relationship Id="rId10" Type="http://schemas.openxmlformats.org/officeDocument/2006/relationships/image" Target="../media/image22.png"/><Relationship Id="rId4" Type="http://schemas.openxmlformats.org/officeDocument/2006/relationships/image" Target="../media/image19.png"/><Relationship Id="rId9" Type="http://schemas.openxmlformats.org/officeDocument/2006/relationships/customXml" Target="../ink/ink9.xml"/><Relationship Id="rId14" Type="http://schemas.openxmlformats.org/officeDocument/2006/relationships/image" Target="../media/image2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customXml" Target="../ink/ink12.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0.png"/></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8" Type="http://schemas.openxmlformats.org/officeDocument/2006/relationships/image" Target="../media/image200.png"/><Relationship Id="rId3" Type="http://schemas.openxmlformats.org/officeDocument/2006/relationships/customXml" Target="../ink/ink13.xml"/><Relationship Id="rId7" Type="http://schemas.openxmlformats.org/officeDocument/2006/relationships/customXml" Target="../ink/ink15.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90.png"/><Relationship Id="rId5" Type="http://schemas.openxmlformats.org/officeDocument/2006/relationships/customXml" Target="../ink/ink14.xml"/><Relationship Id="rId4" Type="http://schemas.openxmlformats.org/officeDocument/2006/relationships/image" Target="../media/image180.png"/></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image" Target="../media/image250.png"/><Relationship Id="rId3" Type="http://schemas.openxmlformats.org/officeDocument/2006/relationships/image" Target="../media/image210.png"/><Relationship Id="rId7" Type="http://schemas.openxmlformats.org/officeDocument/2006/relationships/customXml" Target="../ink/ink17.xml"/><Relationship Id="rId12" Type="http://schemas.openxmlformats.org/officeDocument/2006/relationships/image" Target="../media/image270.png"/><Relationship Id="rId2" Type="http://schemas.openxmlformats.org/officeDocument/2006/relationships/customXml" Target="../ink/ink16.xml"/><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customXml" Target="../ink/ink19.xml"/><Relationship Id="rId5" Type="http://schemas.openxmlformats.org/officeDocument/2006/relationships/image" Target="../media/image17.png"/><Relationship Id="rId10" Type="http://schemas.openxmlformats.org/officeDocument/2006/relationships/image" Target="../media/image260.png"/><Relationship Id="rId4" Type="http://schemas.openxmlformats.org/officeDocument/2006/relationships/image" Target="../media/image16.png"/><Relationship Id="rId9" Type="http://schemas.openxmlformats.org/officeDocument/2006/relationships/customXml" Target="../ink/ink18.xml"/></Relationships>
</file>

<file path=ppt/slides/_rels/slide19.xml.rels><?xml version="1.0" encoding="UTF-8" standalone="yes"?>
<Relationships xmlns="http://schemas.openxmlformats.org/package/2006/relationships"><Relationship Id="rId3" Type="http://schemas.openxmlformats.org/officeDocument/2006/relationships/customXml" Target="../ink/ink20.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80.png"/></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ustomXml" Target="../ink/ink21.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80.png"/></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3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D8"/>
          </a:solidFill>
          <a:ln w="12700">
            <a:solidFill>
              <a:srgbClr val="00B4D8"/>
            </a:solidFill>
            <a:prstDash val="solid"/>
          </a:ln>
        </p:spPr>
      </p:sp>
      <p:sp>
        <p:nvSpPr>
          <p:cNvPr id="3" name="Shape 1"/>
          <p:cNvSpPr/>
          <p:nvPr/>
        </p:nvSpPr>
        <p:spPr>
          <a:xfrm>
            <a:off x="5852160" y="0"/>
            <a:ext cx="3200400" cy="3200400"/>
          </a:xfrm>
          <a:prstGeom prst="ellipse">
            <a:avLst/>
          </a:prstGeom>
          <a:solidFill>
            <a:srgbClr val="00B4D8">
              <a:alpha val="12000"/>
            </a:srgbClr>
          </a:solidFill>
          <a:ln w="12700">
            <a:solidFill>
              <a:srgbClr val="00B4D8">
                <a:alpha val="20000"/>
              </a:srgbClr>
            </a:solidFill>
            <a:prstDash val="solid"/>
          </a:ln>
        </p:spPr>
      </p:sp>
      <p:sp>
        <p:nvSpPr>
          <p:cNvPr id="4" name="Shape 2"/>
          <p:cNvSpPr/>
          <p:nvPr/>
        </p:nvSpPr>
        <p:spPr>
          <a:xfrm>
            <a:off x="7178040" y="2926080"/>
            <a:ext cx="2011680" cy="2011680"/>
          </a:xfrm>
          <a:prstGeom prst="ellipse">
            <a:avLst/>
          </a:prstGeom>
          <a:solidFill>
            <a:srgbClr val="00B4D8">
              <a:alpha val="8000"/>
            </a:srgbClr>
          </a:solidFill>
          <a:ln w="12700">
            <a:solidFill>
              <a:srgbClr val="00B4D8">
                <a:alpha val="15000"/>
              </a:srgbClr>
            </a:solidFill>
            <a:prstDash val="solid"/>
          </a:ln>
        </p:spPr>
      </p:sp>
      <p:sp>
        <p:nvSpPr>
          <p:cNvPr id="5" name="Shape 3"/>
          <p:cNvSpPr/>
          <p:nvPr/>
        </p:nvSpPr>
        <p:spPr>
          <a:xfrm>
            <a:off x="457200" y="502920"/>
            <a:ext cx="2194560" cy="292608"/>
          </a:xfrm>
          <a:prstGeom prst="rect">
            <a:avLst/>
          </a:prstGeom>
          <a:solidFill>
            <a:srgbClr val="00B4D8">
              <a:alpha val="20000"/>
            </a:srgbClr>
          </a:solidFill>
          <a:ln w="12700">
            <a:solidFill>
              <a:srgbClr val="00B4D8"/>
            </a:solidFill>
            <a:prstDash val="solid"/>
          </a:ln>
        </p:spPr>
      </p:sp>
      <p:sp>
        <p:nvSpPr>
          <p:cNvPr id="6" name="Text 4"/>
          <p:cNvSpPr/>
          <p:nvPr/>
        </p:nvSpPr>
        <p:spPr>
          <a:xfrm>
            <a:off x="457200" y="502920"/>
            <a:ext cx="2194560" cy="292608"/>
          </a:xfrm>
          <a:prstGeom prst="rect">
            <a:avLst/>
          </a:prstGeom>
          <a:noFill/>
          <a:ln/>
        </p:spPr>
        <p:txBody>
          <a:bodyPr wrap="square" lIns="0" tIns="0" rIns="0" bIns="0" rtlCol="0" anchor="ctr"/>
          <a:lstStyle/>
          <a:p>
            <a:pPr marL="0" indent="0" algn="ctr">
              <a:buNone/>
            </a:pPr>
            <a:r>
              <a:rPr lang="en-US" sz="900" b="1" dirty="0">
                <a:solidFill>
                  <a:srgbClr val="90E0EF"/>
                </a:solidFill>
              </a:rPr>
              <a:t>HYPER ISLAND · DA27</a:t>
            </a:r>
            <a:endParaRPr lang="en-US" sz="900" dirty="0"/>
          </a:p>
        </p:txBody>
      </p:sp>
      <p:sp>
        <p:nvSpPr>
          <p:cNvPr id="7" name="Text 5"/>
          <p:cNvSpPr/>
          <p:nvPr/>
        </p:nvSpPr>
        <p:spPr>
          <a:xfrm>
            <a:off x="457200" y="1005840"/>
            <a:ext cx="7772400" cy="77724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Stockholm Transport</a:t>
            </a:r>
            <a:endParaRPr lang="en-US" sz="4800" dirty="0"/>
          </a:p>
        </p:txBody>
      </p:sp>
      <p:sp>
        <p:nvSpPr>
          <p:cNvPr id="8" name="Text 6"/>
          <p:cNvSpPr/>
          <p:nvPr/>
        </p:nvSpPr>
        <p:spPr>
          <a:xfrm>
            <a:off x="457200" y="1737360"/>
            <a:ext cx="7772400" cy="777240"/>
          </a:xfrm>
          <a:prstGeom prst="rect">
            <a:avLst/>
          </a:prstGeom>
          <a:noFill/>
          <a:ln/>
        </p:spPr>
        <p:txBody>
          <a:bodyPr wrap="square" lIns="0" tIns="0" rIns="0" bIns="0" rtlCol="0" anchor="ctr"/>
          <a:lstStyle/>
          <a:p>
            <a:pPr marL="0" indent="0">
              <a:buNone/>
            </a:pPr>
            <a:r>
              <a:rPr lang="en-US" sz="4800" b="1" dirty="0">
                <a:solidFill>
                  <a:srgbClr val="00B4D8"/>
                </a:solidFill>
                <a:latin typeface="Calibri" pitchFamily="34" charset="0"/>
                <a:ea typeface="Calibri" pitchFamily="34" charset="-122"/>
                <a:cs typeface="Calibri" pitchFamily="34" charset="-120"/>
              </a:rPr>
              <a:t>Analytics Pipeline</a:t>
            </a:r>
            <a:endParaRPr lang="en-US" sz="4800" dirty="0"/>
          </a:p>
        </p:txBody>
      </p:sp>
      <p:sp>
        <p:nvSpPr>
          <p:cNvPr id="9" name="Text 7"/>
          <p:cNvSpPr/>
          <p:nvPr/>
        </p:nvSpPr>
        <p:spPr>
          <a:xfrm>
            <a:off x="457200" y="2606040"/>
            <a:ext cx="6858000" cy="411480"/>
          </a:xfrm>
          <a:prstGeom prst="rect">
            <a:avLst/>
          </a:prstGeom>
          <a:noFill/>
          <a:ln/>
        </p:spPr>
        <p:txBody>
          <a:bodyPr wrap="square" lIns="0" tIns="0" rIns="0" bIns="0" rtlCol="0" anchor="ctr"/>
          <a:lstStyle/>
          <a:p>
            <a:r>
              <a:rPr lang="en-US" sz="1600" dirty="0">
                <a:solidFill>
                  <a:schemeClr val="bg2">
                    <a:lumMod val="75000"/>
                  </a:schemeClr>
                </a:solidFill>
              </a:rPr>
              <a:t>End-to-end data engineering: from scheduled ingestion to insight</a:t>
            </a:r>
          </a:p>
        </p:txBody>
      </p:sp>
      <p:sp>
        <p:nvSpPr>
          <p:cNvPr id="10" name="Shape 8"/>
          <p:cNvSpPr/>
          <p:nvPr/>
        </p:nvSpPr>
        <p:spPr>
          <a:xfrm>
            <a:off x="457200" y="3154680"/>
            <a:ext cx="4114800" cy="36576"/>
          </a:xfrm>
          <a:prstGeom prst="rect">
            <a:avLst/>
          </a:prstGeom>
          <a:solidFill>
            <a:srgbClr val="00B4D8"/>
          </a:solidFill>
          <a:ln w="12700">
            <a:solidFill>
              <a:srgbClr val="00B4D8"/>
            </a:solidFill>
            <a:prstDash val="solid"/>
          </a:ln>
        </p:spPr>
      </p:sp>
      <p:sp>
        <p:nvSpPr>
          <p:cNvPr id="11" name="Text 9"/>
          <p:cNvSpPr/>
          <p:nvPr/>
        </p:nvSpPr>
        <p:spPr>
          <a:xfrm>
            <a:off x="457200" y="3337560"/>
            <a:ext cx="3657600" cy="320040"/>
          </a:xfrm>
          <a:prstGeom prst="rect">
            <a:avLst/>
          </a:prstGeom>
          <a:noFill/>
          <a:ln/>
        </p:spPr>
        <p:txBody>
          <a:bodyPr wrap="square" lIns="0" tIns="0" rIns="0" bIns="0" rtlCol="0" anchor="ctr"/>
          <a:lstStyle/>
          <a:p>
            <a:pPr marL="0" indent="0">
              <a:buNone/>
            </a:pPr>
            <a:r>
              <a:rPr lang="en-US" sz="1400" b="1" dirty="0">
                <a:solidFill>
                  <a:srgbClr val="FFFFFF"/>
                </a:solidFill>
              </a:rPr>
              <a:t>Pritha Banerjee</a:t>
            </a:r>
            <a:endParaRPr lang="en-US" sz="1400" dirty="0"/>
          </a:p>
        </p:txBody>
      </p:sp>
      <p:sp>
        <p:nvSpPr>
          <p:cNvPr id="12" name="Text 10"/>
          <p:cNvSpPr/>
          <p:nvPr/>
        </p:nvSpPr>
        <p:spPr>
          <a:xfrm>
            <a:off x="457200" y="3639312"/>
            <a:ext cx="4114800" cy="256032"/>
          </a:xfrm>
          <a:prstGeom prst="rect">
            <a:avLst/>
          </a:prstGeom>
          <a:noFill/>
          <a:ln/>
        </p:spPr>
        <p:txBody>
          <a:bodyPr wrap="square" lIns="0" tIns="0" rIns="0" bIns="0" rtlCol="0" anchor="ctr"/>
          <a:lstStyle/>
          <a:p>
            <a:pPr marL="0" indent="0">
              <a:buNone/>
            </a:pPr>
            <a:r>
              <a:rPr lang="en-US" sz="1100" dirty="0">
                <a:solidFill>
                  <a:srgbClr val="8FA3B1"/>
                </a:solidFill>
              </a:rPr>
              <a:t>Data Analytics · Hyper Island · 2026</a:t>
            </a:r>
            <a:endParaRPr lang="en-US" sz="1100" dirty="0"/>
          </a:p>
        </p:txBody>
      </p:sp>
      <p:sp>
        <p:nvSpPr>
          <p:cNvPr id="13" name="Shape 11"/>
          <p:cNvSpPr/>
          <p:nvPr/>
        </p:nvSpPr>
        <p:spPr>
          <a:xfrm>
            <a:off x="457200" y="4160520"/>
            <a:ext cx="1234440" cy="347472"/>
          </a:xfrm>
          <a:prstGeom prst="rect">
            <a:avLst/>
          </a:prstGeom>
          <a:solidFill>
            <a:srgbClr val="1B2A3B"/>
          </a:solidFill>
          <a:ln w="12700">
            <a:solidFill>
              <a:srgbClr val="00B4D8"/>
            </a:solidFill>
            <a:prstDash val="solid"/>
          </a:ln>
        </p:spPr>
        <p:txBody>
          <a:bodyPr/>
          <a:lstStyle/>
          <a:p>
            <a:pPr algn="ctr"/>
            <a:r>
              <a:rPr lang="en-US" sz="1100" b="1" dirty="0">
                <a:solidFill>
                  <a:srgbClr val="00B4D8"/>
                </a:solidFill>
              </a:rPr>
              <a:t>Python</a:t>
            </a:r>
            <a:endParaRPr lang="en-IN" sz="1100" dirty="0"/>
          </a:p>
        </p:txBody>
      </p:sp>
      <p:sp>
        <p:nvSpPr>
          <p:cNvPr id="14" name="Text 12"/>
          <p:cNvSpPr/>
          <p:nvPr/>
        </p:nvSpPr>
        <p:spPr>
          <a:xfrm>
            <a:off x="457200" y="4160520"/>
            <a:ext cx="1234440" cy="347472"/>
          </a:xfrm>
          <a:prstGeom prst="rect">
            <a:avLst/>
          </a:prstGeom>
          <a:noFill/>
          <a:ln/>
        </p:spPr>
        <p:txBody>
          <a:bodyPr wrap="square" lIns="0" tIns="0" rIns="0" bIns="0" rtlCol="0" anchor="ctr"/>
          <a:lstStyle/>
          <a:p>
            <a:pPr marL="0" indent="0" algn="ctr">
              <a:buNone/>
            </a:pPr>
            <a:endParaRPr lang="en-US" sz="1100" dirty="0"/>
          </a:p>
        </p:txBody>
      </p:sp>
      <p:sp>
        <p:nvSpPr>
          <p:cNvPr id="15" name="Shape 13"/>
          <p:cNvSpPr/>
          <p:nvPr/>
        </p:nvSpPr>
        <p:spPr>
          <a:xfrm>
            <a:off x="1874520" y="4160520"/>
            <a:ext cx="1234440" cy="347472"/>
          </a:xfrm>
          <a:prstGeom prst="rect">
            <a:avLst/>
          </a:prstGeom>
          <a:solidFill>
            <a:srgbClr val="1B2A3B"/>
          </a:solidFill>
          <a:ln w="12700">
            <a:solidFill>
              <a:srgbClr val="00B4D8"/>
            </a:solidFill>
            <a:prstDash val="solid"/>
          </a:ln>
        </p:spPr>
      </p:sp>
      <p:sp>
        <p:nvSpPr>
          <p:cNvPr id="16" name="Text 14"/>
          <p:cNvSpPr/>
          <p:nvPr/>
        </p:nvSpPr>
        <p:spPr>
          <a:xfrm>
            <a:off x="1874520" y="4160520"/>
            <a:ext cx="1234440" cy="347472"/>
          </a:xfrm>
          <a:prstGeom prst="rect">
            <a:avLst/>
          </a:prstGeom>
          <a:noFill/>
          <a:ln/>
        </p:spPr>
        <p:txBody>
          <a:bodyPr wrap="square" lIns="0" tIns="0" rIns="0" bIns="0" rtlCol="0" anchor="ctr"/>
          <a:lstStyle/>
          <a:p>
            <a:pPr marL="0" indent="0" algn="ctr">
              <a:buNone/>
            </a:pPr>
            <a:r>
              <a:rPr lang="en-US" sz="1100" b="1" dirty="0">
                <a:solidFill>
                  <a:srgbClr val="00B4D8"/>
                </a:solidFill>
              </a:rPr>
              <a:t>Azure</a:t>
            </a:r>
            <a:endParaRPr lang="en-US" sz="1100" dirty="0"/>
          </a:p>
        </p:txBody>
      </p:sp>
      <p:sp>
        <p:nvSpPr>
          <p:cNvPr id="17" name="Shape 15"/>
          <p:cNvSpPr/>
          <p:nvPr/>
        </p:nvSpPr>
        <p:spPr>
          <a:xfrm>
            <a:off x="3291840" y="4160520"/>
            <a:ext cx="1234440" cy="347472"/>
          </a:xfrm>
          <a:prstGeom prst="rect">
            <a:avLst/>
          </a:prstGeom>
          <a:solidFill>
            <a:srgbClr val="1B2A3B"/>
          </a:solidFill>
          <a:ln w="12700">
            <a:solidFill>
              <a:srgbClr val="00B4D8"/>
            </a:solidFill>
            <a:prstDash val="solid"/>
          </a:ln>
        </p:spPr>
      </p:sp>
      <p:sp>
        <p:nvSpPr>
          <p:cNvPr id="18" name="Text 16"/>
          <p:cNvSpPr/>
          <p:nvPr/>
        </p:nvSpPr>
        <p:spPr>
          <a:xfrm>
            <a:off x="3291840" y="4160520"/>
            <a:ext cx="1234440" cy="347472"/>
          </a:xfrm>
          <a:prstGeom prst="rect">
            <a:avLst/>
          </a:prstGeom>
          <a:noFill/>
          <a:ln/>
        </p:spPr>
        <p:txBody>
          <a:bodyPr wrap="square" lIns="0" tIns="0" rIns="0" bIns="0" rtlCol="0" anchor="ctr"/>
          <a:lstStyle/>
          <a:p>
            <a:pPr algn="ctr"/>
            <a:r>
              <a:rPr lang="en-US" sz="1100" b="1" dirty="0">
                <a:solidFill>
                  <a:srgbClr val="00B4D8"/>
                </a:solidFill>
              </a:rPr>
              <a:t>Snowflake</a:t>
            </a:r>
            <a:endParaRPr lang="en-US" sz="1100" dirty="0"/>
          </a:p>
        </p:txBody>
      </p:sp>
      <p:sp>
        <p:nvSpPr>
          <p:cNvPr id="19" name="Shape 17"/>
          <p:cNvSpPr/>
          <p:nvPr/>
        </p:nvSpPr>
        <p:spPr>
          <a:xfrm>
            <a:off x="4709160" y="4160520"/>
            <a:ext cx="1234440" cy="347472"/>
          </a:xfrm>
          <a:prstGeom prst="rect">
            <a:avLst/>
          </a:prstGeom>
          <a:solidFill>
            <a:srgbClr val="1B2A3B"/>
          </a:solidFill>
          <a:ln w="12700">
            <a:solidFill>
              <a:srgbClr val="00B4D8"/>
            </a:solidFill>
            <a:prstDash val="solid"/>
          </a:ln>
        </p:spPr>
      </p:sp>
      <p:sp>
        <p:nvSpPr>
          <p:cNvPr id="20" name="Text 18"/>
          <p:cNvSpPr/>
          <p:nvPr/>
        </p:nvSpPr>
        <p:spPr>
          <a:xfrm>
            <a:off x="4709160" y="4160520"/>
            <a:ext cx="1234440" cy="347472"/>
          </a:xfrm>
          <a:prstGeom prst="rect">
            <a:avLst/>
          </a:prstGeom>
          <a:noFill/>
          <a:ln/>
        </p:spPr>
        <p:txBody>
          <a:bodyPr wrap="square" lIns="0" tIns="0" rIns="0" bIns="0" rtlCol="0" anchor="ctr"/>
          <a:lstStyle/>
          <a:p>
            <a:pPr algn="ctr"/>
            <a:r>
              <a:rPr lang="en-US" sz="1100" b="1" dirty="0" err="1">
                <a:solidFill>
                  <a:srgbClr val="00B4D8"/>
                </a:solidFill>
              </a:rPr>
              <a:t>dbt</a:t>
            </a:r>
            <a:endParaRPr lang="en-US" sz="1100" dirty="0"/>
          </a:p>
        </p:txBody>
      </p:sp>
      <p:sp>
        <p:nvSpPr>
          <p:cNvPr id="21" name="Shape 19"/>
          <p:cNvSpPr/>
          <p:nvPr/>
        </p:nvSpPr>
        <p:spPr>
          <a:xfrm>
            <a:off x="6126480" y="4160520"/>
            <a:ext cx="1234440" cy="347472"/>
          </a:xfrm>
          <a:prstGeom prst="rect">
            <a:avLst/>
          </a:prstGeom>
          <a:solidFill>
            <a:srgbClr val="1B2A3B"/>
          </a:solidFill>
          <a:ln w="12700">
            <a:solidFill>
              <a:srgbClr val="00B4D8"/>
            </a:solidFill>
            <a:prstDash val="solid"/>
          </a:ln>
        </p:spPr>
      </p:sp>
      <p:sp>
        <p:nvSpPr>
          <p:cNvPr id="22" name="Text 20"/>
          <p:cNvSpPr/>
          <p:nvPr/>
        </p:nvSpPr>
        <p:spPr>
          <a:xfrm>
            <a:off x="6126480" y="4160520"/>
            <a:ext cx="1234440" cy="347472"/>
          </a:xfrm>
          <a:prstGeom prst="rect">
            <a:avLst/>
          </a:prstGeom>
          <a:noFill/>
          <a:ln/>
        </p:spPr>
        <p:txBody>
          <a:bodyPr wrap="square" lIns="0" tIns="0" rIns="0" bIns="0" rtlCol="0" anchor="ctr"/>
          <a:lstStyle/>
          <a:p>
            <a:pPr algn="ctr"/>
            <a:endParaRPr lang="en-US" sz="1100" b="1" dirty="0">
              <a:solidFill>
                <a:srgbClr val="00B4D8"/>
              </a:solidFill>
            </a:endParaRPr>
          </a:p>
          <a:p>
            <a:pPr algn="ctr"/>
            <a:r>
              <a:rPr lang="en-US" sz="1100" b="1" dirty="0">
                <a:solidFill>
                  <a:srgbClr val="00B4D8"/>
                </a:solidFill>
              </a:rPr>
              <a:t>Power BI</a:t>
            </a:r>
            <a:endParaRPr lang="en-US" sz="1100" dirty="0"/>
          </a:p>
          <a:p>
            <a:pPr marL="0" indent="0" algn="ctr">
              <a:buNone/>
            </a:pP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274320" y="171450"/>
            <a:ext cx="5486400" cy="342900"/>
          </a:xfrm>
          <a:prstGeom prst="rect">
            <a:avLst/>
          </a:prstGeom>
          <a:noFill/>
          <a:ln/>
        </p:spPr>
        <p:txBody>
          <a:bodyPr wrap="square" rtlCol="0" anchor="ctr"/>
          <a:lstStyle/>
          <a:p>
            <a:r>
              <a:rPr lang="en-US" b="1" dirty="0">
                <a:solidFill>
                  <a:srgbClr val="0E7490"/>
                </a:solidFill>
              </a:rPr>
              <a:t>Pipeline Architecture</a:t>
            </a:r>
            <a:endParaRPr lang="en-US" dirty="0"/>
          </a:p>
        </p:txBody>
      </p:sp>
      <p:sp>
        <p:nvSpPr>
          <p:cNvPr id="3" name="Text 1"/>
          <p:cNvSpPr/>
          <p:nvPr/>
        </p:nvSpPr>
        <p:spPr>
          <a:xfrm>
            <a:off x="5829300" y="219456"/>
            <a:ext cx="3017520" cy="274320"/>
          </a:xfrm>
          <a:prstGeom prst="rect">
            <a:avLst/>
          </a:prstGeom>
          <a:noFill/>
          <a:ln/>
        </p:spPr>
        <p:txBody>
          <a:bodyPr wrap="square" rtlCol="0" anchor="ctr"/>
          <a:lstStyle/>
          <a:p>
            <a:pPr algn="r"/>
            <a:r>
              <a:rPr lang="en-US" sz="900" dirty="0">
                <a:solidFill>
                  <a:srgbClr val="64748B"/>
                </a:solidFill>
              </a:rPr>
              <a:t>Batch ingestion · Daily schedule</a:t>
            </a:r>
            <a:endParaRPr lang="en-US" sz="900" dirty="0"/>
          </a:p>
        </p:txBody>
      </p:sp>
      <p:sp>
        <p:nvSpPr>
          <p:cNvPr id="4" name="Shape 2"/>
          <p:cNvSpPr/>
          <p:nvPr/>
        </p:nvSpPr>
        <p:spPr>
          <a:xfrm>
            <a:off x="274320" y="582930"/>
            <a:ext cx="8572500" cy="377190"/>
          </a:xfrm>
          <a:prstGeom prst="roundRect">
            <a:avLst>
              <a:gd name="adj" fmla="val 14545"/>
            </a:avLst>
          </a:prstGeom>
          <a:solidFill>
            <a:srgbClr val="EEF2FF"/>
          </a:solidFill>
          <a:ln w="12700">
            <a:solidFill>
              <a:srgbClr val="6366F1"/>
            </a:solidFill>
            <a:prstDash val="solid"/>
          </a:ln>
        </p:spPr>
      </p:sp>
      <p:sp>
        <p:nvSpPr>
          <p:cNvPr id="5" name="Text 3"/>
          <p:cNvSpPr/>
          <p:nvPr/>
        </p:nvSpPr>
        <p:spPr>
          <a:xfrm>
            <a:off x="274320" y="582930"/>
            <a:ext cx="8572500" cy="377190"/>
          </a:xfrm>
          <a:prstGeom prst="rect">
            <a:avLst/>
          </a:prstGeom>
          <a:noFill/>
          <a:ln/>
        </p:spPr>
        <p:txBody>
          <a:bodyPr wrap="square" rtlCol="0" anchor="ctr"/>
          <a:lstStyle/>
          <a:p>
            <a:pPr algn="ctr"/>
            <a:r>
              <a:rPr lang="en-US" sz="975" b="1" dirty="0">
                <a:solidFill>
                  <a:srgbClr val="D97706"/>
                </a:solidFill>
              </a:rPr>
              <a:t>🔒  </a:t>
            </a:r>
            <a:r>
              <a:rPr lang="en-US" sz="975" b="1" dirty="0">
                <a:solidFill>
                  <a:srgbClr val="1E293B"/>
                </a:solidFill>
              </a:rPr>
              <a:t>Azure Key Vault </a:t>
            </a:r>
            <a:r>
              <a:rPr lang="en-US" sz="975" dirty="0">
                <a:solidFill>
                  <a:srgbClr val="475569"/>
                </a:solidFill>
              </a:rPr>
              <a:t>— Secures all credentials throughout the pipeline</a:t>
            </a:r>
            <a:endParaRPr lang="en-US" sz="975" dirty="0"/>
          </a:p>
        </p:txBody>
      </p:sp>
      <p:sp>
        <p:nvSpPr>
          <p:cNvPr id="6" name="Shape 4"/>
          <p:cNvSpPr/>
          <p:nvPr/>
        </p:nvSpPr>
        <p:spPr>
          <a:xfrm>
            <a:off x="397764" y="1165860"/>
            <a:ext cx="1062990" cy="1165860"/>
          </a:xfrm>
          <a:prstGeom prst="roundRect">
            <a:avLst>
              <a:gd name="adj" fmla="val 5161"/>
            </a:avLst>
          </a:prstGeom>
          <a:solidFill>
            <a:srgbClr val="CCFBF1"/>
          </a:solidFill>
          <a:ln w="25400">
            <a:solidFill>
              <a:srgbClr val="14B8A6"/>
            </a:solidFill>
            <a:prstDash val="solid"/>
          </a:ln>
        </p:spPr>
      </p:sp>
      <p:sp>
        <p:nvSpPr>
          <p:cNvPr id="7" name="Text 5"/>
          <p:cNvSpPr/>
          <p:nvPr/>
        </p:nvSpPr>
        <p:spPr>
          <a:xfrm>
            <a:off x="1255014" y="1179576"/>
            <a:ext cx="171450" cy="137160"/>
          </a:xfrm>
          <a:prstGeom prst="rect">
            <a:avLst/>
          </a:prstGeom>
          <a:noFill/>
          <a:ln/>
        </p:spPr>
        <p:txBody>
          <a:bodyPr wrap="square" rtlCol="0" anchor="ctr"/>
          <a:lstStyle/>
          <a:p>
            <a:pPr algn="r"/>
            <a:r>
              <a:rPr lang="en-US" sz="675" dirty="0">
                <a:solidFill>
                  <a:srgbClr val="64748B"/>
                </a:solidFill>
              </a:rPr>
              <a:t>1</a:t>
            </a:r>
            <a:endParaRPr lang="en-US" sz="675" dirty="0"/>
          </a:p>
        </p:txBody>
      </p:sp>
      <p:sp>
        <p:nvSpPr>
          <p:cNvPr id="8" name="Text 6"/>
          <p:cNvSpPr/>
          <p:nvPr/>
        </p:nvSpPr>
        <p:spPr>
          <a:xfrm>
            <a:off x="397764"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9" name="Text 7"/>
          <p:cNvSpPr/>
          <p:nvPr/>
        </p:nvSpPr>
        <p:spPr>
          <a:xfrm>
            <a:off x="397764" y="1680210"/>
            <a:ext cx="1062990" cy="240030"/>
          </a:xfrm>
          <a:prstGeom prst="rect">
            <a:avLst/>
          </a:prstGeom>
          <a:noFill/>
          <a:ln/>
        </p:spPr>
        <p:txBody>
          <a:bodyPr wrap="square" rtlCol="0" anchor="ctr"/>
          <a:lstStyle/>
          <a:p>
            <a:pPr algn="ctr"/>
            <a:r>
              <a:rPr lang="en-US" sz="825" b="1" dirty="0">
                <a:solidFill>
                  <a:srgbClr val="0F172A"/>
                </a:solidFill>
              </a:rPr>
              <a:t>Trafiklab</a:t>
            </a:r>
            <a:endParaRPr lang="en-US" sz="825" dirty="0"/>
          </a:p>
        </p:txBody>
      </p:sp>
      <p:sp>
        <p:nvSpPr>
          <p:cNvPr id="10" name="Text 8"/>
          <p:cNvSpPr/>
          <p:nvPr/>
        </p:nvSpPr>
        <p:spPr>
          <a:xfrm>
            <a:off x="397764" y="1920240"/>
            <a:ext cx="1062990" cy="342900"/>
          </a:xfrm>
          <a:prstGeom prst="rect">
            <a:avLst/>
          </a:prstGeom>
          <a:noFill/>
          <a:ln/>
        </p:spPr>
        <p:txBody>
          <a:bodyPr wrap="square" rtlCol="0" anchor="ctr"/>
          <a:lstStyle/>
          <a:p>
            <a:pPr algn="ctr"/>
            <a:r>
              <a:rPr lang="en-US" sz="675" b="1" dirty="0">
                <a:solidFill>
                  <a:srgbClr val="0F766E"/>
                </a:solidFill>
              </a:rPr>
              <a:t>GTFS Static API</a:t>
            </a:r>
            <a:endParaRPr lang="en-US" sz="675" dirty="0"/>
          </a:p>
        </p:txBody>
      </p:sp>
      <p:sp>
        <p:nvSpPr>
          <p:cNvPr id="11" name="Text 9"/>
          <p:cNvSpPr/>
          <p:nvPr/>
        </p:nvSpPr>
        <p:spPr>
          <a:xfrm>
            <a:off x="1467612" y="1645920"/>
            <a:ext cx="137160" cy="274320"/>
          </a:xfrm>
          <a:prstGeom prst="rect">
            <a:avLst/>
          </a:prstGeom>
          <a:noFill/>
          <a:ln/>
        </p:spPr>
        <p:txBody>
          <a:bodyPr wrap="square" rtlCol="0" anchor="ctr"/>
          <a:lstStyle/>
          <a:p>
            <a:pPr algn="ctr"/>
            <a:r>
              <a:rPr lang="en-US" sz="1500" b="1" dirty="0">
                <a:solidFill>
                  <a:srgbClr val="0891B2"/>
                </a:solidFill>
              </a:rPr>
              <a:t>→</a:t>
            </a:r>
            <a:endParaRPr lang="en-US" sz="1500" dirty="0"/>
          </a:p>
        </p:txBody>
      </p:sp>
      <p:sp>
        <p:nvSpPr>
          <p:cNvPr id="12" name="Shape 10"/>
          <p:cNvSpPr/>
          <p:nvPr/>
        </p:nvSpPr>
        <p:spPr>
          <a:xfrm>
            <a:off x="1611630" y="1165860"/>
            <a:ext cx="1062990" cy="1165860"/>
          </a:xfrm>
          <a:prstGeom prst="roundRect">
            <a:avLst>
              <a:gd name="adj" fmla="val 5161"/>
            </a:avLst>
          </a:prstGeom>
          <a:solidFill>
            <a:srgbClr val="CCFBF1"/>
          </a:solidFill>
          <a:ln w="25400">
            <a:solidFill>
              <a:srgbClr val="14B8A6"/>
            </a:solidFill>
            <a:prstDash val="solid"/>
          </a:ln>
        </p:spPr>
      </p:sp>
      <p:sp>
        <p:nvSpPr>
          <p:cNvPr id="13" name="Text 11"/>
          <p:cNvSpPr/>
          <p:nvPr/>
        </p:nvSpPr>
        <p:spPr>
          <a:xfrm>
            <a:off x="2468880" y="1179576"/>
            <a:ext cx="171450" cy="137160"/>
          </a:xfrm>
          <a:prstGeom prst="rect">
            <a:avLst/>
          </a:prstGeom>
          <a:noFill/>
          <a:ln/>
        </p:spPr>
        <p:txBody>
          <a:bodyPr wrap="square" rtlCol="0" anchor="ctr"/>
          <a:lstStyle/>
          <a:p>
            <a:pPr algn="r"/>
            <a:r>
              <a:rPr lang="en-US" sz="675" dirty="0">
                <a:solidFill>
                  <a:srgbClr val="64748B"/>
                </a:solidFill>
              </a:rPr>
              <a:t>2</a:t>
            </a:r>
            <a:endParaRPr lang="en-US" sz="675" dirty="0"/>
          </a:p>
        </p:txBody>
      </p:sp>
      <p:sp>
        <p:nvSpPr>
          <p:cNvPr id="14" name="Text 12"/>
          <p:cNvSpPr/>
          <p:nvPr/>
        </p:nvSpPr>
        <p:spPr>
          <a:xfrm>
            <a:off x="1611630"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15" name="Text 13"/>
          <p:cNvSpPr/>
          <p:nvPr/>
        </p:nvSpPr>
        <p:spPr>
          <a:xfrm>
            <a:off x="1611630" y="1680210"/>
            <a:ext cx="1062990" cy="240030"/>
          </a:xfrm>
          <a:prstGeom prst="rect">
            <a:avLst/>
          </a:prstGeom>
          <a:noFill/>
          <a:ln/>
        </p:spPr>
        <p:txBody>
          <a:bodyPr wrap="square" rtlCol="0" anchor="ctr"/>
          <a:lstStyle/>
          <a:p>
            <a:pPr algn="ctr"/>
            <a:r>
              <a:rPr lang="en-US" sz="825" b="1" dirty="0">
                <a:solidFill>
                  <a:srgbClr val="0F172A"/>
                </a:solidFill>
              </a:rPr>
              <a:t>upload_stops.py</a:t>
            </a:r>
            <a:endParaRPr lang="en-US" sz="825" dirty="0"/>
          </a:p>
        </p:txBody>
      </p:sp>
      <p:sp>
        <p:nvSpPr>
          <p:cNvPr id="16" name="Text 14"/>
          <p:cNvSpPr/>
          <p:nvPr/>
        </p:nvSpPr>
        <p:spPr>
          <a:xfrm>
            <a:off x="1611630" y="1920240"/>
            <a:ext cx="1062990" cy="342900"/>
          </a:xfrm>
          <a:prstGeom prst="rect">
            <a:avLst/>
          </a:prstGeom>
          <a:noFill/>
          <a:ln/>
        </p:spPr>
        <p:txBody>
          <a:bodyPr wrap="square" rtlCol="0" anchor="ctr"/>
          <a:lstStyle/>
          <a:p>
            <a:pPr algn="ctr"/>
            <a:r>
              <a:rPr lang="en-US" sz="675" b="1" dirty="0">
                <a:solidFill>
                  <a:srgbClr val="0F766E"/>
                </a:solidFill>
              </a:rPr>
              <a:t>Python script</a:t>
            </a:r>
            <a:endParaRPr lang="en-US" sz="675" dirty="0"/>
          </a:p>
        </p:txBody>
      </p:sp>
      <p:sp>
        <p:nvSpPr>
          <p:cNvPr id="17" name="Text 15"/>
          <p:cNvSpPr/>
          <p:nvPr/>
        </p:nvSpPr>
        <p:spPr>
          <a:xfrm>
            <a:off x="2681478" y="1645920"/>
            <a:ext cx="137160" cy="274320"/>
          </a:xfrm>
          <a:prstGeom prst="rect">
            <a:avLst/>
          </a:prstGeom>
          <a:noFill/>
          <a:ln/>
        </p:spPr>
        <p:txBody>
          <a:bodyPr wrap="square" rtlCol="0" anchor="ctr"/>
          <a:lstStyle/>
          <a:p>
            <a:pPr algn="ctr"/>
            <a:r>
              <a:rPr lang="en-US" sz="1500" b="1" dirty="0">
                <a:solidFill>
                  <a:srgbClr val="0891B2"/>
                </a:solidFill>
              </a:rPr>
              <a:t>→</a:t>
            </a:r>
            <a:endParaRPr lang="en-US" sz="1500" dirty="0"/>
          </a:p>
        </p:txBody>
      </p:sp>
      <p:sp>
        <p:nvSpPr>
          <p:cNvPr id="18" name="Shape 16"/>
          <p:cNvSpPr/>
          <p:nvPr/>
        </p:nvSpPr>
        <p:spPr>
          <a:xfrm>
            <a:off x="2825496" y="1165860"/>
            <a:ext cx="1062990" cy="1165860"/>
          </a:xfrm>
          <a:prstGeom prst="roundRect">
            <a:avLst>
              <a:gd name="adj" fmla="val 5161"/>
            </a:avLst>
          </a:prstGeom>
          <a:solidFill>
            <a:srgbClr val="DBEAFE"/>
          </a:solidFill>
          <a:ln w="25400">
            <a:solidFill>
              <a:srgbClr val="3B82F6"/>
            </a:solidFill>
            <a:prstDash val="solid"/>
          </a:ln>
        </p:spPr>
      </p:sp>
      <p:sp>
        <p:nvSpPr>
          <p:cNvPr id="19" name="Text 17"/>
          <p:cNvSpPr/>
          <p:nvPr/>
        </p:nvSpPr>
        <p:spPr>
          <a:xfrm>
            <a:off x="3682746" y="1179576"/>
            <a:ext cx="171450" cy="137160"/>
          </a:xfrm>
          <a:prstGeom prst="rect">
            <a:avLst/>
          </a:prstGeom>
          <a:noFill/>
          <a:ln/>
        </p:spPr>
        <p:txBody>
          <a:bodyPr wrap="square" rtlCol="0" anchor="ctr"/>
          <a:lstStyle/>
          <a:p>
            <a:pPr algn="r"/>
            <a:r>
              <a:rPr lang="en-US" sz="675" dirty="0">
                <a:solidFill>
                  <a:srgbClr val="64748B"/>
                </a:solidFill>
              </a:rPr>
              <a:t>3</a:t>
            </a:r>
            <a:endParaRPr lang="en-US" sz="675" dirty="0"/>
          </a:p>
        </p:txBody>
      </p:sp>
      <p:sp>
        <p:nvSpPr>
          <p:cNvPr id="20" name="Text 18"/>
          <p:cNvSpPr/>
          <p:nvPr/>
        </p:nvSpPr>
        <p:spPr>
          <a:xfrm>
            <a:off x="2825496"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21" name="Text 19"/>
          <p:cNvSpPr/>
          <p:nvPr/>
        </p:nvSpPr>
        <p:spPr>
          <a:xfrm>
            <a:off x="2825496" y="1680210"/>
            <a:ext cx="1062990" cy="240030"/>
          </a:xfrm>
          <a:prstGeom prst="rect">
            <a:avLst/>
          </a:prstGeom>
          <a:noFill/>
          <a:ln/>
        </p:spPr>
        <p:txBody>
          <a:bodyPr wrap="square" rtlCol="0" anchor="ctr"/>
          <a:lstStyle/>
          <a:p>
            <a:pPr algn="ctr"/>
            <a:r>
              <a:rPr lang="en-US" sz="825" b="1" dirty="0">
                <a:solidFill>
                  <a:srgbClr val="0F172A"/>
                </a:solidFill>
              </a:rPr>
              <a:t>ADLS Gen2</a:t>
            </a:r>
            <a:endParaRPr lang="en-US" sz="825" dirty="0"/>
          </a:p>
        </p:txBody>
      </p:sp>
      <p:sp>
        <p:nvSpPr>
          <p:cNvPr id="22" name="Text 20"/>
          <p:cNvSpPr/>
          <p:nvPr/>
        </p:nvSpPr>
        <p:spPr>
          <a:xfrm>
            <a:off x="2825496" y="1920240"/>
            <a:ext cx="1062990" cy="342900"/>
          </a:xfrm>
          <a:prstGeom prst="rect">
            <a:avLst/>
          </a:prstGeom>
          <a:noFill/>
          <a:ln/>
        </p:spPr>
        <p:txBody>
          <a:bodyPr wrap="square" rtlCol="0" anchor="ctr"/>
          <a:lstStyle/>
          <a:p>
            <a:pPr algn="ctr"/>
            <a:r>
              <a:rPr lang="en-US" sz="675" b="1" dirty="0">
                <a:solidFill>
                  <a:srgbClr val="1D4ED8"/>
                </a:solidFill>
              </a:rPr>
              <a:t>Bronze container</a:t>
            </a:r>
            <a:endParaRPr lang="en-US" sz="675" dirty="0"/>
          </a:p>
        </p:txBody>
      </p:sp>
      <p:sp>
        <p:nvSpPr>
          <p:cNvPr id="23" name="Text 21"/>
          <p:cNvSpPr/>
          <p:nvPr/>
        </p:nvSpPr>
        <p:spPr>
          <a:xfrm>
            <a:off x="3895344" y="1645920"/>
            <a:ext cx="137160" cy="274320"/>
          </a:xfrm>
          <a:prstGeom prst="rect">
            <a:avLst/>
          </a:prstGeom>
          <a:noFill/>
          <a:ln/>
        </p:spPr>
        <p:txBody>
          <a:bodyPr wrap="square" rtlCol="0" anchor="ctr"/>
          <a:lstStyle/>
          <a:p>
            <a:pPr algn="ctr"/>
            <a:r>
              <a:rPr lang="en-US" sz="1500" b="1" dirty="0">
                <a:solidFill>
                  <a:srgbClr val="0891B2"/>
                </a:solidFill>
              </a:rPr>
              <a:t>→</a:t>
            </a:r>
            <a:endParaRPr lang="en-US" sz="1500" dirty="0"/>
          </a:p>
        </p:txBody>
      </p:sp>
      <p:sp>
        <p:nvSpPr>
          <p:cNvPr id="24" name="Shape 22"/>
          <p:cNvSpPr/>
          <p:nvPr/>
        </p:nvSpPr>
        <p:spPr>
          <a:xfrm>
            <a:off x="4039362" y="1165860"/>
            <a:ext cx="1062990" cy="1165860"/>
          </a:xfrm>
          <a:prstGeom prst="roundRect">
            <a:avLst>
              <a:gd name="adj" fmla="val 5161"/>
            </a:avLst>
          </a:prstGeom>
          <a:solidFill>
            <a:srgbClr val="CCFBF1"/>
          </a:solidFill>
          <a:ln w="25400">
            <a:solidFill>
              <a:srgbClr val="14B8A6"/>
            </a:solidFill>
            <a:prstDash val="solid"/>
          </a:ln>
        </p:spPr>
      </p:sp>
      <p:sp>
        <p:nvSpPr>
          <p:cNvPr id="25" name="Text 23"/>
          <p:cNvSpPr/>
          <p:nvPr/>
        </p:nvSpPr>
        <p:spPr>
          <a:xfrm>
            <a:off x="4896612" y="1179576"/>
            <a:ext cx="171450" cy="137160"/>
          </a:xfrm>
          <a:prstGeom prst="rect">
            <a:avLst/>
          </a:prstGeom>
          <a:noFill/>
          <a:ln/>
        </p:spPr>
        <p:txBody>
          <a:bodyPr wrap="square" rtlCol="0" anchor="ctr"/>
          <a:lstStyle/>
          <a:p>
            <a:pPr algn="r"/>
            <a:r>
              <a:rPr lang="en-US" sz="675" dirty="0">
                <a:solidFill>
                  <a:srgbClr val="64748B"/>
                </a:solidFill>
              </a:rPr>
              <a:t>4</a:t>
            </a:r>
            <a:endParaRPr lang="en-US" sz="675" dirty="0"/>
          </a:p>
        </p:txBody>
      </p:sp>
      <p:sp>
        <p:nvSpPr>
          <p:cNvPr id="26" name="Text 24"/>
          <p:cNvSpPr/>
          <p:nvPr/>
        </p:nvSpPr>
        <p:spPr>
          <a:xfrm>
            <a:off x="4039362"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27" name="Text 25"/>
          <p:cNvSpPr/>
          <p:nvPr/>
        </p:nvSpPr>
        <p:spPr>
          <a:xfrm>
            <a:off x="4039362" y="1680210"/>
            <a:ext cx="1062990" cy="240030"/>
          </a:xfrm>
          <a:prstGeom prst="rect">
            <a:avLst/>
          </a:prstGeom>
          <a:noFill/>
          <a:ln/>
        </p:spPr>
        <p:txBody>
          <a:bodyPr wrap="square" rtlCol="0" anchor="ctr"/>
          <a:lstStyle/>
          <a:p>
            <a:pPr algn="ctr"/>
            <a:r>
              <a:rPr lang="en-US" sz="825" b="1" dirty="0">
                <a:solidFill>
                  <a:srgbClr val="0F172A"/>
                </a:solidFill>
              </a:rPr>
              <a:t>ADF</a:t>
            </a:r>
            <a:endParaRPr lang="en-US" sz="825" dirty="0"/>
          </a:p>
        </p:txBody>
      </p:sp>
      <p:sp>
        <p:nvSpPr>
          <p:cNvPr id="28" name="Text 26"/>
          <p:cNvSpPr/>
          <p:nvPr/>
        </p:nvSpPr>
        <p:spPr>
          <a:xfrm>
            <a:off x="4039362" y="1920240"/>
            <a:ext cx="1062990" cy="342900"/>
          </a:xfrm>
          <a:prstGeom prst="rect">
            <a:avLst/>
          </a:prstGeom>
          <a:noFill/>
          <a:ln/>
        </p:spPr>
        <p:txBody>
          <a:bodyPr wrap="square" rtlCol="0" anchor="ctr"/>
          <a:lstStyle/>
          <a:p>
            <a:pPr algn="ctr"/>
            <a:r>
              <a:rPr lang="en-US" sz="675" b="1" dirty="0">
                <a:solidFill>
                  <a:srgbClr val="0F766E"/>
                </a:solidFill>
              </a:rPr>
              <a:t>Daily trigger</a:t>
            </a:r>
            <a:endParaRPr lang="en-US" sz="675" dirty="0"/>
          </a:p>
        </p:txBody>
      </p:sp>
      <p:sp>
        <p:nvSpPr>
          <p:cNvPr id="29" name="Text 27"/>
          <p:cNvSpPr/>
          <p:nvPr/>
        </p:nvSpPr>
        <p:spPr>
          <a:xfrm>
            <a:off x="5109210" y="1645920"/>
            <a:ext cx="137160" cy="274320"/>
          </a:xfrm>
          <a:prstGeom prst="rect">
            <a:avLst/>
          </a:prstGeom>
          <a:noFill/>
          <a:ln/>
        </p:spPr>
        <p:txBody>
          <a:bodyPr wrap="square" rtlCol="0" anchor="ctr"/>
          <a:lstStyle/>
          <a:p>
            <a:pPr algn="ctr"/>
            <a:r>
              <a:rPr lang="en-US" sz="1500" b="1" dirty="0">
                <a:solidFill>
                  <a:srgbClr val="0891B2"/>
                </a:solidFill>
              </a:rPr>
              <a:t>→</a:t>
            </a:r>
            <a:endParaRPr lang="en-US" sz="1500" dirty="0"/>
          </a:p>
        </p:txBody>
      </p:sp>
      <p:sp>
        <p:nvSpPr>
          <p:cNvPr id="30" name="Shape 28"/>
          <p:cNvSpPr/>
          <p:nvPr/>
        </p:nvSpPr>
        <p:spPr>
          <a:xfrm>
            <a:off x="5253228" y="1165860"/>
            <a:ext cx="1062990" cy="1165860"/>
          </a:xfrm>
          <a:prstGeom prst="roundRect">
            <a:avLst>
              <a:gd name="adj" fmla="val 5161"/>
            </a:avLst>
          </a:prstGeom>
          <a:solidFill>
            <a:srgbClr val="CCFBF1"/>
          </a:solidFill>
          <a:ln w="25400">
            <a:solidFill>
              <a:srgbClr val="14B8A6"/>
            </a:solidFill>
            <a:prstDash val="solid"/>
          </a:ln>
        </p:spPr>
      </p:sp>
      <p:sp>
        <p:nvSpPr>
          <p:cNvPr id="31" name="Text 29"/>
          <p:cNvSpPr/>
          <p:nvPr/>
        </p:nvSpPr>
        <p:spPr>
          <a:xfrm>
            <a:off x="6110478" y="1179576"/>
            <a:ext cx="171450" cy="137160"/>
          </a:xfrm>
          <a:prstGeom prst="rect">
            <a:avLst/>
          </a:prstGeom>
          <a:noFill/>
          <a:ln/>
        </p:spPr>
        <p:txBody>
          <a:bodyPr wrap="square" rtlCol="0" anchor="ctr"/>
          <a:lstStyle/>
          <a:p>
            <a:pPr algn="r"/>
            <a:r>
              <a:rPr lang="en-US" sz="675" dirty="0">
                <a:solidFill>
                  <a:srgbClr val="64748B"/>
                </a:solidFill>
              </a:rPr>
              <a:t>5</a:t>
            </a:r>
            <a:endParaRPr lang="en-US" sz="675" dirty="0"/>
          </a:p>
        </p:txBody>
      </p:sp>
      <p:sp>
        <p:nvSpPr>
          <p:cNvPr id="32" name="Text 30"/>
          <p:cNvSpPr/>
          <p:nvPr/>
        </p:nvSpPr>
        <p:spPr>
          <a:xfrm>
            <a:off x="5253228"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33" name="Text 31"/>
          <p:cNvSpPr/>
          <p:nvPr/>
        </p:nvSpPr>
        <p:spPr>
          <a:xfrm>
            <a:off x="5253228" y="1680210"/>
            <a:ext cx="1062990" cy="240030"/>
          </a:xfrm>
          <a:prstGeom prst="rect">
            <a:avLst/>
          </a:prstGeom>
          <a:noFill/>
          <a:ln/>
        </p:spPr>
        <p:txBody>
          <a:bodyPr wrap="square" rtlCol="0" anchor="ctr"/>
          <a:lstStyle/>
          <a:p>
            <a:pPr algn="ctr"/>
            <a:r>
              <a:rPr lang="en-US" sz="825" b="1" dirty="0">
                <a:solidFill>
                  <a:srgbClr val="0F172A"/>
                </a:solidFill>
              </a:rPr>
              <a:t>Snowflake</a:t>
            </a:r>
            <a:endParaRPr lang="en-US" sz="825" dirty="0"/>
          </a:p>
        </p:txBody>
      </p:sp>
      <p:sp>
        <p:nvSpPr>
          <p:cNvPr id="34" name="Text 32"/>
          <p:cNvSpPr/>
          <p:nvPr/>
        </p:nvSpPr>
        <p:spPr>
          <a:xfrm>
            <a:off x="5253228" y="1920240"/>
            <a:ext cx="1062990" cy="342900"/>
          </a:xfrm>
          <a:prstGeom prst="rect">
            <a:avLst/>
          </a:prstGeom>
          <a:noFill/>
          <a:ln/>
        </p:spPr>
        <p:txBody>
          <a:bodyPr wrap="square" rtlCol="0" anchor="ctr"/>
          <a:lstStyle/>
          <a:p>
            <a:pPr algn="ctr"/>
            <a:r>
              <a:rPr lang="en-US" sz="675" b="1" dirty="0">
                <a:solidFill>
                  <a:srgbClr val="0F766E"/>
                </a:solidFill>
              </a:rPr>
              <a:t>Bronze→Silver→Gold</a:t>
            </a:r>
            <a:endParaRPr lang="en-US" sz="675" dirty="0"/>
          </a:p>
        </p:txBody>
      </p:sp>
      <p:sp>
        <p:nvSpPr>
          <p:cNvPr id="35" name="Text 33"/>
          <p:cNvSpPr/>
          <p:nvPr/>
        </p:nvSpPr>
        <p:spPr>
          <a:xfrm>
            <a:off x="6323076" y="1543050"/>
            <a:ext cx="137160" cy="274320"/>
          </a:xfrm>
          <a:prstGeom prst="rect">
            <a:avLst/>
          </a:prstGeom>
          <a:noFill/>
          <a:ln/>
        </p:spPr>
        <p:txBody>
          <a:bodyPr wrap="square" rtlCol="0" anchor="ctr"/>
          <a:lstStyle/>
          <a:p>
            <a:pPr algn="ctr"/>
            <a:r>
              <a:rPr lang="en-US" sz="1350" b="1" dirty="0">
                <a:solidFill>
                  <a:srgbClr val="D946EF"/>
                </a:solidFill>
              </a:rPr>
              <a:t>⇆</a:t>
            </a:r>
            <a:endParaRPr lang="en-US" sz="1350" dirty="0"/>
          </a:p>
        </p:txBody>
      </p:sp>
      <p:sp>
        <p:nvSpPr>
          <p:cNvPr id="36" name="Text 34"/>
          <p:cNvSpPr/>
          <p:nvPr/>
        </p:nvSpPr>
        <p:spPr>
          <a:xfrm>
            <a:off x="6288786" y="1817370"/>
            <a:ext cx="205740" cy="137160"/>
          </a:xfrm>
          <a:prstGeom prst="rect">
            <a:avLst/>
          </a:prstGeom>
          <a:noFill/>
          <a:ln/>
        </p:spPr>
        <p:txBody>
          <a:bodyPr wrap="square" rtlCol="0" anchor="ctr"/>
          <a:lstStyle/>
          <a:p>
            <a:pPr algn="ctr"/>
            <a:r>
              <a:rPr lang="en-US" sz="525" b="1" dirty="0">
                <a:solidFill>
                  <a:srgbClr val="D946EF"/>
                </a:solidFill>
              </a:rPr>
              <a:t>sync</a:t>
            </a:r>
            <a:endParaRPr lang="en-US" sz="525" dirty="0"/>
          </a:p>
        </p:txBody>
      </p:sp>
      <p:sp>
        <p:nvSpPr>
          <p:cNvPr id="37" name="Shape 35"/>
          <p:cNvSpPr/>
          <p:nvPr/>
        </p:nvSpPr>
        <p:spPr>
          <a:xfrm>
            <a:off x="6467094" y="1165860"/>
            <a:ext cx="1062990" cy="1165860"/>
          </a:xfrm>
          <a:prstGeom prst="roundRect">
            <a:avLst>
              <a:gd name="adj" fmla="val 5161"/>
            </a:avLst>
          </a:prstGeom>
          <a:solidFill>
            <a:srgbClr val="FEF3C7"/>
          </a:solidFill>
          <a:ln w="25400">
            <a:solidFill>
              <a:srgbClr val="F59E0B"/>
            </a:solidFill>
            <a:prstDash val="solid"/>
          </a:ln>
        </p:spPr>
      </p:sp>
      <p:sp>
        <p:nvSpPr>
          <p:cNvPr id="38" name="Text 36"/>
          <p:cNvSpPr/>
          <p:nvPr/>
        </p:nvSpPr>
        <p:spPr>
          <a:xfrm>
            <a:off x="7324344" y="1179576"/>
            <a:ext cx="171450" cy="137160"/>
          </a:xfrm>
          <a:prstGeom prst="rect">
            <a:avLst/>
          </a:prstGeom>
          <a:noFill/>
          <a:ln/>
        </p:spPr>
        <p:txBody>
          <a:bodyPr wrap="square" rtlCol="0" anchor="ctr"/>
          <a:lstStyle/>
          <a:p>
            <a:pPr algn="r"/>
            <a:r>
              <a:rPr lang="en-US" sz="675" dirty="0">
                <a:solidFill>
                  <a:srgbClr val="64748B"/>
                </a:solidFill>
              </a:rPr>
              <a:t>6</a:t>
            </a:r>
            <a:endParaRPr lang="en-US" sz="675" dirty="0"/>
          </a:p>
        </p:txBody>
      </p:sp>
      <p:sp>
        <p:nvSpPr>
          <p:cNvPr id="39" name="Text 37"/>
          <p:cNvSpPr/>
          <p:nvPr/>
        </p:nvSpPr>
        <p:spPr>
          <a:xfrm>
            <a:off x="6467094"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40" name="Text 38"/>
          <p:cNvSpPr/>
          <p:nvPr/>
        </p:nvSpPr>
        <p:spPr>
          <a:xfrm>
            <a:off x="6467094" y="1680210"/>
            <a:ext cx="1062990" cy="240030"/>
          </a:xfrm>
          <a:prstGeom prst="rect">
            <a:avLst/>
          </a:prstGeom>
          <a:noFill/>
          <a:ln/>
        </p:spPr>
        <p:txBody>
          <a:bodyPr wrap="square" rtlCol="0" anchor="ctr"/>
          <a:lstStyle/>
          <a:p>
            <a:pPr algn="ctr"/>
            <a:r>
              <a:rPr lang="en-US" sz="825" b="1" dirty="0">
                <a:solidFill>
                  <a:srgbClr val="0F172A"/>
                </a:solidFill>
              </a:rPr>
              <a:t>dbt Cloud</a:t>
            </a:r>
            <a:endParaRPr lang="en-US" sz="825" dirty="0"/>
          </a:p>
        </p:txBody>
      </p:sp>
      <p:sp>
        <p:nvSpPr>
          <p:cNvPr id="41" name="Text 39"/>
          <p:cNvSpPr/>
          <p:nvPr/>
        </p:nvSpPr>
        <p:spPr>
          <a:xfrm>
            <a:off x="6467094" y="1920240"/>
            <a:ext cx="1062990" cy="342900"/>
          </a:xfrm>
          <a:prstGeom prst="rect">
            <a:avLst/>
          </a:prstGeom>
          <a:noFill/>
          <a:ln/>
        </p:spPr>
        <p:txBody>
          <a:bodyPr wrap="square" rtlCol="0" anchor="ctr"/>
          <a:lstStyle/>
          <a:p>
            <a:pPr algn="ctr"/>
            <a:r>
              <a:rPr lang="en-US" sz="675" b="1" dirty="0">
                <a:solidFill>
                  <a:srgbClr val="B45309"/>
                </a:solidFill>
              </a:rPr>
              <a:t>Transform + tests</a:t>
            </a:r>
            <a:endParaRPr lang="en-US" sz="675" dirty="0"/>
          </a:p>
        </p:txBody>
      </p:sp>
      <p:sp>
        <p:nvSpPr>
          <p:cNvPr id="42" name="Text 40"/>
          <p:cNvSpPr/>
          <p:nvPr/>
        </p:nvSpPr>
        <p:spPr>
          <a:xfrm>
            <a:off x="7536942" y="1645920"/>
            <a:ext cx="137160" cy="274320"/>
          </a:xfrm>
          <a:prstGeom prst="rect">
            <a:avLst/>
          </a:prstGeom>
          <a:noFill/>
          <a:ln/>
        </p:spPr>
        <p:txBody>
          <a:bodyPr wrap="square" rtlCol="0" anchor="ctr"/>
          <a:lstStyle/>
          <a:p>
            <a:pPr algn="ctr"/>
            <a:r>
              <a:rPr lang="en-US" sz="1500" b="1" dirty="0">
                <a:solidFill>
                  <a:srgbClr val="0891B2"/>
                </a:solidFill>
              </a:rPr>
              <a:t>→</a:t>
            </a:r>
            <a:endParaRPr lang="en-US" sz="1500" dirty="0"/>
          </a:p>
        </p:txBody>
      </p:sp>
      <p:sp>
        <p:nvSpPr>
          <p:cNvPr id="43" name="Shape 41"/>
          <p:cNvSpPr/>
          <p:nvPr/>
        </p:nvSpPr>
        <p:spPr>
          <a:xfrm>
            <a:off x="7680960" y="1165860"/>
            <a:ext cx="1062990" cy="1165860"/>
          </a:xfrm>
          <a:prstGeom prst="roundRect">
            <a:avLst>
              <a:gd name="adj" fmla="val 5161"/>
            </a:avLst>
          </a:prstGeom>
          <a:solidFill>
            <a:srgbClr val="FEF3C7"/>
          </a:solidFill>
          <a:ln w="25400">
            <a:solidFill>
              <a:srgbClr val="F59E0B"/>
            </a:solidFill>
            <a:prstDash val="solid"/>
          </a:ln>
        </p:spPr>
      </p:sp>
      <p:sp>
        <p:nvSpPr>
          <p:cNvPr id="44" name="Text 42"/>
          <p:cNvSpPr/>
          <p:nvPr/>
        </p:nvSpPr>
        <p:spPr>
          <a:xfrm>
            <a:off x="8538210" y="1179576"/>
            <a:ext cx="171450" cy="137160"/>
          </a:xfrm>
          <a:prstGeom prst="rect">
            <a:avLst/>
          </a:prstGeom>
          <a:noFill/>
          <a:ln/>
        </p:spPr>
        <p:txBody>
          <a:bodyPr wrap="square" rtlCol="0" anchor="ctr"/>
          <a:lstStyle/>
          <a:p>
            <a:pPr algn="r"/>
            <a:r>
              <a:rPr lang="en-US" sz="675" dirty="0">
                <a:solidFill>
                  <a:srgbClr val="64748B"/>
                </a:solidFill>
              </a:rPr>
              <a:t>7</a:t>
            </a:r>
            <a:endParaRPr lang="en-US" sz="675" dirty="0"/>
          </a:p>
        </p:txBody>
      </p:sp>
      <p:sp>
        <p:nvSpPr>
          <p:cNvPr id="45" name="Text 43"/>
          <p:cNvSpPr/>
          <p:nvPr/>
        </p:nvSpPr>
        <p:spPr>
          <a:xfrm>
            <a:off x="7680960"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46" name="Text 44"/>
          <p:cNvSpPr/>
          <p:nvPr/>
        </p:nvSpPr>
        <p:spPr>
          <a:xfrm>
            <a:off x="7680960" y="1680210"/>
            <a:ext cx="1062990" cy="240030"/>
          </a:xfrm>
          <a:prstGeom prst="rect">
            <a:avLst/>
          </a:prstGeom>
          <a:noFill/>
          <a:ln/>
        </p:spPr>
        <p:txBody>
          <a:bodyPr wrap="square" rtlCol="0" anchor="ctr"/>
          <a:lstStyle/>
          <a:p>
            <a:pPr algn="ctr"/>
            <a:r>
              <a:rPr lang="en-US" sz="825" b="1" dirty="0">
                <a:solidFill>
                  <a:srgbClr val="0F172A"/>
                </a:solidFill>
              </a:rPr>
              <a:t>Power BI</a:t>
            </a:r>
            <a:endParaRPr lang="en-US" sz="825" dirty="0"/>
          </a:p>
        </p:txBody>
      </p:sp>
      <p:sp>
        <p:nvSpPr>
          <p:cNvPr id="47" name="Text 45"/>
          <p:cNvSpPr/>
          <p:nvPr/>
        </p:nvSpPr>
        <p:spPr>
          <a:xfrm>
            <a:off x="7680960" y="1920240"/>
            <a:ext cx="1062990" cy="342900"/>
          </a:xfrm>
          <a:prstGeom prst="rect">
            <a:avLst/>
          </a:prstGeom>
          <a:noFill/>
          <a:ln/>
        </p:spPr>
        <p:txBody>
          <a:bodyPr wrap="square" rtlCol="0" anchor="ctr"/>
          <a:lstStyle/>
          <a:p>
            <a:pPr algn="ctr"/>
            <a:r>
              <a:rPr lang="en-US" sz="675" b="1" dirty="0">
                <a:solidFill>
                  <a:srgbClr val="B45309"/>
                </a:solidFill>
              </a:rPr>
              <a:t>Dashboard</a:t>
            </a:r>
            <a:endParaRPr lang="en-US" sz="675" dirty="0"/>
          </a:p>
        </p:txBody>
      </p:sp>
      <p:sp>
        <p:nvSpPr>
          <p:cNvPr id="48" name="Shape 46"/>
          <p:cNvSpPr/>
          <p:nvPr/>
        </p:nvSpPr>
        <p:spPr>
          <a:xfrm>
            <a:off x="274320" y="2537460"/>
            <a:ext cx="8572500" cy="377190"/>
          </a:xfrm>
          <a:prstGeom prst="roundRect">
            <a:avLst>
              <a:gd name="adj" fmla="val 14545"/>
            </a:avLst>
          </a:prstGeom>
          <a:solidFill>
            <a:srgbClr val="FAE8FF"/>
          </a:solidFill>
          <a:ln w="12700">
            <a:solidFill>
              <a:srgbClr val="D946EF"/>
            </a:solidFill>
            <a:prstDash val="solid"/>
          </a:ln>
        </p:spPr>
      </p:sp>
      <p:sp>
        <p:nvSpPr>
          <p:cNvPr id="49" name="Text 47"/>
          <p:cNvSpPr/>
          <p:nvPr/>
        </p:nvSpPr>
        <p:spPr>
          <a:xfrm>
            <a:off x="274320" y="2537460"/>
            <a:ext cx="8572500" cy="377190"/>
          </a:xfrm>
          <a:prstGeom prst="rect">
            <a:avLst/>
          </a:prstGeom>
          <a:noFill/>
          <a:ln/>
        </p:spPr>
        <p:txBody>
          <a:bodyPr wrap="square" rtlCol="0" anchor="ctr"/>
          <a:lstStyle/>
          <a:p>
            <a:pPr algn="ctr"/>
            <a:r>
              <a:rPr lang="en-US" sz="900" b="1" dirty="0">
                <a:solidFill>
                  <a:srgbClr val="000000"/>
                </a:solidFill>
              </a:rPr>
              <a:t>❄  ⇆  📊   </a:t>
            </a:r>
            <a:r>
              <a:rPr lang="en-US" sz="900" b="1" dirty="0">
                <a:solidFill>
                  <a:srgbClr val="1E293B"/>
                </a:solidFill>
              </a:rPr>
              <a:t>Power BI connects directly to Snowflake </a:t>
            </a:r>
            <a:r>
              <a:rPr lang="en-US" sz="900" dirty="0">
                <a:solidFill>
                  <a:srgbClr val="475569"/>
                </a:solidFill>
              </a:rPr>
              <a:t>— reads Gold-layer tables for reporting</a:t>
            </a:r>
            <a:endParaRPr lang="en-US" sz="900" dirty="0"/>
          </a:p>
        </p:txBody>
      </p:sp>
      <p:sp>
        <p:nvSpPr>
          <p:cNvPr id="50" name="Shape 48"/>
          <p:cNvSpPr/>
          <p:nvPr/>
        </p:nvSpPr>
        <p:spPr>
          <a:xfrm>
            <a:off x="274320" y="3017520"/>
            <a:ext cx="8572500" cy="342900"/>
          </a:xfrm>
          <a:prstGeom prst="roundRect">
            <a:avLst>
              <a:gd name="adj" fmla="val 12000"/>
            </a:avLst>
          </a:prstGeom>
          <a:solidFill>
            <a:srgbClr val="F1F5F9"/>
          </a:solidFill>
          <a:ln w="12700">
            <a:solidFill>
              <a:srgbClr val="CBD5E1"/>
            </a:solidFill>
            <a:prstDash val="solid"/>
          </a:ln>
        </p:spPr>
      </p:sp>
      <p:sp>
        <p:nvSpPr>
          <p:cNvPr id="51" name="Text 49"/>
          <p:cNvSpPr/>
          <p:nvPr/>
        </p:nvSpPr>
        <p:spPr>
          <a:xfrm>
            <a:off x="274320" y="3017520"/>
            <a:ext cx="8572500" cy="342900"/>
          </a:xfrm>
          <a:prstGeom prst="rect">
            <a:avLst/>
          </a:prstGeom>
          <a:noFill/>
          <a:ln/>
        </p:spPr>
        <p:txBody>
          <a:bodyPr wrap="square" rtlCol="0" anchor="ctr"/>
          <a:lstStyle/>
          <a:p>
            <a:pPr algn="ctr"/>
            <a:r>
              <a:rPr lang="en-US" sz="825" b="1" dirty="0">
                <a:solidFill>
                  <a:srgbClr val="334155"/>
                </a:solidFill>
              </a:rPr>
              <a:t>Why batch? </a:t>
            </a:r>
            <a:r>
              <a:rPr lang="en-US" sz="825" dirty="0">
                <a:solidFill>
                  <a:srgbClr val="64748B"/>
                </a:solidFill>
              </a:rPr>
              <a:t>— Static stop data updates once daily. Scheduled batch ingestion is efficient, cost-effective and aligned with Trafiklab's update frequency.</a:t>
            </a:r>
            <a:endParaRPr lang="en-US" sz="825" dirty="0"/>
          </a:p>
        </p:txBody>
      </p:sp>
      <p:sp>
        <p:nvSpPr>
          <p:cNvPr id="52" name="Shape 50"/>
          <p:cNvSpPr/>
          <p:nvPr/>
        </p:nvSpPr>
        <p:spPr>
          <a:xfrm>
            <a:off x="274320" y="3463290"/>
            <a:ext cx="8572500" cy="1543050"/>
          </a:xfrm>
          <a:prstGeom prst="roundRect">
            <a:avLst>
              <a:gd name="adj" fmla="val 3556"/>
            </a:avLst>
          </a:prstGeom>
          <a:solidFill>
            <a:srgbClr val="FFFFFF"/>
          </a:solidFill>
          <a:ln w="12700">
            <a:solidFill>
              <a:srgbClr val="E2E8F0"/>
            </a:solidFill>
            <a:prstDash val="solid"/>
          </a:ln>
        </p:spPr>
      </p:sp>
      <p:sp>
        <p:nvSpPr>
          <p:cNvPr id="53" name="Text 51"/>
          <p:cNvSpPr/>
          <p:nvPr/>
        </p:nvSpPr>
        <p:spPr>
          <a:xfrm>
            <a:off x="411480" y="3511296"/>
            <a:ext cx="8229600" cy="240030"/>
          </a:xfrm>
          <a:prstGeom prst="rect">
            <a:avLst/>
          </a:prstGeom>
          <a:noFill/>
          <a:ln/>
        </p:spPr>
        <p:txBody>
          <a:bodyPr wrap="square" rtlCol="0" anchor="ctr"/>
          <a:lstStyle/>
          <a:p>
            <a:r>
              <a:rPr lang="en-US" sz="1050" b="1" dirty="0">
                <a:solidFill>
                  <a:srgbClr val="0E7490"/>
                </a:solidFill>
              </a:rPr>
              <a:t>Architectural Decisions</a:t>
            </a:r>
            <a:endParaRPr lang="en-US" sz="1050" dirty="0"/>
          </a:p>
        </p:txBody>
      </p:sp>
      <p:sp>
        <p:nvSpPr>
          <p:cNvPr id="54" name="Text 52"/>
          <p:cNvSpPr/>
          <p:nvPr/>
        </p:nvSpPr>
        <p:spPr>
          <a:xfrm>
            <a:off x="411480" y="3806190"/>
            <a:ext cx="240030" cy="274320"/>
          </a:xfrm>
          <a:prstGeom prst="rect">
            <a:avLst/>
          </a:prstGeom>
          <a:noFill/>
          <a:ln/>
        </p:spPr>
        <p:txBody>
          <a:bodyPr wrap="square" rtlCol="0" anchor="ctr"/>
          <a:lstStyle/>
          <a:p>
            <a:r>
              <a:rPr lang="en-US" sz="1050" dirty="0">
                <a:solidFill>
                  <a:srgbClr val="D97706"/>
                </a:solidFill>
              </a:rPr>
              <a:t>🔒</a:t>
            </a:r>
            <a:endParaRPr lang="en-US" sz="1050" dirty="0"/>
          </a:p>
        </p:txBody>
      </p:sp>
      <p:sp>
        <p:nvSpPr>
          <p:cNvPr id="55" name="Text 53"/>
          <p:cNvSpPr/>
          <p:nvPr/>
        </p:nvSpPr>
        <p:spPr>
          <a:xfrm>
            <a:off x="685800" y="3806190"/>
            <a:ext cx="3840480" cy="480060"/>
          </a:xfrm>
          <a:prstGeom prst="rect">
            <a:avLst/>
          </a:prstGeom>
          <a:noFill/>
          <a:ln/>
        </p:spPr>
        <p:txBody>
          <a:bodyPr wrap="square" rtlCol="0" anchor="t"/>
          <a:lstStyle/>
          <a:p>
            <a:r>
              <a:rPr lang="en-US" sz="750" b="1" dirty="0">
                <a:solidFill>
                  <a:srgbClr val="0F172A"/>
                </a:solidFill>
              </a:rPr>
              <a:t>Key Vault </a:t>
            </a:r>
            <a:r>
              <a:rPr lang="en-US" sz="750" dirty="0">
                <a:solidFill>
                  <a:srgbClr val="475569"/>
                </a:solidFill>
              </a:rPr>
              <a:t>— all credentials stored centrally, never hardcoded in any script or pipeline</a:t>
            </a:r>
            <a:endParaRPr lang="en-US" sz="750" dirty="0"/>
          </a:p>
        </p:txBody>
      </p:sp>
      <p:sp>
        <p:nvSpPr>
          <p:cNvPr id="56" name="Text 54"/>
          <p:cNvSpPr/>
          <p:nvPr/>
        </p:nvSpPr>
        <p:spPr>
          <a:xfrm>
            <a:off x="4629150" y="3806190"/>
            <a:ext cx="240030" cy="274320"/>
          </a:xfrm>
          <a:prstGeom prst="rect">
            <a:avLst/>
          </a:prstGeom>
          <a:noFill/>
          <a:ln/>
        </p:spPr>
        <p:txBody>
          <a:bodyPr wrap="square" rtlCol="0" anchor="ctr"/>
          <a:lstStyle/>
          <a:p>
            <a:r>
              <a:rPr lang="en-US" sz="1050" dirty="0">
                <a:solidFill>
                  <a:srgbClr val="0284C7"/>
                </a:solidFill>
              </a:rPr>
              <a:t>❄</a:t>
            </a:r>
            <a:endParaRPr lang="en-US" sz="1050" dirty="0"/>
          </a:p>
        </p:txBody>
      </p:sp>
      <p:sp>
        <p:nvSpPr>
          <p:cNvPr id="57" name="Text 55"/>
          <p:cNvSpPr/>
          <p:nvPr/>
        </p:nvSpPr>
        <p:spPr>
          <a:xfrm>
            <a:off x="4903470" y="3806190"/>
            <a:ext cx="3840480" cy="480060"/>
          </a:xfrm>
          <a:prstGeom prst="rect">
            <a:avLst/>
          </a:prstGeom>
          <a:noFill/>
          <a:ln/>
        </p:spPr>
        <p:txBody>
          <a:bodyPr wrap="square" rtlCol="0" anchor="t"/>
          <a:lstStyle/>
          <a:p>
            <a:r>
              <a:rPr lang="en-US" sz="750" b="1" dirty="0">
                <a:solidFill>
                  <a:srgbClr val="0F172A"/>
                </a:solidFill>
              </a:rPr>
              <a:t>Snowflake medallion </a:t>
            </a:r>
            <a:r>
              <a:rPr lang="en-US" sz="750" dirty="0">
                <a:solidFill>
                  <a:srgbClr val="475569"/>
                </a:solidFill>
              </a:rPr>
              <a:t>— bronze → silver → gold ensures data gets cleaner and more valuable at each step</a:t>
            </a:r>
            <a:endParaRPr lang="en-US" sz="750" dirty="0"/>
          </a:p>
        </p:txBody>
      </p:sp>
      <p:sp>
        <p:nvSpPr>
          <p:cNvPr id="58" name="Text 56"/>
          <p:cNvSpPr/>
          <p:nvPr/>
        </p:nvSpPr>
        <p:spPr>
          <a:xfrm>
            <a:off x="411480" y="4354830"/>
            <a:ext cx="240030" cy="274320"/>
          </a:xfrm>
          <a:prstGeom prst="rect">
            <a:avLst/>
          </a:prstGeom>
          <a:noFill/>
          <a:ln/>
        </p:spPr>
        <p:txBody>
          <a:bodyPr wrap="square" rtlCol="0" anchor="ctr"/>
          <a:lstStyle/>
          <a:p>
            <a:r>
              <a:rPr lang="en-US" sz="1050" dirty="0">
                <a:solidFill>
                  <a:srgbClr val="1D4ED8"/>
                </a:solidFill>
              </a:rPr>
              <a:t>💾</a:t>
            </a:r>
            <a:endParaRPr lang="en-US" sz="1050" dirty="0"/>
          </a:p>
        </p:txBody>
      </p:sp>
      <p:sp>
        <p:nvSpPr>
          <p:cNvPr id="59" name="Text 57"/>
          <p:cNvSpPr/>
          <p:nvPr/>
        </p:nvSpPr>
        <p:spPr>
          <a:xfrm>
            <a:off x="685800" y="4354830"/>
            <a:ext cx="3840480" cy="480060"/>
          </a:xfrm>
          <a:prstGeom prst="rect">
            <a:avLst/>
          </a:prstGeom>
          <a:noFill/>
          <a:ln/>
        </p:spPr>
        <p:txBody>
          <a:bodyPr wrap="square" rtlCol="0" anchor="t"/>
          <a:lstStyle/>
          <a:p>
            <a:r>
              <a:rPr lang="en-US" sz="750" b="1" dirty="0">
                <a:solidFill>
                  <a:srgbClr val="0F172A"/>
                </a:solidFill>
              </a:rPr>
              <a:t>ADLS Gen2 </a:t>
            </a:r>
            <a:r>
              <a:rPr lang="en-US" sz="750" dirty="0">
                <a:solidFill>
                  <a:srgbClr val="475569"/>
                </a:solidFill>
              </a:rPr>
              <a:t>— raw data preserved in bronze layer; safe to reprocess if anything goes wrong downstream</a:t>
            </a:r>
            <a:endParaRPr lang="en-US" sz="750" dirty="0"/>
          </a:p>
        </p:txBody>
      </p:sp>
      <p:sp>
        <p:nvSpPr>
          <p:cNvPr id="60" name="Text 58"/>
          <p:cNvSpPr/>
          <p:nvPr/>
        </p:nvSpPr>
        <p:spPr>
          <a:xfrm>
            <a:off x="4629150" y="4354830"/>
            <a:ext cx="240030" cy="274320"/>
          </a:xfrm>
          <a:prstGeom prst="rect">
            <a:avLst/>
          </a:prstGeom>
          <a:noFill/>
          <a:ln/>
        </p:spPr>
        <p:txBody>
          <a:bodyPr wrap="square" rtlCol="0" anchor="ctr"/>
          <a:lstStyle/>
          <a:p>
            <a:r>
              <a:rPr lang="en-US" sz="1050" dirty="0">
                <a:solidFill>
                  <a:srgbClr val="B45309"/>
                </a:solidFill>
              </a:rPr>
              <a:t>🔧</a:t>
            </a:r>
            <a:endParaRPr lang="en-US" sz="1050" dirty="0"/>
          </a:p>
        </p:txBody>
      </p:sp>
      <p:sp>
        <p:nvSpPr>
          <p:cNvPr id="61" name="Text 59"/>
          <p:cNvSpPr/>
          <p:nvPr/>
        </p:nvSpPr>
        <p:spPr>
          <a:xfrm>
            <a:off x="4903470" y="4354830"/>
            <a:ext cx="3840480" cy="480060"/>
          </a:xfrm>
          <a:prstGeom prst="rect">
            <a:avLst/>
          </a:prstGeom>
          <a:noFill/>
          <a:ln/>
        </p:spPr>
        <p:txBody>
          <a:bodyPr wrap="square" rtlCol="0" anchor="t"/>
          <a:lstStyle/>
          <a:p>
            <a:r>
              <a:rPr lang="en-US" sz="750" b="1" dirty="0">
                <a:solidFill>
                  <a:srgbClr val="0F172A"/>
                </a:solidFill>
              </a:rPr>
              <a:t>dbt tests </a:t>
            </a:r>
            <a:r>
              <a:rPr lang="en-US" sz="750" dirty="0">
                <a:solidFill>
                  <a:srgbClr val="475569"/>
                </a:solidFill>
              </a:rPr>
              <a:t>— not_null and unique constraints catch bad data before it ever reaches Power BI</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0D1B2A"/>
          </a:solidFill>
          <a:ln w="12700">
            <a:solidFill>
              <a:srgbClr val="0D1B2A"/>
            </a:solidFill>
            <a:prstDash val="solid"/>
          </a:ln>
        </p:spPr>
      </p:sp>
      <p:sp>
        <p:nvSpPr>
          <p:cNvPr id="3" name="Text 1"/>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PROJECT OVERVIEW</a:t>
            </a:r>
            <a:endParaRPr lang="en-US" sz="1300" dirty="0"/>
          </a:p>
        </p:txBody>
      </p:sp>
      <p:sp>
        <p:nvSpPr>
          <p:cNvPr id="4" name="Text 2"/>
          <p:cNvSpPr/>
          <p:nvPr/>
        </p:nvSpPr>
        <p:spPr>
          <a:xfrm>
            <a:off x="365760" y="0"/>
            <a:ext cx="8229600" cy="777240"/>
          </a:xfrm>
          <a:prstGeom prst="rect">
            <a:avLst/>
          </a:prstGeom>
          <a:noFill/>
          <a:ln/>
        </p:spPr>
        <p:txBody>
          <a:bodyPr wrap="square" lIns="0" tIns="0" rIns="0" bIns="0" rtlCol="0" anchor="ctr"/>
          <a:lstStyle/>
          <a:p>
            <a:pPr marL="0" indent="0" algn="r">
              <a:buNone/>
            </a:pPr>
            <a:r>
              <a:rPr lang="en-US" sz="1300" b="1" dirty="0">
                <a:solidFill>
                  <a:srgbClr val="FFFFFF"/>
                </a:solidFill>
              </a:rPr>
              <a:t>What I built and why</a:t>
            </a:r>
            <a:endParaRPr lang="en-US" sz="1300" dirty="0"/>
          </a:p>
        </p:txBody>
      </p:sp>
      <p:sp>
        <p:nvSpPr>
          <p:cNvPr id="5" name="Shape 3"/>
          <p:cNvSpPr/>
          <p:nvPr/>
        </p:nvSpPr>
        <p:spPr>
          <a:xfrm>
            <a:off x="365760" y="960120"/>
            <a:ext cx="8412480" cy="914400"/>
          </a:xfrm>
          <a:prstGeom prst="rect">
            <a:avLst/>
          </a:prstGeom>
          <a:solidFill>
            <a:srgbClr val="0D1B2A"/>
          </a:solidFill>
          <a:ln w="12700">
            <a:solidFill>
              <a:srgbClr val="0D1B2A"/>
            </a:solidFill>
            <a:prstDash val="solid"/>
          </a:ln>
          <a:effectLst>
            <a:outerShdw blurRad="101600" dist="38100" dir="8100000" algn="bl" rotWithShape="0">
              <a:srgbClr val="000000">
                <a:alpha val="12000"/>
              </a:srgbClr>
            </a:outerShdw>
          </a:effectLst>
        </p:spPr>
      </p:sp>
      <p:sp>
        <p:nvSpPr>
          <p:cNvPr id="6" name="Text 4"/>
          <p:cNvSpPr/>
          <p:nvPr/>
        </p:nvSpPr>
        <p:spPr>
          <a:xfrm>
            <a:off x="502920" y="960120"/>
            <a:ext cx="8138160" cy="914400"/>
          </a:xfrm>
          <a:prstGeom prst="rect">
            <a:avLst/>
          </a:prstGeom>
          <a:noFill/>
          <a:ln/>
        </p:spPr>
        <p:txBody>
          <a:bodyPr wrap="square" rtlCol="0" anchor="ctr"/>
          <a:lstStyle/>
          <a:p>
            <a:pPr marL="0" indent="0">
              <a:buNone/>
            </a:pPr>
            <a:r>
              <a:rPr lang="en-US" sz="1400" b="1" dirty="0">
                <a:solidFill>
                  <a:srgbClr val="00B4D8"/>
                </a:solidFill>
              </a:rPr>
              <a:t>Analytical Question: </a:t>
            </a:r>
            <a:r>
              <a:rPr lang="en-US" sz="1400" dirty="0">
                <a:solidFill>
                  <a:srgbClr val="FFFFFF"/>
                </a:solidFill>
              </a:rPr>
              <a:t>How is Stockholm's public transport network distributed across the city and which stops are busiest?</a:t>
            </a:r>
            <a:endParaRPr lang="en-US" sz="1400" dirty="0"/>
          </a:p>
        </p:txBody>
      </p:sp>
      <p:sp>
        <p:nvSpPr>
          <p:cNvPr id="7" name="Shape 5"/>
          <p:cNvSpPr/>
          <p:nvPr/>
        </p:nvSpPr>
        <p:spPr>
          <a:xfrm>
            <a:off x="365760" y="2103120"/>
            <a:ext cx="1965960" cy="1417320"/>
          </a:xfrm>
          <a:prstGeom prst="rect">
            <a:avLst/>
          </a:prstGeom>
          <a:solidFill>
            <a:srgbClr val="FFFFFF"/>
          </a:solidFill>
          <a:ln w="12700">
            <a:solidFill>
              <a:srgbClr val="D0DCE8"/>
            </a:solidFill>
            <a:prstDash val="solid"/>
          </a:ln>
          <a:effectLst>
            <a:outerShdw blurRad="76200" dist="25400" dir="8100000" algn="bl" rotWithShape="0">
              <a:srgbClr val="000000">
                <a:alpha val="8000"/>
              </a:srgbClr>
            </a:outerShdw>
          </a:effectLst>
        </p:spPr>
      </p:sp>
      <p:sp>
        <p:nvSpPr>
          <p:cNvPr id="8" name="Shape 6"/>
          <p:cNvSpPr/>
          <p:nvPr/>
        </p:nvSpPr>
        <p:spPr>
          <a:xfrm>
            <a:off x="365760" y="2103120"/>
            <a:ext cx="1965960" cy="64008"/>
          </a:xfrm>
          <a:prstGeom prst="rect">
            <a:avLst/>
          </a:prstGeom>
          <a:solidFill>
            <a:srgbClr val="00B4D8"/>
          </a:solidFill>
          <a:ln w="12700">
            <a:solidFill>
              <a:srgbClr val="00B4D8"/>
            </a:solidFill>
            <a:prstDash val="solid"/>
          </a:ln>
        </p:spPr>
      </p:sp>
      <p:sp>
        <p:nvSpPr>
          <p:cNvPr id="9" name="Text 7"/>
          <p:cNvSpPr/>
          <p:nvPr/>
        </p:nvSpPr>
        <p:spPr>
          <a:xfrm>
            <a:off x="365760" y="2194560"/>
            <a:ext cx="1965960" cy="45720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10" name="Text 8"/>
          <p:cNvSpPr/>
          <p:nvPr/>
        </p:nvSpPr>
        <p:spPr>
          <a:xfrm>
            <a:off x="365760" y="2633472"/>
            <a:ext cx="1965960" cy="457200"/>
          </a:xfrm>
          <a:prstGeom prst="rect">
            <a:avLst/>
          </a:prstGeom>
          <a:noFill/>
          <a:ln/>
        </p:spPr>
        <p:txBody>
          <a:bodyPr wrap="square" lIns="0" tIns="0" rIns="0" bIns="0" rtlCol="0" anchor="ctr"/>
          <a:lstStyle/>
          <a:p>
            <a:pPr marL="0" indent="0" algn="ctr">
              <a:buNone/>
            </a:pPr>
            <a:r>
              <a:rPr lang="en-US" sz="2200" b="1" dirty="0">
                <a:solidFill>
                  <a:srgbClr val="0D1B2A"/>
                </a:solidFill>
              </a:rPr>
              <a:t>21,829</a:t>
            </a:r>
            <a:endParaRPr lang="en-US" sz="2200" dirty="0"/>
          </a:p>
        </p:txBody>
      </p:sp>
      <p:sp>
        <p:nvSpPr>
          <p:cNvPr id="11" name="Text 9"/>
          <p:cNvSpPr/>
          <p:nvPr/>
        </p:nvSpPr>
        <p:spPr>
          <a:xfrm>
            <a:off x="365760" y="3063240"/>
            <a:ext cx="1965960" cy="347472"/>
          </a:xfrm>
          <a:prstGeom prst="rect">
            <a:avLst/>
          </a:prstGeom>
          <a:noFill/>
          <a:ln/>
        </p:spPr>
        <p:txBody>
          <a:bodyPr wrap="square" lIns="0" tIns="0" rIns="0" bIns="0" rtlCol="0" anchor="ctr"/>
          <a:lstStyle/>
          <a:p>
            <a:pPr marL="0" indent="0" algn="ctr">
              <a:buNone/>
            </a:pPr>
            <a:r>
              <a:rPr lang="en-US" sz="1000" dirty="0">
                <a:solidFill>
                  <a:srgbClr val="8FA3B1"/>
                </a:solidFill>
              </a:rPr>
              <a:t>Transport Stops</a:t>
            </a:r>
            <a:endParaRPr lang="en-US" sz="1000" dirty="0"/>
          </a:p>
        </p:txBody>
      </p:sp>
      <p:sp>
        <p:nvSpPr>
          <p:cNvPr id="12" name="Shape 10"/>
          <p:cNvSpPr/>
          <p:nvPr/>
        </p:nvSpPr>
        <p:spPr>
          <a:xfrm>
            <a:off x="2514600" y="2103120"/>
            <a:ext cx="1965960" cy="1417320"/>
          </a:xfrm>
          <a:prstGeom prst="rect">
            <a:avLst/>
          </a:prstGeom>
          <a:solidFill>
            <a:srgbClr val="FFFFFF"/>
          </a:solidFill>
          <a:ln w="12700">
            <a:solidFill>
              <a:srgbClr val="D0DCE8"/>
            </a:solidFill>
            <a:prstDash val="solid"/>
          </a:ln>
          <a:effectLst>
            <a:outerShdw blurRad="76200" dist="25400" dir="8100000" algn="bl" rotWithShape="0">
              <a:srgbClr val="000000">
                <a:alpha val="8000"/>
              </a:srgbClr>
            </a:outerShdw>
          </a:effectLst>
        </p:spPr>
      </p:sp>
      <p:sp>
        <p:nvSpPr>
          <p:cNvPr id="13" name="Shape 11"/>
          <p:cNvSpPr/>
          <p:nvPr/>
        </p:nvSpPr>
        <p:spPr>
          <a:xfrm>
            <a:off x="2514600" y="2103120"/>
            <a:ext cx="1965960" cy="64008"/>
          </a:xfrm>
          <a:prstGeom prst="rect">
            <a:avLst/>
          </a:prstGeom>
          <a:solidFill>
            <a:srgbClr val="00B4D8"/>
          </a:solidFill>
          <a:ln w="12700">
            <a:solidFill>
              <a:srgbClr val="00B4D8"/>
            </a:solidFill>
            <a:prstDash val="solid"/>
          </a:ln>
        </p:spPr>
      </p:sp>
      <p:sp>
        <p:nvSpPr>
          <p:cNvPr id="14" name="Text 12"/>
          <p:cNvSpPr/>
          <p:nvPr/>
        </p:nvSpPr>
        <p:spPr>
          <a:xfrm>
            <a:off x="2514600" y="2194560"/>
            <a:ext cx="1965960" cy="45720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15" name="Text 13"/>
          <p:cNvSpPr/>
          <p:nvPr/>
        </p:nvSpPr>
        <p:spPr>
          <a:xfrm>
            <a:off x="2514600" y="2633472"/>
            <a:ext cx="1965960" cy="457200"/>
          </a:xfrm>
          <a:prstGeom prst="rect">
            <a:avLst/>
          </a:prstGeom>
          <a:noFill/>
          <a:ln/>
        </p:spPr>
        <p:txBody>
          <a:bodyPr wrap="square" lIns="0" tIns="0" rIns="0" bIns="0" rtlCol="0" anchor="ctr"/>
          <a:lstStyle/>
          <a:p>
            <a:pPr marL="0" indent="0" algn="ctr">
              <a:buNone/>
            </a:pPr>
            <a:r>
              <a:rPr lang="en-US" sz="2200" b="1" dirty="0">
                <a:solidFill>
                  <a:srgbClr val="0D1B2A"/>
                </a:solidFill>
              </a:rPr>
              <a:t>614</a:t>
            </a:r>
            <a:endParaRPr lang="en-US" sz="2200" dirty="0"/>
          </a:p>
        </p:txBody>
      </p:sp>
      <p:sp>
        <p:nvSpPr>
          <p:cNvPr id="16" name="Text 14"/>
          <p:cNvSpPr/>
          <p:nvPr/>
        </p:nvSpPr>
        <p:spPr>
          <a:xfrm>
            <a:off x="2514600" y="3063240"/>
            <a:ext cx="1965960" cy="347472"/>
          </a:xfrm>
          <a:prstGeom prst="rect">
            <a:avLst/>
          </a:prstGeom>
          <a:noFill/>
          <a:ln/>
        </p:spPr>
        <p:txBody>
          <a:bodyPr wrap="square" lIns="0" tIns="0" rIns="0" bIns="0" rtlCol="0" anchor="ctr"/>
          <a:lstStyle/>
          <a:p>
            <a:pPr marL="0" indent="0" algn="ctr">
              <a:buNone/>
            </a:pPr>
            <a:r>
              <a:rPr lang="en-US" sz="1000" dirty="0">
                <a:solidFill>
                  <a:srgbClr val="8FA3B1"/>
                </a:solidFill>
              </a:rPr>
              <a:t>Routes</a:t>
            </a:r>
            <a:endParaRPr lang="en-US" sz="1000" dirty="0"/>
          </a:p>
        </p:txBody>
      </p:sp>
      <p:sp>
        <p:nvSpPr>
          <p:cNvPr id="17" name="Shape 15"/>
          <p:cNvSpPr/>
          <p:nvPr/>
        </p:nvSpPr>
        <p:spPr>
          <a:xfrm>
            <a:off x="4663440" y="2103120"/>
            <a:ext cx="1965960" cy="1417320"/>
          </a:xfrm>
          <a:prstGeom prst="rect">
            <a:avLst/>
          </a:prstGeom>
          <a:solidFill>
            <a:srgbClr val="FFFFFF"/>
          </a:solidFill>
          <a:ln w="12700">
            <a:solidFill>
              <a:srgbClr val="D0DCE8"/>
            </a:solidFill>
            <a:prstDash val="solid"/>
          </a:ln>
          <a:effectLst>
            <a:outerShdw blurRad="76200" dist="25400" dir="8100000" algn="bl" rotWithShape="0">
              <a:srgbClr val="000000">
                <a:alpha val="8000"/>
              </a:srgbClr>
            </a:outerShdw>
          </a:effectLst>
        </p:spPr>
      </p:sp>
      <p:sp>
        <p:nvSpPr>
          <p:cNvPr id="18" name="Shape 16"/>
          <p:cNvSpPr/>
          <p:nvPr/>
        </p:nvSpPr>
        <p:spPr>
          <a:xfrm>
            <a:off x="4663440" y="2103120"/>
            <a:ext cx="1965960" cy="64008"/>
          </a:xfrm>
          <a:prstGeom prst="rect">
            <a:avLst/>
          </a:prstGeom>
          <a:solidFill>
            <a:srgbClr val="00B4D8"/>
          </a:solidFill>
          <a:ln w="12700">
            <a:solidFill>
              <a:srgbClr val="00B4D8"/>
            </a:solidFill>
            <a:prstDash val="solid"/>
          </a:ln>
        </p:spPr>
      </p:sp>
      <p:sp>
        <p:nvSpPr>
          <p:cNvPr id="19" name="Text 17"/>
          <p:cNvSpPr/>
          <p:nvPr/>
        </p:nvSpPr>
        <p:spPr>
          <a:xfrm>
            <a:off x="4663440" y="2194560"/>
            <a:ext cx="1965960" cy="45720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20" name="Text 18"/>
          <p:cNvSpPr/>
          <p:nvPr/>
        </p:nvSpPr>
        <p:spPr>
          <a:xfrm>
            <a:off x="4663440" y="2633472"/>
            <a:ext cx="1965960" cy="457200"/>
          </a:xfrm>
          <a:prstGeom prst="rect">
            <a:avLst/>
          </a:prstGeom>
          <a:noFill/>
          <a:ln/>
        </p:spPr>
        <p:txBody>
          <a:bodyPr wrap="square" lIns="0" tIns="0" rIns="0" bIns="0" rtlCol="0" anchor="ctr"/>
          <a:lstStyle/>
          <a:p>
            <a:pPr marL="0" indent="0" algn="ctr">
              <a:buNone/>
            </a:pPr>
            <a:r>
              <a:rPr lang="en-US" sz="2200" b="1" dirty="0">
                <a:solidFill>
                  <a:srgbClr val="0D1B2A"/>
                </a:solidFill>
              </a:rPr>
              <a:t>2.78M</a:t>
            </a:r>
            <a:endParaRPr lang="en-US" sz="2200" dirty="0"/>
          </a:p>
        </p:txBody>
      </p:sp>
      <p:sp>
        <p:nvSpPr>
          <p:cNvPr id="21" name="Text 19"/>
          <p:cNvSpPr/>
          <p:nvPr/>
        </p:nvSpPr>
        <p:spPr>
          <a:xfrm>
            <a:off x="4663440" y="3063240"/>
            <a:ext cx="1965960" cy="347472"/>
          </a:xfrm>
          <a:prstGeom prst="rect">
            <a:avLst/>
          </a:prstGeom>
          <a:noFill/>
          <a:ln/>
        </p:spPr>
        <p:txBody>
          <a:bodyPr wrap="square" lIns="0" tIns="0" rIns="0" bIns="0" rtlCol="0" anchor="ctr"/>
          <a:lstStyle/>
          <a:p>
            <a:pPr marL="0" indent="0" algn="ctr">
              <a:buNone/>
            </a:pPr>
            <a:r>
              <a:rPr lang="en-US" sz="1000" dirty="0">
                <a:solidFill>
                  <a:srgbClr val="8FA3B1"/>
                </a:solidFill>
              </a:rPr>
              <a:t>Scheduled Departures</a:t>
            </a:r>
            <a:endParaRPr lang="en-US" sz="1000" dirty="0"/>
          </a:p>
        </p:txBody>
      </p:sp>
      <p:sp>
        <p:nvSpPr>
          <p:cNvPr id="22" name="Shape 20"/>
          <p:cNvSpPr/>
          <p:nvPr/>
        </p:nvSpPr>
        <p:spPr>
          <a:xfrm>
            <a:off x="6812280" y="2103120"/>
            <a:ext cx="1965960" cy="1417320"/>
          </a:xfrm>
          <a:prstGeom prst="rect">
            <a:avLst/>
          </a:prstGeom>
          <a:solidFill>
            <a:srgbClr val="FFFFFF"/>
          </a:solidFill>
          <a:ln w="12700">
            <a:solidFill>
              <a:srgbClr val="D0DCE8"/>
            </a:solidFill>
            <a:prstDash val="solid"/>
          </a:ln>
          <a:effectLst>
            <a:outerShdw blurRad="76200" dist="25400" dir="8100000" algn="bl" rotWithShape="0">
              <a:srgbClr val="000000">
                <a:alpha val="8000"/>
              </a:srgbClr>
            </a:outerShdw>
          </a:effectLst>
        </p:spPr>
      </p:sp>
      <p:sp>
        <p:nvSpPr>
          <p:cNvPr id="23" name="Shape 21"/>
          <p:cNvSpPr/>
          <p:nvPr/>
        </p:nvSpPr>
        <p:spPr>
          <a:xfrm>
            <a:off x="6812280" y="2103120"/>
            <a:ext cx="1965960" cy="64008"/>
          </a:xfrm>
          <a:prstGeom prst="rect">
            <a:avLst/>
          </a:prstGeom>
          <a:solidFill>
            <a:srgbClr val="00B4D8"/>
          </a:solidFill>
          <a:ln w="12700">
            <a:solidFill>
              <a:srgbClr val="00B4D8"/>
            </a:solidFill>
            <a:prstDash val="solid"/>
          </a:ln>
        </p:spPr>
      </p:sp>
      <p:sp>
        <p:nvSpPr>
          <p:cNvPr id="24" name="Text 22"/>
          <p:cNvSpPr/>
          <p:nvPr/>
        </p:nvSpPr>
        <p:spPr>
          <a:xfrm>
            <a:off x="6812280" y="2194560"/>
            <a:ext cx="1965960" cy="45720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25" name="Text 23"/>
          <p:cNvSpPr/>
          <p:nvPr/>
        </p:nvSpPr>
        <p:spPr>
          <a:xfrm>
            <a:off x="6812280" y="2633472"/>
            <a:ext cx="1965960" cy="457200"/>
          </a:xfrm>
          <a:prstGeom prst="rect">
            <a:avLst/>
          </a:prstGeom>
          <a:noFill/>
          <a:ln/>
        </p:spPr>
        <p:txBody>
          <a:bodyPr wrap="square" lIns="0" tIns="0" rIns="0" bIns="0" rtlCol="0" anchor="ctr"/>
          <a:lstStyle/>
          <a:p>
            <a:pPr marL="0" indent="0" algn="ctr">
              <a:buNone/>
            </a:pPr>
            <a:r>
              <a:rPr lang="en-US" sz="2200" b="1" dirty="0">
                <a:solidFill>
                  <a:srgbClr val="0D1B2A"/>
                </a:solidFill>
              </a:rPr>
              <a:t>5</a:t>
            </a:r>
            <a:endParaRPr lang="en-US" sz="2200" dirty="0"/>
          </a:p>
        </p:txBody>
      </p:sp>
      <p:sp>
        <p:nvSpPr>
          <p:cNvPr id="26" name="Text 24"/>
          <p:cNvSpPr/>
          <p:nvPr/>
        </p:nvSpPr>
        <p:spPr>
          <a:xfrm>
            <a:off x="6812280" y="3063240"/>
            <a:ext cx="1965960" cy="347472"/>
          </a:xfrm>
          <a:prstGeom prst="rect">
            <a:avLst/>
          </a:prstGeom>
          <a:noFill/>
          <a:ln/>
        </p:spPr>
        <p:txBody>
          <a:bodyPr wrap="square" lIns="0" tIns="0" rIns="0" bIns="0" rtlCol="0" anchor="ctr"/>
          <a:lstStyle/>
          <a:p>
            <a:pPr marL="0" indent="0" algn="ctr">
              <a:buNone/>
            </a:pPr>
            <a:r>
              <a:rPr lang="en-US" sz="1000" dirty="0">
                <a:solidFill>
                  <a:srgbClr val="8FA3B1"/>
                </a:solidFill>
              </a:rPr>
              <a:t>Transport Modes</a:t>
            </a:r>
            <a:endParaRPr lang="en-US" sz="1000" dirty="0"/>
          </a:p>
        </p:txBody>
      </p:sp>
      <p:sp>
        <p:nvSpPr>
          <p:cNvPr id="27" name="Shape 25"/>
          <p:cNvSpPr/>
          <p:nvPr/>
        </p:nvSpPr>
        <p:spPr>
          <a:xfrm>
            <a:off x="365760" y="3749040"/>
            <a:ext cx="8412480" cy="502920"/>
          </a:xfrm>
          <a:prstGeom prst="rect">
            <a:avLst/>
          </a:prstGeom>
          <a:solidFill>
            <a:srgbClr val="E8F4FD"/>
          </a:solidFill>
          <a:ln w="12700">
            <a:solidFill>
              <a:srgbClr val="90E0EF"/>
            </a:solidFill>
            <a:prstDash val="solid"/>
          </a:ln>
        </p:spPr>
      </p:sp>
      <p:sp>
        <p:nvSpPr>
          <p:cNvPr id="28" name="Text 26"/>
          <p:cNvSpPr/>
          <p:nvPr/>
        </p:nvSpPr>
        <p:spPr>
          <a:xfrm>
            <a:off x="457200" y="3749040"/>
            <a:ext cx="8229600" cy="502920"/>
          </a:xfrm>
          <a:prstGeom prst="rect">
            <a:avLst/>
          </a:prstGeom>
          <a:noFill/>
          <a:ln/>
        </p:spPr>
        <p:txBody>
          <a:bodyPr wrap="square" lIns="0" tIns="0" rIns="0" bIns="0" rtlCol="0" anchor="ctr"/>
          <a:lstStyle/>
          <a:p>
            <a:pPr marL="0" indent="0">
              <a:buNone/>
            </a:pPr>
            <a:r>
              <a:rPr lang="en-US" sz="1100" dirty="0">
                <a:solidFill>
                  <a:srgbClr val="4A6278"/>
                </a:solidFill>
              </a:rPr>
              <a:t>Data Source: Trafiklab (GTFS Regional Static API) — Sweden's official public transport open data platform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D8E2DA4-C9D1-DA74-E552-BAEB0FDED77C}"/>
              </a:ext>
            </a:extLst>
          </p:cNvPr>
          <p:cNvPicPr>
            <a:picLocks noChangeAspect="1"/>
          </p:cNvPicPr>
          <p:nvPr/>
        </p:nvPicPr>
        <p:blipFill>
          <a:blip r:embed="rId2"/>
          <a:stretch>
            <a:fillRect/>
          </a:stretch>
        </p:blipFill>
        <p:spPr>
          <a:xfrm>
            <a:off x="274320" y="876243"/>
            <a:ext cx="8461020" cy="4012350"/>
          </a:xfrm>
          <a:prstGeom prst="rect">
            <a:avLst/>
          </a:prstGeom>
        </p:spPr>
      </p:pic>
      <p:grpSp>
        <p:nvGrpSpPr>
          <p:cNvPr id="9" name="Group 8">
            <a:extLst>
              <a:ext uri="{FF2B5EF4-FFF2-40B4-BE49-F238E27FC236}">
                <a16:creationId xmlns:a16="http://schemas.microsoft.com/office/drawing/2014/main" id="{E9831857-4527-D5D0-000B-41EDDCDAC412}"/>
              </a:ext>
            </a:extLst>
          </p:cNvPr>
          <p:cNvGrpSpPr/>
          <p:nvPr/>
        </p:nvGrpSpPr>
        <p:grpSpPr>
          <a:xfrm>
            <a:off x="750424" y="704462"/>
            <a:ext cx="4077993" cy="4016737"/>
            <a:chOff x="750424" y="704462"/>
            <a:chExt cx="4077993" cy="4016737"/>
          </a:xfrm>
        </p:grpSpPr>
        <mc:AlternateContent xmlns:mc="http://schemas.openxmlformats.org/markup-compatibility/2006">
          <mc:Choice xmlns:p14="http://schemas.microsoft.com/office/powerpoint/2010/main" Requires="p14">
            <p:contentPart p14:bwMode="auto" r:id="rId3">
              <p14:nvContentPartPr>
                <p14:cNvPr id="5" name="Ink 4">
                  <a:extLst>
                    <a:ext uri="{FF2B5EF4-FFF2-40B4-BE49-F238E27FC236}">
                      <a16:creationId xmlns:a16="http://schemas.microsoft.com/office/drawing/2014/main" id="{89F9EC98-D4F2-4B78-3EE9-1FFA0CFE3CAD}"/>
                    </a:ext>
                  </a:extLst>
                </p14:cNvPr>
                <p14:cNvContentPartPr/>
                <p14:nvPr/>
              </p14:nvContentPartPr>
              <p14:xfrm>
                <a:off x="2404301" y="704462"/>
                <a:ext cx="670320" cy="645480"/>
              </p14:xfrm>
            </p:contentPart>
          </mc:Choice>
          <mc:Fallback>
            <p:pic>
              <p:nvPicPr>
                <p:cNvPr id="5" name="Ink 4">
                  <a:extLst>
                    <a:ext uri="{FF2B5EF4-FFF2-40B4-BE49-F238E27FC236}">
                      <a16:creationId xmlns:a16="http://schemas.microsoft.com/office/drawing/2014/main" id="{89F9EC98-D4F2-4B78-3EE9-1FFA0CFE3CAD}"/>
                    </a:ext>
                  </a:extLst>
                </p:cNvPr>
                <p:cNvPicPr/>
                <p:nvPr/>
              </p:nvPicPr>
              <p:blipFill>
                <a:blip r:embed="rId4"/>
                <a:stretch>
                  <a:fillRect/>
                </a:stretch>
              </p:blipFill>
              <p:spPr>
                <a:xfrm>
                  <a:off x="2398181" y="698339"/>
                  <a:ext cx="682560" cy="657727"/>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6" name="Ink 5">
                  <a:extLst>
                    <a:ext uri="{FF2B5EF4-FFF2-40B4-BE49-F238E27FC236}">
                      <a16:creationId xmlns:a16="http://schemas.microsoft.com/office/drawing/2014/main" id="{E643170A-C3B8-92B4-1E22-58CF0BC1911F}"/>
                    </a:ext>
                  </a:extLst>
                </p14:cNvPr>
                <p14:cNvContentPartPr/>
                <p14:nvPr/>
              </p14:nvContentPartPr>
              <p14:xfrm>
                <a:off x="750424" y="1892790"/>
                <a:ext cx="1272600" cy="678960"/>
              </p14:xfrm>
            </p:contentPart>
          </mc:Choice>
          <mc:Fallback>
            <p:pic>
              <p:nvPicPr>
                <p:cNvPr id="6" name="Ink 5">
                  <a:extLst>
                    <a:ext uri="{FF2B5EF4-FFF2-40B4-BE49-F238E27FC236}">
                      <a16:creationId xmlns:a16="http://schemas.microsoft.com/office/drawing/2014/main" id="{E643170A-C3B8-92B4-1E22-58CF0BC1911F}"/>
                    </a:ext>
                  </a:extLst>
                </p:cNvPr>
                <p:cNvPicPr/>
                <p:nvPr/>
              </p:nvPicPr>
              <p:blipFill>
                <a:blip r:embed="rId6"/>
                <a:stretch>
                  <a:fillRect/>
                </a:stretch>
              </p:blipFill>
              <p:spPr>
                <a:xfrm>
                  <a:off x="744306" y="1886670"/>
                  <a:ext cx="1284837" cy="69120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8" name="Ink 7">
                  <a:extLst>
                    <a:ext uri="{FF2B5EF4-FFF2-40B4-BE49-F238E27FC236}">
                      <a16:creationId xmlns:a16="http://schemas.microsoft.com/office/drawing/2014/main" id="{B627A5ED-1539-DA41-E685-766EC59A73AA}"/>
                    </a:ext>
                  </a:extLst>
                </p14:cNvPr>
                <p14:cNvContentPartPr/>
                <p14:nvPr/>
              </p14:nvContentPartPr>
              <p14:xfrm>
                <a:off x="4441057" y="4715079"/>
                <a:ext cx="387360" cy="6120"/>
              </p14:xfrm>
            </p:contentPart>
          </mc:Choice>
          <mc:Fallback>
            <p:pic>
              <p:nvPicPr>
                <p:cNvPr id="8" name="Ink 7">
                  <a:extLst>
                    <a:ext uri="{FF2B5EF4-FFF2-40B4-BE49-F238E27FC236}">
                      <a16:creationId xmlns:a16="http://schemas.microsoft.com/office/drawing/2014/main" id="{B627A5ED-1539-DA41-E685-766EC59A73AA}"/>
                    </a:ext>
                  </a:extLst>
                </p:cNvPr>
                <p:cNvPicPr/>
                <p:nvPr/>
              </p:nvPicPr>
              <p:blipFill>
                <a:blip r:embed="rId8"/>
                <a:stretch>
                  <a:fillRect/>
                </a:stretch>
              </p:blipFill>
              <p:spPr>
                <a:xfrm>
                  <a:off x="4434937" y="4709299"/>
                  <a:ext cx="399600" cy="17680"/>
                </a:xfrm>
                <a:prstGeom prst="rect">
                  <a:avLst/>
                </a:prstGeom>
              </p:spPr>
            </p:pic>
          </mc:Fallback>
        </mc:AlternateContent>
      </p:grpSp>
      <p:sp>
        <p:nvSpPr>
          <p:cNvPr id="2" name="Text 0">
            <a:extLst>
              <a:ext uri="{FF2B5EF4-FFF2-40B4-BE49-F238E27FC236}">
                <a16:creationId xmlns:a16="http://schemas.microsoft.com/office/drawing/2014/main" id="{93B97D24-46B8-FA54-6AC7-FB9FDA85AA32}"/>
              </a:ext>
            </a:extLst>
          </p:cNvPr>
          <p:cNvSpPr/>
          <p:nvPr/>
        </p:nvSpPr>
        <p:spPr>
          <a:xfrm>
            <a:off x="2739461" y="285946"/>
            <a:ext cx="2983608" cy="342900"/>
          </a:xfrm>
          <a:prstGeom prst="rect">
            <a:avLst/>
          </a:prstGeom>
          <a:noFill/>
          <a:ln/>
        </p:spPr>
        <p:txBody>
          <a:bodyPr wrap="square" rtlCol="0" anchor="ctr"/>
          <a:lstStyle/>
          <a:p>
            <a:pPr algn="ctr"/>
            <a:r>
              <a:rPr lang="en-US" b="1" dirty="0">
                <a:solidFill>
                  <a:srgbClr val="0E7490"/>
                </a:solidFill>
              </a:rPr>
              <a:t>TRAFIKLAB API – Data Source</a:t>
            </a:r>
            <a:endParaRPr lang="en-US" dirty="0"/>
          </a:p>
        </p:txBody>
      </p:sp>
    </p:spTree>
    <p:extLst>
      <p:ext uri="{BB962C8B-B14F-4D97-AF65-F5344CB8AC3E}">
        <p14:creationId xmlns:p14="http://schemas.microsoft.com/office/powerpoint/2010/main" val="337621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D996CB-EA92-9FB4-FE62-9C8063E7841A}"/>
              </a:ext>
            </a:extLst>
          </p:cNvPr>
          <p:cNvPicPr>
            <a:picLocks noChangeAspect="1"/>
          </p:cNvPicPr>
          <p:nvPr/>
        </p:nvPicPr>
        <p:blipFill>
          <a:blip r:embed="rId2"/>
          <a:stretch>
            <a:fillRect/>
          </a:stretch>
        </p:blipFill>
        <p:spPr>
          <a:xfrm>
            <a:off x="430150" y="581341"/>
            <a:ext cx="8132509" cy="3356750"/>
          </a:xfrm>
          <a:prstGeom prst="rect">
            <a:avLst/>
          </a:prstGeom>
        </p:spPr>
      </p:pic>
      <p:grpSp>
        <p:nvGrpSpPr>
          <p:cNvPr id="10" name="Group 9">
            <a:extLst>
              <a:ext uri="{FF2B5EF4-FFF2-40B4-BE49-F238E27FC236}">
                <a16:creationId xmlns:a16="http://schemas.microsoft.com/office/drawing/2014/main" id="{7D274E9A-A13B-386F-7585-28A407F07E20}"/>
              </a:ext>
            </a:extLst>
          </p:cNvPr>
          <p:cNvGrpSpPr/>
          <p:nvPr/>
        </p:nvGrpSpPr>
        <p:grpSpPr>
          <a:xfrm>
            <a:off x="2948944" y="3149063"/>
            <a:ext cx="2843640" cy="139320"/>
            <a:chOff x="2948944" y="3149063"/>
            <a:chExt cx="2843640" cy="139320"/>
          </a:xfrm>
        </p:grpSpPr>
        <mc:AlternateContent xmlns:mc="http://schemas.openxmlformats.org/markup-compatibility/2006">
          <mc:Choice xmlns:p14="http://schemas.microsoft.com/office/powerpoint/2010/main" Requires="p14">
            <p:contentPart p14:bwMode="auto" r:id="rId3">
              <p14:nvContentPartPr>
                <p14:cNvPr id="8" name="Ink 7">
                  <a:extLst>
                    <a:ext uri="{FF2B5EF4-FFF2-40B4-BE49-F238E27FC236}">
                      <a16:creationId xmlns:a16="http://schemas.microsoft.com/office/drawing/2014/main" id="{8285C6F0-B015-D516-E5F6-4D9D8F1AFDE8}"/>
                    </a:ext>
                  </a:extLst>
                </p14:cNvPr>
                <p14:cNvContentPartPr/>
                <p14:nvPr/>
              </p14:nvContentPartPr>
              <p14:xfrm>
                <a:off x="4305424" y="3149063"/>
                <a:ext cx="1487160" cy="25200"/>
              </p14:xfrm>
            </p:contentPart>
          </mc:Choice>
          <mc:Fallback>
            <p:pic>
              <p:nvPicPr>
                <p:cNvPr id="8" name="Ink 7">
                  <a:extLst>
                    <a:ext uri="{FF2B5EF4-FFF2-40B4-BE49-F238E27FC236}">
                      <a16:creationId xmlns:a16="http://schemas.microsoft.com/office/drawing/2014/main" id="{8285C6F0-B015-D516-E5F6-4D9D8F1AFDE8}"/>
                    </a:ext>
                  </a:extLst>
                </p:cNvPr>
                <p:cNvPicPr/>
                <p:nvPr/>
              </p:nvPicPr>
              <p:blipFill>
                <a:blip r:embed="rId4"/>
                <a:stretch>
                  <a:fillRect/>
                </a:stretch>
              </p:blipFill>
              <p:spPr>
                <a:xfrm>
                  <a:off x="4296424" y="3140063"/>
                  <a:ext cx="1504800" cy="4284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9" name="Ink 8">
                  <a:extLst>
                    <a:ext uri="{FF2B5EF4-FFF2-40B4-BE49-F238E27FC236}">
                      <a16:creationId xmlns:a16="http://schemas.microsoft.com/office/drawing/2014/main" id="{9BCDAC16-D3F8-B2DE-9964-90A54BB55F03}"/>
                    </a:ext>
                  </a:extLst>
                </p14:cNvPr>
                <p14:cNvContentPartPr/>
                <p14:nvPr/>
              </p14:nvContentPartPr>
              <p14:xfrm>
                <a:off x="2948944" y="3257063"/>
                <a:ext cx="738360" cy="31320"/>
              </p14:xfrm>
            </p:contentPart>
          </mc:Choice>
          <mc:Fallback>
            <p:pic>
              <p:nvPicPr>
                <p:cNvPr id="9" name="Ink 8">
                  <a:extLst>
                    <a:ext uri="{FF2B5EF4-FFF2-40B4-BE49-F238E27FC236}">
                      <a16:creationId xmlns:a16="http://schemas.microsoft.com/office/drawing/2014/main" id="{9BCDAC16-D3F8-B2DE-9964-90A54BB55F03}"/>
                    </a:ext>
                  </a:extLst>
                </p:cNvPr>
                <p:cNvPicPr/>
                <p:nvPr/>
              </p:nvPicPr>
              <p:blipFill>
                <a:blip r:embed="rId6"/>
                <a:stretch>
                  <a:fillRect/>
                </a:stretch>
              </p:blipFill>
              <p:spPr>
                <a:xfrm>
                  <a:off x="2939944" y="3248423"/>
                  <a:ext cx="756000" cy="48960"/>
                </a:xfrm>
                <a:prstGeom prst="rect">
                  <a:avLst/>
                </a:prstGeom>
              </p:spPr>
            </p:pic>
          </mc:Fallback>
        </mc:AlternateContent>
      </p:grpSp>
    </p:spTree>
    <p:extLst>
      <p:ext uri="{BB962C8B-B14F-4D97-AF65-F5344CB8AC3E}">
        <p14:creationId xmlns:p14="http://schemas.microsoft.com/office/powerpoint/2010/main" val="20023093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7FC532B-22A3-8B75-EF74-429A8181CDC7}"/>
              </a:ext>
            </a:extLst>
          </p:cNvPr>
          <p:cNvGrpSpPr/>
          <p:nvPr/>
        </p:nvGrpSpPr>
        <p:grpSpPr>
          <a:xfrm>
            <a:off x="698491" y="255526"/>
            <a:ext cx="3924631" cy="4760157"/>
            <a:chOff x="199543" y="157946"/>
            <a:chExt cx="3924631" cy="4760157"/>
          </a:xfrm>
        </p:grpSpPr>
        <p:pic>
          <p:nvPicPr>
            <p:cNvPr id="3" name="Picture 2">
              <a:extLst>
                <a:ext uri="{FF2B5EF4-FFF2-40B4-BE49-F238E27FC236}">
                  <a16:creationId xmlns:a16="http://schemas.microsoft.com/office/drawing/2014/main" id="{3C8CABDC-28B4-16EB-58A6-8C76377A1869}"/>
                </a:ext>
              </a:extLst>
            </p:cNvPr>
            <p:cNvPicPr>
              <a:picLocks noChangeAspect="1"/>
            </p:cNvPicPr>
            <p:nvPr/>
          </p:nvPicPr>
          <p:blipFill>
            <a:blip r:embed="rId2"/>
            <a:srcRect l="1389" t="7697" r="-1389" b="310"/>
            <a:stretch>
              <a:fillRect/>
            </a:stretch>
          </p:blipFill>
          <p:spPr>
            <a:xfrm>
              <a:off x="199543" y="157946"/>
              <a:ext cx="3924631" cy="4731717"/>
            </a:xfrm>
            <a:prstGeom prst="rect">
              <a:avLst/>
            </a:prstGeom>
          </p:spPr>
        </p:pic>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AD48440D-8DA7-519F-878B-447330057FCF}"/>
                    </a:ext>
                  </a:extLst>
                </p14:cNvPr>
                <p14:cNvContentPartPr/>
                <p14:nvPr/>
              </p14:nvContentPartPr>
              <p14:xfrm>
                <a:off x="1041664" y="2028953"/>
                <a:ext cx="1471320" cy="29520"/>
              </p14:xfrm>
            </p:contentPart>
          </mc:Choice>
          <mc:Fallback xmlns="">
            <p:pic>
              <p:nvPicPr>
                <p:cNvPr id="7" name="Ink 6">
                  <a:extLst>
                    <a:ext uri="{FF2B5EF4-FFF2-40B4-BE49-F238E27FC236}">
                      <a16:creationId xmlns:a16="http://schemas.microsoft.com/office/drawing/2014/main" id="{D13EB8E5-3712-7ADE-AA83-4B8397B92DFF}"/>
                    </a:ext>
                  </a:extLst>
                </p:cNvPr>
                <p:cNvPicPr/>
                <p:nvPr/>
              </p:nvPicPr>
              <p:blipFill>
                <a:blip r:embed="rId4"/>
                <a:stretch>
                  <a:fillRect/>
                </a:stretch>
              </p:blipFill>
              <p:spPr>
                <a:xfrm>
                  <a:off x="1035544" y="2022833"/>
                  <a:ext cx="1483560" cy="417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1D04B48B-C30C-D1E0-7EC3-C992A9E14761}"/>
                    </a:ext>
                  </a:extLst>
                </p14:cNvPr>
                <p14:cNvContentPartPr/>
                <p14:nvPr/>
              </p14:nvContentPartPr>
              <p14:xfrm>
                <a:off x="1017184" y="2233943"/>
                <a:ext cx="1513440" cy="37440"/>
              </p14:xfrm>
            </p:contentPart>
          </mc:Choice>
          <mc:Fallback xmlns="">
            <p:pic>
              <p:nvPicPr>
                <p:cNvPr id="8" name="Ink 7">
                  <a:extLst>
                    <a:ext uri="{FF2B5EF4-FFF2-40B4-BE49-F238E27FC236}">
                      <a16:creationId xmlns:a16="http://schemas.microsoft.com/office/drawing/2014/main" id="{71B6F0C7-36DE-C2DC-E13E-DC2577EDDEA0}"/>
                    </a:ext>
                  </a:extLst>
                </p:cNvPr>
                <p:cNvPicPr/>
                <p:nvPr/>
              </p:nvPicPr>
              <p:blipFill>
                <a:blip r:embed="rId6"/>
                <a:stretch>
                  <a:fillRect/>
                </a:stretch>
              </p:blipFill>
              <p:spPr>
                <a:xfrm>
                  <a:off x="1011064" y="2227823"/>
                  <a:ext cx="152568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6" name="Ink 5">
                  <a:extLst>
                    <a:ext uri="{FF2B5EF4-FFF2-40B4-BE49-F238E27FC236}">
                      <a16:creationId xmlns:a16="http://schemas.microsoft.com/office/drawing/2014/main" id="{31CC1603-2EA1-B355-97B9-5C4ABFBEDC50}"/>
                    </a:ext>
                  </a:extLst>
                </p14:cNvPr>
                <p14:cNvContentPartPr/>
                <p14:nvPr/>
              </p14:nvContentPartPr>
              <p14:xfrm>
                <a:off x="1035184" y="2632032"/>
                <a:ext cx="2827440" cy="74160"/>
              </p14:xfrm>
            </p:contentPart>
          </mc:Choice>
          <mc:Fallback xmlns="">
            <p:pic>
              <p:nvPicPr>
                <p:cNvPr id="9" name="Ink 8">
                  <a:extLst>
                    <a:ext uri="{FF2B5EF4-FFF2-40B4-BE49-F238E27FC236}">
                      <a16:creationId xmlns:a16="http://schemas.microsoft.com/office/drawing/2014/main" id="{3D474080-47DB-4E2C-C6FA-C19F55DEF9E9}"/>
                    </a:ext>
                  </a:extLst>
                </p:cNvPr>
                <p:cNvPicPr/>
                <p:nvPr/>
              </p:nvPicPr>
              <p:blipFill>
                <a:blip r:embed="rId8"/>
                <a:stretch>
                  <a:fillRect/>
                </a:stretch>
              </p:blipFill>
              <p:spPr>
                <a:xfrm>
                  <a:off x="1029064" y="2625912"/>
                  <a:ext cx="2839680" cy="864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7" name="Ink 6">
                  <a:extLst>
                    <a:ext uri="{FF2B5EF4-FFF2-40B4-BE49-F238E27FC236}">
                      <a16:creationId xmlns:a16="http://schemas.microsoft.com/office/drawing/2014/main" id="{34AA942D-54CB-AEB8-1418-24C1E5FB7AFB}"/>
                    </a:ext>
                  </a:extLst>
                </p14:cNvPr>
                <p14:cNvContentPartPr/>
                <p14:nvPr/>
              </p14:nvContentPartPr>
              <p14:xfrm>
                <a:off x="1025503" y="2874023"/>
                <a:ext cx="1737720" cy="31680"/>
              </p14:xfrm>
            </p:contentPart>
          </mc:Choice>
          <mc:Fallback xmlns="">
            <p:pic>
              <p:nvPicPr>
                <p:cNvPr id="10" name="Ink 9">
                  <a:extLst>
                    <a:ext uri="{FF2B5EF4-FFF2-40B4-BE49-F238E27FC236}">
                      <a16:creationId xmlns:a16="http://schemas.microsoft.com/office/drawing/2014/main" id="{80A37299-B3E4-9A74-F2D9-E00AE1749839}"/>
                    </a:ext>
                  </a:extLst>
                </p:cNvPr>
                <p:cNvPicPr/>
                <p:nvPr/>
              </p:nvPicPr>
              <p:blipFill>
                <a:blip r:embed="rId10"/>
                <a:stretch>
                  <a:fillRect/>
                </a:stretch>
              </p:blipFill>
              <p:spPr>
                <a:xfrm>
                  <a:off x="1019383" y="2867903"/>
                  <a:ext cx="1749960" cy="43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8" name="Ink 7">
                  <a:extLst>
                    <a:ext uri="{FF2B5EF4-FFF2-40B4-BE49-F238E27FC236}">
                      <a16:creationId xmlns:a16="http://schemas.microsoft.com/office/drawing/2014/main" id="{61949F61-6AF4-B70C-094B-C9399C578686}"/>
                    </a:ext>
                  </a:extLst>
                </p14:cNvPr>
                <p14:cNvContentPartPr/>
                <p14:nvPr/>
              </p14:nvContentPartPr>
              <p14:xfrm>
                <a:off x="1047424" y="4715783"/>
                <a:ext cx="2004840" cy="19080"/>
              </p14:xfrm>
            </p:contentPart>
          </mc:Choice>
          <mc:Fallback xmlns="">
            <p:pic>
              <p:nvPicPr>
                <p:cNvPr id="11" name="Ink 10">
                  <a:extLst>
                    <a:ext uri="{FF2B5EF4-FFF2-40B4-BE49-F238E27FC236}">
                      <a16:creationId xmlns:a16="http://schemas.microsoft.com/office/drawing/2014/main" id="{30123FB9-3412-B9A8-F408-192AD03C2B8C}"/>
                    </a:ext>
                  </a:extLst>
                </p:cNvPr>
                <p:cNvPicPr/>
                <p:nvPr/>
              </p:nvPicPr>
              <p:blipFill>
                <a:blip r:embed="rId12"/>
                <a:stretch>
                  <a:fillRect/>
                </a:stretch>
              </p:blipFill>
              <p:spPr>
                <a:xfrm>
                  <a:off x="1041304" y="4709663"/>
                  <a:ext cx="20170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9" name="Ink 8">
                  <a:extLst>
                    <a:ext uri="{FF2B5EF4-FFF2-40B4-BE49-F238E27FC236}">
                      <a16:creationId xmlns:a16="http://schemas.microsoft.com/office/drawing/2014/main" id="{DB4B83B3-98AB-E94A-508B-F2624E8E4932}"/>
                    </a:ext>
                  </a:extLst>
                </p14:cNvPr>
                <p14:cNvContentPartPr/>
                <p14:nvPr/>
              </p14:nvContentPartPr>
              <p14:xfrm>
                <a:off x="1035184" y="4861223"/>
                <a:ext cx="2440080" cy="56880"/>
              </p14:xfrm>
            </p:contentPart>
          </mc:Choice>
          <mc:Fallback xmlns="">
            <p:pic>
              <p:nvPicPr>
                <p:cNvPr id="12" name="Ink 11">
                  <a:extLst>
                    <a:ext uri="{FF2B5EF4-FFF2-40B4-BE49-F238E27FC236}">
                      <a16:creationId xmlns:a16="http://schemas.microsoft.com/office/drawing/2014/main" id="{4717DF6E-432C-9450-8055-7D9F4D7B1748}"/>
                    </a:ext>
                  </a:extLst>
                </p:cNvPr>
                <p:cNvPicPr/>
                <p:nvPr/>
              </p:nvPicPr>
              <p:blipFill>
                <a:blip r:embed="rId14"/>
                <a:stretch>
                  <a:fillRect/>
                </a:stretch>
              </p:blipFill>
              <p:spPr>
                <a:xfrm>
                  <a:off x="1029064" y="4855103"/>
                  <a:ext cx="2452320" cy="69120"/>
                </a:xfrm>
                <a:prstGeom prst="rect">
                  <a:avLst/>
                </a:prstGeom>
              </p:spPr>
            </p:pic>
          </mc:Fallback>
        </mc:AlternateContent>
        <p:sp>
          <p:nvSpPr>
            <p:cNvPr id="10" name="Rectangle 9">
              <a:extLst>
                <a:ext uri="{FF2B5EF4-FFF2-40B4-BE49-F238E27FC236}">
                  <a16:creationId xmlns:a16="http://schemas.microsoft.com/office/drawing/2014/main" id="{1A0A6B0F-ECAD-C77C-6187-427EDE73BE4B}"/>
                </a:ext>
              </a:extLst>
            </p:cNvPr>
            <p:cNvSpPr/>
            <p:nvPr/>
          </p:nvSpPr>
          <p:spPr>
            <a:xfrm>
              <a:off x="2997535" y="1641074"/>
              <a:ext cx="1047625" cy="52078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No</a:t>
              </a:r>
              <a:r>
                <a:rPr lang="en-US" dirty="0"/>
                <a:t> </a:t>
              </a:r>
              <a:r>
                <a:rPr lang="en-US" sz="800" dirty="0"/>
                <a:t>credentials has been exposed</a:t>
              </a:r>
              <a:endParaRPr lang="en-IN" sz="800" dirty="0"/>
            </a:p>
          </p:txBody>
        </p:sp>
        <p:sp>
          <p:nvSpPr>
            <p:cNvPr id="11" name="Rectangle 10">
              <a:extLst>
                <a:ext uri="{FF2B5EF4-FFF2-40B4-BE49-F238E27FC236}">
                  <a16:creationId xmlns:a16="http://schemas.microsoft.com/office/drawing/2014/main" id="{387AF621-B702-75BF-17E7-CDF837590BF9}"/>
                </a:ext>
              </a:extLst>
            </p:cNvPr>
            <p:cNvSpPr/>
            <p:nvPr/>
          </p:nvSpPr>
          <p:spPr>
            <a:xfrm>
              <a:off x="2997536" y="2815868"/>
              <a:ext cx="926512" cy="3604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Data comes from </a:t>
              </a:r>
              <a:r>
                <a:rPr lang="en-US" sz="800" dirty="0" err="1"/>
                <a:t>Trfiklab</a:t>
              </a:r>
              <a:endParaRPr lang="en-IN" sz="800" dirty="0"/>
            </a:p>
          </p:txBody>
        </p:sp>
        <p:sp>
          <p:nvSpPr>
            <p:cNvPr id="12" name="Rectangle 11">
              <a:extLst>
                <a:ext uri="{FF2B5EF4-FFF2-40B4-BE49-F238E27FC236}">
                  <a16:creationId xmlns:a16="http://schemas.microsoft.com/office/drawing/2014/main" id="{488011C1-E8F2-7D2E-694A-F2ED87B9D177}"/>
                </a:ext>
              </a:extLst>
            </p:cNvPr>
            <p:cNvSpPr/>
            <p:nvPr/>
          </p:nvSpPr>
          <p:spPr>
            <a:xfrm>
              <a:off x="3118649" y="4341886"/>
              <a:ext cx="926512" cy="4472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Data going to ADLS bronze</a:t>
              </a:r>
              <a:endParaRPr lang="en-IN" sz="800" dirty="0"/>
            </a:p>
          </p:txBody>
        </p:sp>
      </p:grpSp>
      <p:sp>
        <p:nvSpPr>
          <p:cNvPr id="13" name="Text 0">
            <a:extLst>
              <a:ext uri="{FF2B5EF4-FFF2-40B4-BE49-F238E27FC236}">
                <a16:creationId xmlns:a16="http://schemas.microsoft.com/office/drawing/2014/main" id="{38D8FFCF-81D4-788C-60F6-B1ECC07B5953}"/>
              </a:ext>
            </a:extLst>
          </p:cNvPr>
          <p:cNvSpPr/>
          <p:nvPr/>
        </p:nvSpPr>
        <p:spPr>
          <a:xfrm>
            <a:off x="4822723" y="2267486"/>
            <a:ext cx="4247535" cy="342900"/>
          </a:xfrm>
          <a:prstGeom prst="rect">
            <a:avLst/>
          </a:prstGeom>
          <a:noFill/>
          <a:ln/>
        </p:spPr>
        <p:txBody>
          <a:bodyPr wrap="square" rtlCol="0" anchor="ctr"/>
          <a:lstStyle/>
          <a:p>
            <a:pPr algn="ctr"/>
            <a:r>
              <a:rPr lang="en-US" b="1" dirty="0">
                <a:solidFill>
                  <a:srgbClr val="0E7490"/>
                </a:solidFill>
              </a:rPr>
              <a:t>Extract API keys from TRAFIKLAB and connected to ADLS </a:t>
            </a:r>
            <a:endParaRPr lang="en-US" dirty="0"/>
          </a:p>
        </p:txBody>
      </p:sp>
    </p:spTree>
    <p:extLst>
      <p:ext uri="{BB962C8B-B14F-4D97-AF65-F5344CB8AC3E}">
        <p14:creationId xmlns:p14="http://schemas.microsoft.com/office/powerpoint/2010/main" val="3268134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42900" y="411480"/>
            <a:ext cx="102870" cy="891540"/>
          </a:xfrm>
          <a:prstGeom prst="rect">
            <a:avLst/>
          </a:prstGeom>
          <a:solidFill>
            <a:srgbClr val="00BCF2"/>
          </a:solidFill>
          <a:ln w="12700">
            <a:solidFill>
              <a:srgbClr val="00BCF2"/>
            </a:solidFill>
            <a:prstDash val="solid"/>
          </a:ln>
        </p:spPr>
      </p:sp>
      <p:sp>
        <p:nvSpPr>
          <p:cNvPr id="3" name="Text 1"/>
          <p:cNvSpPr/>
          <p:nvPr/>
        </p:nvSpPr>
        <p:spPr>
          <a:xfrm>
            <a:off x="548640" y="411480"/>
            <a:ext cx="5486400" cy="274320"/>
          </a:xfrm>
          <a:prstGeom prst="rect">
            <a:avLst/>
          </a:prstGeom>
          <a:noFill/>
          <a:ln/>
        </p:spPr>
        <p:txBody>
          <a:bodyPr wrap="square" rtlCol="0" anchor="ctr"/>
          <a:lstStyle/>
          <a:p>
            <a:r>
              <a:rPr lang="en-US" sz="1050" b="1" kern="0" spc="600" dirty="0">
                <a:solidFill>
                  <a:srgbClr val="00BCF2"/>
                </a:solidFill>
              </a:rPr>
              <a:t>INTRODUCTION</a:t>
            </a:r>
            <a:endParaRPr lang="en-US" sz="1050" dirty="0"/>
          </a:p>
        </p:txBody>
      </p:sp>
      <p:sp>
        <p:nvSpPr>
          <p:cNvPr id="4" name="Text 2"/>
          <p:cNvSpPr/>
          <p:nvPr/>
        </p:nvSpPr>
        <p:spPr>
          <a:xfrm>
            <a:off x="548640" y="685800"/>
            <a:ext cx="7543800" cy="822960"/>
          </a:xfrm>
          <a:prstGeom prst="rect">
            <a:avLst/>
          </a:prstGeom>
          <a:noFill/>
          <a:ln/>
        </p:spPr>
        <p:txBody>
          <a:bodyPr wrap="square" rtlCol="0" anchor="ctr"/>
          <a:lstStyle/>
          <a:p>
            <a:r>
              <a:rPr lang="en-US" sz="5400" b="1" dirty="0">
                <a:solidFill>
                  <a:schemeClr val="accent5">
                    <a:lumMod val="75000"/>
                  </a:schemeClr>
                </a:solidFill>
                <a:latin typeface="Calibri" pitchFamily="34" charset="0"/>
                <a:ea typeface="Calibri" pitchFamily="34" charset="-122"/>
                <a:cs typeface="Calibri" pitchFamily="34" charset="-120"/>
              </a:rPr>
              <a:t>Microsoft Azure</a:t>
            </a:r>
            <a:endParaRPr lang="en-US" sz="5400" dirty="0">
              <a:solidFill>
                <a:schemeClr val="accent5">
                  <a:lumMod val="75000"/>
                </a:schemeClr>
              </a:solidFill>
            </a:endParaRPr>
          </a:p>
        </p:txBody>
      </p:sp>
      <p:sp>
        <p:nvSpPr>
          <p:cNvPr id="5" name="Text 3"/>
          <p:cNvSpPr/>
          <p:nvPr/>
        </p:nvSpPr>
        <p:spPr>
          <a:xfrm>
            <a:off x="548640" y="1577340"/>
            <a:ext cx="7886700" cy="342900"/>
          </a:xfrm>
          <a:prstGeom prst="rect">
            <a:avLst/>
          </a:prstGeom>
          <a:noFill/>
          <a:ln/>
        </p:spPr>
        <p:txBody>
          <a:bodyPr wrap="square" rtlCol="0" anchor="ctr"/>
          <a:lstStyle/>
          <a:p>
            <a:r>
              <a:rPr lang="en-US" sz="1500" i="1" dirty="0">
                <a:solidFill>
                  <a:schemeClr val="accent5">
                    <a:lumMod val="75000"/>
                  </a:schemeClr>
                </a:solidFill>
              </a:rPr>
              <a:t>Cloud platform powering ingestion, storage and orchestration</a:t>
            </a:r>
            <a:endParaRPr lang="en-US" sz="1500" dirty="0">
              <a:solidFill>
                <a:schemeClr val="accent5">
                  <a:lumMod val="75000"/>
                </a:schemeClr>
              </a:solidFill>
            </a:endParaRPr>
          </a:p>
        </p:txBody>
      </p:sp>
      <p:sp>
        <p:nvSpPr>
          <p:cNvPr id="6" name="Shape 4"/>
          <p:cNvSpPr/>
          <p:nvPr/>
        </p:nvSpPr>
        <p:spPr>
          <a:xfrm>
            <a:off x="548640" y="2023110"/>
            <a:ext cx="1714500" cy="27432"/>
          </a:xfrm>
          <a:prstGeom prst="rect">
            <a:avLst/>
          </a:prstGeom>
          <a:solidFill>
            <a:srgbClr val="00BCF2"/>
          </a:solidFill>
          <a:ln w="12700">
            <a:solidFill>
              <a:srgbClr val="00BCF2"/>
            </a:solidFill>
            <a:prstDash val="solid"/>
          </a:ln>
        </p:spPr>
      </p:sp>
      <p:sp>
        <p:nvSpPr>
          <p:cNvPr id="7" name="Text 5"/>
          <p:cNvSpPr/>
          <p:nvPr/>
        </p:nvSpPr>
        <p:spPr>
          <a:xfrm>
            <a:off x="342900" y="2160270"/>
            <a:ext cx="8359902" cy="960120"/>
          </a:xfrm>
          <a:prstGeom prst="rect">
            <a:avLst/>
          </a:prstGeom>
          <a:noFill/>
          <a:ln/>
        </p:spPr>
        <p:txBody>
          <a:bodyPr wrap="square" rtlCol="0" anchor="t"/>
          <a:lstStyle/>
          <a:p>
            <a:pPr algn="just"/>
            <a:r>
              <a:rPr lang="en-US" sz="1200" dirty="0">
                <a:solidFill>
                  <a:schemeClr val="accent5">
                    <a:lumMod val="75000"/>
                  </a:schemeClr>
                </a:solidFill>
              </a:rPr>
              <a:t>Azure provides the backbone of this pipeline — secure secret management with Key Vault, scalable raw storage with ADLS Gen2, and reliable scheduling with Azure Data Factory. Together these services move Trafiklab data from API to analytics-ready storage every day</a:t>
            </a:r>
            <a:r>
              <a:rPr lang="en-US" sz="1200" dirty="0">
                <a:solidFill>
                  <a:srgbClr val="E2E8F0"/>
                </a:solidFill>
              </a:rPr>
              <a:t>.</a:t>
            </a:r>
            <a:endParaRPr lang="en-US" sz="1200" dirty="0"/>
          </a:p>
        </p:txBody>
      </p:sp>
      <p:sp>
        <p:nvSpPr>
          <p:cNvPr id="8" name="Shape 6"/>
          <p:cNvSpPr/>
          <p:nvPr/>
        </p:nvSpPr>
        <p:spPr>
          <a:xfrm>
            <a:off x="438912" y="3360420"/>
            <a:ext cx="2640330" cy="1371600"/>
          </a:xfrm>
          <a:prstGeom prst="roundRect">
            <a:avLst>
              <a:gd name="adj" fmla="val 5000"/>
            </a:avLst>
          </a:prstGeom>
          <a:solidFill>
            <a:srgbClr val="1E293B"/>
          </a:solidFill>
          <a:ln w="12700">
            <a:solidFill>
              <a:srgbClr val="00BCF2"/>
            </a:solidFill>
            <a:prstDash val="solid"/>
          </a:ln>
        </p:spPr>
      </p:sp>
      <p:sp>
        <p:nvSpPr>
          <p:cNvPr id="9" name="Text 7"/>
          <p:cNvSpPr/>
          <p:nvPr/>
        </p:nvSpPr>
        <p:spPr>
          <a:xfrm>
            <a:off x="57607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0" name="Text 8"/>
          <p:cNvSpPr/>
          <p:nvPr/>
        </p:nvSpPr>
        <p:spPr>
          <a:xfrm>
            <a:off x="576072" y="3874770"/>
            <a:ext cx="2366010" cy="274320"/>
          </a:xfrm>
          <a:prstGeom prst="rect">
            <a:avLst/>
          </a:prstGeom>
          <a:noFill/>
          <a:ln/>
        </p:spPr>
        <p:txBody>
          <a:bodyPr wrap="square" rtlCol="0" anchor="ctr"/>
          <a:lstStyle/>
          <a:p>
            <a:r>
              <a:rPr lang="en-US" sz="1200" b="1" dirty="0">
                <a:solidFill>
                  <a:srgbClr val="FFFFFF"/>
                </a:solidFill>
              </a:rPr>
              <a:t>Key Vault</a:t>
            </a:r>
            <a:endParaRPr lang="en-US" sz="1200" dirty="0"/>
          </a:p>
        </p:txBody>
      </p:sp>
      <p:sp>
        <p:nvSpPr>
          <p:cNvPr id="11" name="Text 9"/>
          <p:cNvSpPr/>
          <p:nvPr/>
        </p:nvSpPr>
        <p:spPr>
          <a:xfrm>
            <a:off x="576072" y="4149090"/>
            <a:ext cx="2366010" cy="514350"/>
          </a:xfrm>
          <a:prstGeom prst="rect">
            <a:avLst/>
          </a:prstGeom>
          <a:noFill/>
          <a:ln/>
        </p:spPr>
        <p:txBody>
          <a:bodyPr wrap="square" rtlCol="0" anchor="t"/>
          <a:lstStyle/>
          <a:p>
            <a:r>
              <a:rPr lang="en-US" sz="900" dirty="0">
                <a:solidFill>
                  <a:srgbClr val="94A3B8"/>
                </a:solidFill>
              </a:rPr>
              <a:t>Centralized, encrypted storage for every credential — no secrets in code.</a:t>
            </a:r>
            <a:endParaRPr lang="en-US" sz="900" dirty="0"/>
          </a:p>
        </p:txBody>
      </p:sp>
      <p:sp>
        <p:nvSpPr>
          <p:cNvPr id="12" name="Shape 10"/>
          <p:cNvSpPr/>
          <p:nvPr/>
        </p:nvSpPr>
        <p:spPr>
          <a:xfrm>
            <a:off x="3250692" y="3360420"/>
            <a:ext cx="2640330" cy="1371600"/>
          </a:xfrm>
          <a:prstGeom prst="roundRect">
            <a:avLst>
              <a:gd name="adj" fmla="val 5000"/>
            </a:avLst>
          </a:prstGeom>
          <a:solidFill>
            <a:srgbClr val="1E293B"/>
          </a:solidFill>
          <a:ln w="12700">
            <a:solidFill>
              <a:srgbClr val="00BCF2"/>
            </a:solidFill>
            <a:prstDash val="solid"/>
          </a:ln>
        </p:spPr>
      </p:sp>
      <p:sp>
        <p:nvSpPr>
          <p:cNvPr id="13" name="Text 11"/>
          <p:cNvSpPr/>
          <p:nvPr/>
        </p:nvSpPr>
        <p:spPr>
          <a:xfrm>
            <a:off x="338785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4" name="Text 12"/>
          <p:cNvSpPr/>
          <p:nvPr/>
        </p:nvSpPr>
        <p:spPr>
          <a:xfrm>
            <a:off x="3387852" y="3874770"/>
            <a:ext cx="2366010" cy="274320"/>
          </a:xfrm>
          <a:prstGeom prst="rect">
            <a:avLst/>
          </a:prstGeom>
          <a:noFill/>
          <a:ln/>
        </p:spPr>
        <p:txBody>
          <a:bodyPr wrap="square" rtlCol="0" anchor="ctr"/>
          <a:lstStyle/>
          <a:p>
            <a:r>
              <a:rPr lang="en-US" sz="1200" b="1" dirty="0">
                <a:solidFill>
                  <a:srgbClr val="FFFFFF"/>
                </a:solidFill>
              </a:rPr>
              <a:t>ADLS Gen2</a:t>
            </a:r>
            <a:endParaRPr lang="en-US" sz="1200" dirty="0"/>
          </a:p>
        </p:txBody>
      </p:sp>
      <p:sp>
        <p:nvSpPr>
          <p:cNvPr id="15" name="Text 13"/>
          <p:cNvSpPr/>
          <p:nvPr/>
        </p:nvSpPr>
        <p:spPr>
          <a:xfrm>
            <a:off x="3387852" y="4149090"/>
            <a:ext cx="2366010" cy="514350"/>
          </a:xfrm>
          <a:prstGeom prst="rect">
            <a:avLst/>
          </a:prstGeom>
          <a:noFill/>
          <a:ln/>
        </p:spPr>
        <p:txBody>
          <a:bodyPr wrap="square" rtlCol="0" anchor="t"/>
          <a:lstStyle/>
          <a:p>
            <a:r>
              <a:rPr lang="en-US" sz="900" dirty="0">
                <a:solidFill>
                  <a:srgbClr val="94A3B8"/>
                </a:solidFill>
              </a:rPr>
              <a:t>Hierarchical data lake holding raw Bronze files, safe to reprocess anytime.</a:t>
            </a:r>
            <a:endParaRPr lang="en-US" sz="900" dirty="0"/>
          </a:p>
        </p:txBody>
      </p:sp>
      <p:sp>
        <p:nvSpPr>
          <p:cNvPr id="16" name="Shape 14"/>
          <p:cNvSpPr/>
          <p:nvPr/>
        </p:nvSpPr>
        <p:spPr>
          <a:xfrm>
            <a:off x="6062472" y="3360420"/>
            <a:ext cx="2640330" cy="1371600"/>
          </a:xfrm>
          <a:prstGeom prst="roundRect">
            <a:avLst>
              <a:gd name="adj" fmla="val 5000"/>
            </a:avLst>
          </a:prstGeom>
          <a:solidFill>
            <a:srgbClr val="1E293B"/>
          </a:solidFill>
          <a:ln w="12700">
            <a:solidFill>
              <a:srgbClr val="00BCF2"/>
            </a:solidFill>
            <a:prstDash val="solid"/>
          </a:ln>
        </p:spPr>
      </p:sp>
      <p:sp>
        <p:nvSpPr>
          <p:cNvPr id="17" name="Text 15"/>
          <p:cNvSpPr/>
          <p:nvPr/>
        </p:nvSpPr>
        <p:spPr>
          <a:xfrm>
            <a:off x="619963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8" name="Text 16"/>
          <p:cNvSpPr/>
          <p:nvPr/>
        </p:nvSpPr>
        <p:spPr>
          <a:xfrm>
            <a:off x="6199632" y="3874770"/>
            <a:ext cx="2366010" cy="274320"/>
          </a:xfrm>
          <a:prstGeom prst="rect">
            <a:avLst/>
          </a:prstGeom>
          <a:noFill/>
          <a:ln/>
        </p:spPr>
        <p:txBody>
          <a:bodyPr wrap="square" rtlCol="0" anchor="ctr"/>
          <a:lstStyle/>
          <a:p>
            <a:r>
              <a:rPr lang="en-US" sz="1200" b="1" dirty="0">
                <a:solidFill>
                  <a:srgbClr val="FFFFFF"/>
                </a:solidFill>
              </a:rPr>
              <a:t>Data Factory</a:t>
            </a:r>
            <a:endParaRPr lang="en-US" sz="1200" dirty="0"/>
          </a:p>
        </p:txBody>
      </p:sp>
      <p:sp>
        <p:nvSpPr>
          <p:cNvPr id="19" name="Text 17"/>
          <p:cNvSpPr/>
          <p:nvPr/>
        </p:nvSpPr>
        <p:spPr>
          <a:xfrm>
            <a:off x="6199632" y="4149090"/>
            <a:ext cx="2366010" cy="514350"/>
          </a:xfrm>
          <a:prstGeom prst="rect">
            <a:avLst/>
          </a:prstGeom>
          <a:noFill/>
          <a:ln/>
        </p:spPr>
        <p:txBody>
          <a:bodyPr wrap="square" rtlCol="0" anchor="t"/>
          <a:lstStyle/>
          <a:p>
            <a:r>
              <a:rPr lang="en-US" sz="900" dirty="0">
                <a:solidFill>
                  <a:srgbClr val="94A3B8"/>
                </a:solidFill>
              </a:rPr>
              <a:t>Daily-triggered orchestration that moves data from API to lake to warehouse.</a:t>
            </a:r>
            <a:endParaRPr lang="en-US" sz="900" dirty="0"/>
          </a:p>
        </p:txBody>
      </p:sp>
      <p:sp>
        <p:nvSpPr>
          <p:cNvPr id="20" name="Text 18"/>
          <p:cNvSpPr/>
          <p:nvPr/>
        </p:nvSpPr>
        <p:spPr>
          <a:xfrm>
            <a:off x="342900" y="4869180"/>
            <a:ext cx="8435340" cy="205740"/>
          </a:xfrm>
          <a:prstGeom prst="rect">
            <a:avLst/>
          </a:prstGeom>
          <a:noFill/>
          <a:ln/>
        </p:spPr>
        <p:txBody>
          <a:bodyPr wrap="square" rtlCol="0" anchor="ctr"/>
          <a:lstStyle/>
          <a:p>
            <a:pPr algn="r"/>
            <a:r>
              <a:rPr lang="en-US" sz="750" dirty="0">
                <a:solidFill>
                  <a:srgbClr val="475569"/>
                </a:solidFill>
              </a:rPr>
              <a:t>Pipeline Architecture · Introduction</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ECFA5E44-24F8-12FF-2263-4AB4837131EC}"/>
                  </a:ext>
                </a:extLst>
              </p14:cNvPr>
              <p14:cNvContentPartPr/>
              <p14:nvPr/>
            </p14:nvContentPartPr>
            <p14:xfrm>
              <a:off x="3500104" y="2349439"/>
              <a:ext cx="360" cy="360"/>
            </p14:xfrm>
          </p:contentPart>
        </mc:Choice>
        <mc:Fallback xmlns="">
          <p:pic>
            <p:nvPicPr>
              <p:cNvPr id="4" name="Ink 3">
                <a:extLst>
                  <a:ext uri="{FF2B5EF4-FFF2-40B4-BE49-F238E27FC236}">
                    <a16:creationId xmlns:a16="http://schemas.microsoft.com/office/drawing/2014/main" id="{ECFA5E44-24F8-12FF-2263-4AB4837131EC}"/>
                  </a:ext>
                </a:extLst>
              </p:cNvPr>
              <p:cNvPicPr/>
              <p:nvPr/>
            </p:nvPicPr>
            <p:blipFill>
              <a:blip r:embed="rId4"/>
              <a:stretch>
                <a:fillRect/>
              </a:stretch>
            </p:blipFill>
            <p:spPr>
              <a:xfrm>
                <a:off x="3493984" y="2343319"/>
                <a:ext cx="12600" cy="12600"/>
              </a:xfrm>
              <a:prstGeom prst="rect">
                <a:avLst/>
              </a:prstGeom>
            </p:spPr>
          </p:pic>
        </mc:Fallback>
      </mc:AlternateContent>
      <p:pic>
        <p:nvPicPr>
          <p:cNvPr id="3" name="Picture 2">
            <a:extLst>
              <a:ext uri="{FF2B5EF4-FFF2-40B4-BE49-F238E27FC236}">
                <a16:creationId xmlns:a16="http://schemas.microsoft.com/office/drawing/2014/main" id="{4C0DB644-42F3-6214-9403-F76705F7D892}"/>
              </a:ext>
            </a:extLst>
          </p:cNvPr>
          <p:cNvPicPr>
            <a:picLocks noChangeAspect="1"/>
          </p:cNvPicPr>
          <p:nvPr/>
        </p:nvPicPr>
        <p:blipFill>
          <a:blip r:embed="rId5"/>
          <a:srcRect b="55445"/>
          <a:stretch>
            <a:fillRect/>
          </a:stretch>
        </p:blipFill>
        <p:spPr>
          <a:xfrm>
            <a:off x="295486" y="1043765"/>
            <a:ext cx="8672902" cy="2416628"/>
          </a:xfrm>
          <a:prstGeom prst="rect">
            <a:avLst/>
          </a:prstGeom>
        </p:spPr>
      </p:pic>
      <p:sp>
        <p:nvSpPr>
          <p:cNvPr id="2" name="Text 0">
            <a:extLst>
              <a:ext uri="{FF2B5EF4-FFF2-40B4-BE49-F238E27FC236}">
                <a16:creationId xmlns:a16="http://schemas.microsoft.com/office/drawing/2014/main" id="{24BEDC8C-7F0B-AC87-6631-81C319953191}"/>
              </a:ext>
            </a:extLst>
          </p:cNvPr>
          <p:cNvSpPr/>
          <p:nvPr/>
        </p:nvSpPr>
        <p:spPr>
          <a:xfrm>
            <a:off x="2381679" y="397115"/>
            <a:ext cx="4170512" cy="342900"/>
          </a:xfrm>
          <a:prstGeom prst="rect">
            <a:avLst/>
          </a:prstGeom>
          <a:noFill/>
          <a:ln/>
        </p:spPr>
        <p:txBody>
          <a:bodyPr wrap="square" rtlCol="0" anchor="ctr"/>
          <a:lstStyle/>
          <a:p>
            <a:r>
              <a:rPr lang="en-US" b="1" dirty="0">
                <a:solidFill>
                  <a:srgbClr val="0E7490"/>
                </a:solidFill>
              </a:rPr>
              <a:t>Azure Key Vault- Credential Management</a:t>
            </a:r>
            <a:endParaRPr lang="en-US" dirty="0"/>
          </a:p>
        </p:txBody>
      </p:sp>
    </p:spTree>
    <p:extLst>
      <p:ext uri="{BB962C8B-B14F-4D97-AF65-F5344CB8AC3E}">
        <p14:creationId xmlns:p14="http://schemas.microsoft.com/office/powerpoint/2010/main" val="637634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E6AB6B6-E17F-99D2-C509-A25A70C3EAE6}"/>
              </a:ext>
            </a:extLst>
          </p:cNvPr>
          <p:cNvPicPr>
            <a:picLocks noChangeAspect="1"/>
          </p:cNvPicPr>
          <p:nvPr/>
        </p:nvPicPr>
        <p:blipFill>
          <a:blip r:embed="rId2"/>
          <a:stretch>
            <a:fillRect/>
          </a:stretch>
        </p:blipFill>
        <p:spPr>
          <a:xfrm>
            <a:off x="1002753" y="1007104"/>
            <a:ext cx="6811574" cy="3491288"/>
          </a:xfrm>
          <a:prstGeom prst="rect">
            <a:avLst/>
          </a:prstGeom>
        </p:spPr>
      </p:pic>
      <p:sp>
        <p:nvSpPr>
          <p:cNvPr id="8" name="Text 0">
            <a:extLst>
              <a:ext uri="{FF2B5EF4-FFF2-40B4-BE49-F238E27FC236}">
                <a16:creationId xmlns:a16="http://schemas.microsoft.com/office/drawing/2014/main" id="{5E4FF8C2-9D26-C47A-16A0-4645F3D517D1}"/>
              </a:ext>
            </a:extLst>
          </p:cNvPr>
          <p:cNvSpPr/>
          <p:nvPr/>
        </p:nvSpPr>
        <p:spPr>
          <a:xfrm>
            <a:off x="3211300" y="354727"/>
            <a:ext cx="3007831" cy="342900"/>
          </a:xfrm>
          <a:prstGeom prst="rect">
            <a:avLst/>
          </a:prstGeom>
          <a:noFill/>
          <a:ln/>
        </p:spPr>
        <p:txBody>
          <a:bodyPr wrap="square" rtlCol="0" anchor="ctr"/>
          <a:lstStyle/>
          <a:p>
            <a:r>
              <a:rPr lang="en-US" b="1" dirty="0">
                <a:solidFill>
                  <a:srgbClr val="0E7490"/>
                </a:solidFill>
              </a:rPr>
              <a:t>ADLS Gen 2- Bronze Layer</a:t>
            </a:r>
            <a:endParaRPr lang="en-US" dirty="0"/>
          </a:p>
        </p:txBody>
      </p:sp>
    </p:spTree>
    <p:extLst>
      <p:ext uri="{BB962C8B-B14F-4D97-AF65-F5344CB8AC3E}">
        <p14:creationId xmlns:p14="http://schemas.microsoft.com/office/powerpoint/2010/main" val="2915728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28962F9-13D4-EBEF-A122-39A4E0400FB3}"/>
              </a:ext>
            </a:extLst>
          </p:cNvPr>
          <p:cNvPicPr>
            <a:picLocks noChangeAspect="1"/>
          </p:cNvPicPr>
          <p:nvPr/>
        </p:nvPicPr>
        <p:blipFill>
          <a:blip r:embed="rId2"/>
          <a:stretch>
            <a:fillRect/>
          </a:stretch>
        </p:blipFill>
        <p:spPr>
          <a:xfrm>
            <a:off x="505767" y="928674"/>
            <a:ext cx="7869167" cy="3536380"/>
          </a:xfrm>
          <a:prstGeom prst="rect">
            <a:avLst/>
          </a:prstGeom>
        </p:spPr>
      </p:pic>
      <p:sp>
        <p:nvSpPr>
          <p:cNvPr id="2" name="Text 0">
            <a:extLst>
              <a:ext uri="{FF2B5EF4-FFF2-40B4-BE49-F238E27FC236}">
                <a16:creationId xmlns:a16="http://schemas.microsoft.com/office/drawing/2014/main" id="{A867BBED-8671-6913-48B3-6F643E7AA866}"/>
              </a:ext>
            </a:extLst>
          </p:cNvPr>
          <p:cNvSpPr/>
          <p:nvPr/>
        </p:nvSpPr>
        <p:spPr>
          <a:xfrm>
            <a:off x="2714738" y="335546"/>
            <a:ext cx="4122067" cy="342900"/>
          </a:xfrm>
          <a:prstGeom prst="rect">
            <a:avLst/>
          </a:prstGeom>
          <a:noFill/>
          <a:ln/>
        </p:spPr>
        <p:txBody>
          <a:bodyPr wrap="square" rtlCol="0" anchor="ctr"/>
          <a:lstStyle/>
          <a:p>
            <a:r>
              <a:rPr lang="en-US" b="1" dirty="0">
                <a:solidFill>
                  <a:srgbClr val="0E7490"/>
                </a:solidFill>
              </a:rPr>
              <a:t>Bronze Container Folder Structure</a:t>
            </a:r>
            <a:endParaRPr lang="en-US" dirty="0"/>
          </a:p>
        </p:txBody>
      </p:sp>
    </p:spTree>
    <p:extLst>
      <p:ext uri="{BB962C8B-B14F-4D97-AF65-F5344CB8AC3E}">
        <p14:creationId xmlns:p14="http://schemas.microsoft.com/office/powerpoint/2010/main" val="4052360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41EF36-2AFB-7407-5134-08A4C23B5545}"/>
              </a:ext>
            </a:extLst>
          </p:cNvPr>
          <p:cNvPicPr>
            <a:picLocks noChangeAspect="1"/>
          </p:cNvPicPr>
          <p:nvPr/>
        </p:nvPicPr>
        <p:blipFill>
          <a:blip r:embed="rId2"/>
          <a:stretch>
            <a:fillRect/>
          </a:stretch>
        </p:blipFill>
        <p:spPr>
          <a:xfrm>
            <a:off x="435077" y="923493"/>
            <a:ext cx="7990097" cy="3647835"/>
          </a:xfrm>
          <a:prstGeom prst="rect">
            <a:avLst/>
          </a:prstGeom>
        </p:spPr>
      </p:pic>
      <p:sp>
        <p:nvSpPr>
          <p:cNvPr id="4" name="Text 0">
            <a:extLst>
              <a:ext uri="{FF2B5EF4-FFF2-40B4-BE49-F238E27FC236}">
                <a16:creationId xmlns:a16="http://schemas.microsoft.com/office/drawing/2014/main" id="{C9048921-DFA6-61BC-DF5D-90695F21890E}"/>
              </a:ext>
            </a:extLst>
          </p:cNvPr>
          <p:cNvSpPr/>
          <p:nvPr/>
        </p:nvSpPr>
        <p:spPr>
          <a:xfrm>
            <a:off x="3471692" y="348670"/>
            <a:ext cx="2426491" cy="342900"/>
          </a:xfrm>
          <a:prstGeom prst="rect">
            <a:avLst/>
          </a:prstGeom>
          <a:noFill/>
          <a:ln/>
        </p:spPr>
        <p:txBody>
          <a:bodyPr wrap="square" rtlCol="0" anchor="ctr"/>
          <a:lstStyle/>
          <a:p>
            <a:r>
              <a:rPr lang="en-US" b="1" dirty="0">
                <a:solidFill>
                  <a:srgbClr val="0E7490"/>
                </a:solidFill>
              </a:rPr>
              <a:t>ADF Scheduled Trigger</a:t>
            </a:r>
            <a:endParaRPr lang="en-US" dirty="0"/>
          </a:p>
        </p:txBody>
      </p:sp>
    </p:spTree>
    <p:extLst>
      <p:ext uri="{BB962C8B-B14F-4D97-AF65-F5344CB8AC3E}">
        <p14:creationId xmlns:p14="http://schemas.microsoft.com/office/powerpoint/2010/main" val="35125964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42900" y="411480"/>
            <a:ext cx="102870" cy="891540"/>
          </a:xfrm>
          <a:prstGeom prst="rect">
            <a:avLst/>
          </a:prstGeom>
          <a:solidFill>
            <a:srgbClr val="29B5E8"/>
          </a:solidFill>
          <a:ln w="12700">
            <a:solidFill>
              <a:srgbClr val="29B5E8"/>
            </a:solidFill>
            <a:prstDash val="solid"/>
          </a:ln>
        </p:spPr>
      </p:sp>
      <p:sp>
        <p:nvSpPr>
          <p:cNvPr id="3" name="Text 1"/>
          <p:cNvSpPr/>
          <p:nvPr/>
        </p:nvSpPr>
        <p:spPr>
          <a:xfrm>
            <a:off x="548640" y="411480"/>
            <a:ext cx="5486400" cy="274320"/>
          </a:xfrm>
          <a:prstGeom prst="rect">
            <a:avLst/>
          </a:prstGeom>
          <a:noFill/>
          <a:ln/>
        </p:spPr>
        <p:txBody>
          <a:bodyPr wrap="square" rtlCol="0" anchor="ctr"/>
          <a:lstStyle/>
          <a:p>
            <a:r>
              <a:rPr lang="en-US" sz="1050" b="1" kern="0" spc="600" dirty="0">
                <a:solidFill>
                  <a:srgbClr val="29B5E8"/>
                </a:solidFill>
              </a:rPr>
              <a:t>INTRODUCTION</a:t>
            </a:r>
            <a:endParaRPr lang="en-US" sz="1050" dirty="0"/>
          </a:p>
        </p:txBody>
      </p:sp>
      <p:sp>
        <p:nvSpPr>
          <p:cNvPr id="4" name="Text 2"/>
          <p:cNvSpPr/>
          <p:nvPr/>
        </p:nvSpPr>
        <p:spPr>
          <a:xfrm>
            <a:off x="548640" y="685800"/>
            <a:ext cx="7543800" cy="822960"/>
          </a:xfrm>
          <a:prstGeom prst="rect">
            <a:avLst/>
          </a:prstGeom>
          <a:noFill/>
          <a:ln/>
        </p:spPr>
        <p:txBody>
          <a:bodyPr wrap="square" rtlCol="0" anchor="ctr"/>
          <a:lstStyle/>
          <a:p>
            <a:r>
              <a:rPr lang="en-US" sz="5400" b="1" dirty="0">
                <a:solidFill>
                  <a:srgbClr val="00B0F0"/>
                </a:solidFill>
                <a:latin typeface="Calibri" pitchFamily="34" charset="0"/>
                <a:ea typeface="Calibri" pitchFamily="34" charset="-122"/>
                <a:cs typeface="Calibri" pitchFamily="34" charset="-120"/>
              </a:rPr>
              <a:t>Snowflake</a:t>
            </a:r>
            <a:endParaRPr lang="en-US" sz="5400" dirty="0">
              <a:solidFill>
                <a:srgbClr val="00B0F0"/>
              </a:solidFill>
            </a:endParaRPr>
          </a:p>
        </p:txBody>
      </p:sp>
      <p:sp>
        <p:nvSpPr>
          <p:cNvPr id="5" name="Text 3"/>
          <p:cNvSpPr/>
          <p:nvPr/>
        </p:nvSpPr>
        <p:spPr>
          <a:xfrm>
            <a:off x="548640" y="1577340"/>
            <a:ext cx="7886700" cy="342900"/>
          </a:xfrm>
          <a:prstGeom prst="rect">
            <a:avLst/>
          </a:prstGeom>
          <a:noFill/>
          <a:ln/>
        </p:spPr>
        <p:txBody>
          <a:bodyPr wrap="square" rtlCol="0" anchor="ctr"/>
          <a:lstStyle/>
          <a:p>
            <a:r>
              <a:rPr lang="en-US" sz="1500" i="1" dirty="0">
                <a:solidFill>
                  <a:srgbClr val="00B0F0"/>
                </a:solidFill>
              </a:rPr>
              <a:t>Cloud data warehouse for the medallion architecture</a:t>
            </a:r>
            <a:endParaRPr lang="en-US" sz="1500" dirty="0">
              <a:solidFill>
                <a:srgbClr val="00B0F0"/>
              </a:solidFill>
            </a:endParaRPr>
          </a:p>
        </p:txBody>
      </p:sp>
      <p:sp>
        <p:nvSpPr>
          <p:cNvPr id="6" name="Shape 4"/>
          <p:cNvSpPr/>
          <p:nvPr/>
        </p:nvSpPr>
        <p:spPr>
          <a:xfrm>
            <a:off x="548640" y="2023110"/>
            <a:ext cx="1714500" cy="27432"/>
          </a:xfrm>
          <a:prstGeom prst="rect">
            <a:avLst/>
          </a:prstGeom>
          <a:solidFill>
            <a:srgbClr val="29B5E8"/>
          </a:solidFill>
          <a:ln w="12700">
            <a:solidFill>
              <a:srgbClr val="29B5E8"/>
            </a:solidFill>
            <a:prstDash val="solid"/>
          </a:ln>
        </p:spPr>
      </p:sp>
      <p:sp>
        <p:nvSpPr>
          <p:cNvPr id="7" name="Text 5"/>
          <p:cNvSpPr/>
          <p:nvPr/>
        </p:nvSpPr>
        <p:spPr>
          <a:xfrm>
            <a:off x="393616" y="2160270"/>
            <a:ext cx="8309186" cy="960120"/>
          </a:xfrm>
          <a:prstGeom prst="rect">
            <a:avLst/>
          </a:prstGeom>
          <a:noFill/>
          <a:ln/>
        </p:spPr>
        <p:txBody>
          <a:bodyPr wrap="square" rtlCol="0" anchor="t"/>
          <a:lstStyle/>
          <a:p>
            <a:pPr algn="just"/>
            <a:r>
              <a:rPr lang="en-US" sz="1200" dirty="0">
                <a:solidFill>
                  <a:srgbClr val="00B0F0"/>
                </a:solidFill>
              </a:rPr>
              <a:t>Snowflake is our analytical engine — separating storage from compute and scaling instantly. We organize data into Bronze, Silver and Gold layers so each transformation step makes data cleaner, more reliable and more valuable for downstream reporting in Power BI.</a:t>
            </a:r>
          </a:p>
        </p:txBody>
      </p:sp>
      <p:sp>
        <p:nvSpPr>
          <p:cNvPr id="8" name="Shape 6"/>
          <p:cNvSpPr/>
          <p:nvPr/>
        </p:nvSpPr>
        <p:spPr>
          <a:xfrm>
            <a:off x="438912" y="3360420"/>
            <a:ext cx="2640330" cy="1371600"/>
          </a:xfrm>
          <a:prstGeom prst="roundRect">
            <a:avLst>
              <a:gd name="adj" fmla="val 5000"/>
            </a:avLst>
          </a:prstGeom>
          <a:solidFill>
            <a:srgbClr val="1E293B"/>
          </a:solidFill>
          <a:ln w="12700">
            <a:solidFill>
              <a:srgbClr val="29B5E8"/>
            </a:solidFill>
            <a:prstDash val="solid"/>
          </a:ln>
        </p:spPr>
      </p:sp>
      <p:sp>
        <p:nvSpPr>
          <p:cNvPr id="9" name="Text 7"/>
          <p:cNvSpPr/>
          <p:nvPr/>
        </p:nvSpPr>
        <p:spPr>
          <a:xfrm>
            <a:off x="57607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0" name="Text 8"/>
          <p:cNvSpPr/>
          <p:nvPr/>
        </p:nvSpPr>
        <p:spPr>
          <a:xfrm>
            <a:off x="576072" y="3874770"/>
            <a:ext cx="2366010" cy="274320"/>
          </a:xfrm>
          <a:prstGeom prst="rect">
            <a:avLst/>
          </a:prstGeom>
          <a:noFill/>
          <a:ln/>
        </p:spPr>
        <p:txBody>
          <a:bodyPr wrap="square" rtlCol="0" anchor="ctr"/>
          <a:lstStyle/>
          <a:p>
            <a:r>
              <a:rPr lang="en-US" sz="1200" b="1" dirty="0">
                <a:solidFill>
                  <a:srgbClr val="FFFFFF"/>
                </a:solidFill>
              </a:rPr>
              <a:t>Elastic Compute</a:t>
            </a:r>
            <a:endParaRPr lang="en-US" sz="1200" dirty="0"/>
          </a:p>
        </p:txBody>
      </p:sp>
      <p:sp>
        <p:nvSpPr>
          <p:cNvPr id="11" name="Text 9"/>
          <p:cNvSpPr/>
          <p:nvPr/>
        </p:nvSpPr>
        <p:spPr>
          <a:xfrm>
            <a:off x="576072" y="4149090"/>
            <a:ext cx="2366010" cy="514350"/>
          </a:xfrm>
          <a:prstGeom prst="rect">
            <a:avLst/>
          </a:prstGeom>
          <a:noFill/>
          <a:ln/>
        </p:spPr>
        <p:txBody>
          <a:bodyPr wrap="square" rtlCol="0" anchor="t"/>
          <a:lstStyle/>
          <a:p>
            <a:r>
              <a:rPr lang="en-US" sz="900" dirty="0">
                <a:solidFill>
                  <a:srgbClr val="94A3B8"/>
                </a:solidFill>
              </a:rPr>
              <a:t>Independent warehouses scale up or down without touching storage.</a:t>
            </a:r>
            <a:endParaRPr lang="en-US" sz="900" dirty="0"/>
          </a:p>
        </p:txBody>
      </p:sp>
      <p:sp>
        <p:nvSpPr>
          <p:cNvPr id="12" name="Shape 10"/>
          <p:cNvSpPr/>
          <p:nvPr/>
        </p:nvSpPr>
        <p:spPr>
          <a:xfrm>
            <a:off x="3250692" y="3360420"/>
            <a:ext cx="2640330" cy="1371600"/>
          </a:xfrm>
          <a:prstGeom prst="roundRect">
            <a:avLst>
              <a:gd name="adj" fmla="val 5000"/>
            </a:avLst>
          </a:prstGeom>
          <a:solidFill>
            <a:srgbClr val="1E293B"/>
          </a:solidFill>
          <a:ln w="12700">
            <a:solidFill>
              <a:srgbClr val="29B5E8"/>
            </a:solidFill>
            <a:prstDash val="solid"/>
          </a:ln>
        </p:spPr>
      </p:sp>
      <p:sp>
        <p:nvSpPr>
          <p:cNvPr id="13" name="Text 11"/>
          <p:cNvSpPr/>
          <p:nvPr/>
        </p:nvSpPr>
        <p:spPr>
          <a:xfrm>
            <a:off x="338785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4" name="Text 12"/>
          <p:cNvSpPr/>
          <p:nvPr/>
        </p:nvSpPr>
        <p:spPr>
          <a:xfrm>
            <a:off x="3387852" y="3874770"/>
            <a:ext cx="2366010" cy="274320"/>
          </a:xfrm>
          <a:prstGeom prst="rect">
            <a:avLst/>
          </a:prstGeom>
          <a:noFill/>
          <a:ln/>
        </p:spPr>
        <p:txBody>
          <a:bodyPr wrap="square" rtlCol="0" anchor="ctr"/>
          <a:lstStyle/>
          <a:p>
            <a:r>
              <a:rPr lang="en-US" sz="1200" b="1" dirty="0">
                <a:solidFill>
                  <a:srgbClr val="FFFFFF"/>
                </a:solidFill>
              </a:rPr>
              <a:t>Medallion Layers</a:t>
            </a:r>
            <a:endParaRPr lang="en-US" sz="1200" dirty="0"/>
          </a:p>
        </p:txBody>
      </p:sp>
      <p:sp>
        <p:nvSpPr>
          <p:cNvPr id="15" name="Text 13"/>
          <p:cNvSpPr/>
          <p:nvPr/>
        </p:nvSpPr>
        <p:spPr>
          <a:xfrm>
            <a:off x="3387852" y="4149090"/>
            <a:ext cx="2366010" cy="514350"/>
          </a:xfrm>
          <a:prstGeom prst="rect">
            <a:avLst/>
          </a:prstGeom>
          <a:noFill/>
          <a:ln/>
        </p:spPr>
        <p:txBody>
          <a:bodyPr wrap="square" rtlCol="0" anchor="t"/>
          <a:lstStyle/>
          <a:p>
            <a:r>
              <a:rPr lang="en-US" sz="900" dirty="0">
                <a:solidFill>
                  <a:srgbClr val="94A3B8"/>
                </a:solidFill>
              </a:rPr>
              <a:t>Bronze raw → Silver cleaned → Gold business-ready models.</a:t>
            </a:r>
            <a:endParaRPr lang="en-US" sz="900" dirty="0"/>
          </a:p>
        </p:txBody>
      </p:sp>
      <p:sp>
        <p:nvSpPr>
          <p:cNvPr id="16" name="Shape 14"/>
          <p:cNvSpPr/>
          <p:nvPr/>
        </p:nvSpPr>
        <p:spPr>
          <a:xfrm>
            <a:off x="6062472" y="3360420"/>
            <a:ext cx="2640330" cy="1371600"/>
          </a:xfrm>
          <a:prstGeom prst="roundRect">
            <a:avLst>
              <a:gd name="adj" fmla="val 5000"/>
            </a:avLst>
          </a:prstGeom>
          <a:solidFill>
            <a:srgbClr val="1E293B"/>
          </a:solidFill>
          <a:ln w="12700">
            <a:solidFill>
              <a:srgbClr val="29B5E8"/>
            </a:solidFill>
            <a:prstDash val="solid"/>
          </a:ln>
        </p:spPr>
      </p:sp>
      <p:sp>
        <p:nvSpPr>
          <p:cNvPr id="17" name="Text 15"/>
          <p:cNvSpPr/>
          <p:nvPr/>
        </p:nvSpPr>
        <p:spPr>
          <a:xfrm>
            <a:off x="619963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8" name="Text 16"/>
          <p:cNvSpPr/>
          <p:nvPr/>
        </p:nvSpPr>
        <p:spPr>
          <a:xfrm>
            <a:off x="6199632" y="3874770"/>
            <a:ext cx="2366010" cy="274320"/>
          </a:xfrm>
          <a:prstGeom prst="rect">
            <a:avLst/>
          </a:prstGeom>
          <a:noFill/>
          <a:ln/>
        </p:spPr>
        <p:txBody>
          <a:bodyPr wrap="square" rtlCol="0" anchor="ctr"/>
          <a:lstStyle/>
          <a:p>
            <a:r>
              <a:rPr lang="en-US" sz="1200" b="1" dirty="0">
                <a:solidFill>
                  <a:srgbClr val="FFFFFF"/>
                </a:solidFill>
              </a:rPr>
              <a:t>Live to Power BI</a:t>
            </a:r>
            <a:endParaRPr lang="en-US" sz="1200" dirty="0"/>
          </a:p>
        </p:txBody>
      </p:sp>
      <p:sp>
        <p:nvSpPr>
          <p:cNvPr id="19" name="Text 17"/>
          <p:cNvSpPr/>
          <p:nvPr/>
        </p:nvSpPr>
        <p:spPr>
          <a:xfrm>
            <a:off x="6199632" y="4149090"/>
            <a:ext cx="2366010" cy="514350"/>
          </a:xfrm>
          <a:prstGeom prst="rect">
            <a:avLst/>
          </a:prstGeom>
          <a:noFill/>
          <a:ln/>
        </p:spPr>
        <p:txBody>
          <a:bodyPr wrap="square" rtlCol="0" anchor="t"/>
          <a:lstStyle/>
          <a:p>
            <a:r>
              <a:rPr lang="en-US" sz="900" dirty="0">
                <a:solidFill>
                  <a:srgbClr val="94A3B8"/>
                </a:solidFill>
              </a:rPr>
              <a:t>Direct connector exposes Gold-layer tables for live dashboards.</a:t>
            </a:r>
            <a:endParaRPr lang="en-US" sz="900" dirty="0"/>
          </a:p>
        </p:txBody>
      </p:sp>
      <p:sp>
        <p:nvSpPr>
          <p:cNvPr id="20" name="Text 18"/>
          <p:cNvSpPr/>
          <p:nvPr/>
        </p:nvSpPr>
        <p:spPr>
          <a:xfrm>
            <a:off x="342900" y="4869180"/>
            <a:ext cx="8435340" cy="205740"/>
          </a:xfrm>
          <a:prstGeom prst="rect">
            <a:avLst/>
          </a:prstGeom>
          <a:noFill/>
          <a:ln/>
        </p:spPr>
        <p:txBody>
          <a:bodyPr wrap="square" rtlCol="0" anchor="ctr"/>
          <a:lstStyle/>
          <a:p>
            <a:pPr algn="r"/>
            <a:r>
              <a:rPr lang="en-US" sz="750" dirty="0">
                <a:solidFill>
                  <a:srgbClr val="475569"/>
                </a:solidFill>
              </a:rPr>
              <a:t>Pipeline Architecture · Introduction</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2A3B"/>
          </a:solidFill>
          <a:ln w="12700">
            <a:solidFill>
              <a:srgbClr val="1B2A3B"/>
            </a:solidFill>
            <a:prstDash val="solid"/>
          </a:ln>
        </p:spPr>
      </p:sp>
      <p:sp>
        <p:nvSpPr>
          <p:cNvPr id="3" name="Text 1"/>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SNOWFLAKE MEDALLION ARCHITECTURE</a:t>
            </a:r>
            <a:endParaRPr lang="en-US" sz="1300" dirty="0"/>
          </a:p>
        </p:txBody>
      </p:sp>
      <p:sp>
        <p:nvSpPr>
          <p:cNvPr id="4" name="Shape 2"/>
          <p:cNvSpPr/>
          <p:nvPr/>
        </p:nvSpPr>
        <p:spPr>
          <a:xfrm>
            <a:off x="365760" y="1005840"/>
            <a:ext cx="8412480" cy="1143000"/>
          </a:xfrm>
          <a:prstGeom prst="rect">
            <a:avLst/>
          </a:prstGeom>
          <a:solidFill>
            <a:srgbClr val="1B2A3B"/>
          </a:solidFill>
          <a:ln w="12700">
            <a:solidFill>
              <a:srgbClr val="CD7F32"/>
            </a:solidFill>
            <a:prstDash val="solid"/>
          </a:ln>
        </p:spPr>
      </p:sp>
      <p:sp>
        <p:nvSpPr>
          <p:cNvPr id="5" name="Shape 3"/>
          <p:cNvSpPr/>
          <p:nvPr/>
        </p:nvSpPr>
        <p:spPr>
          <a:xfrm>
            <a:off x="365760" y="1005840"/>
            <a:ext cx="1280160" cy="1143000"/>
          </a:xfrm>
          <a:prstGeom prst="rect">
            <a:avLst/>
          </a:prstGeom>
          <a:solidFill>
            <a:srgbClr val="CD7F32">
              <a:alpha val="75000"/>
            </a:srgbClr>
          </a:solidFill>
          <a:ln w="12700">
            <a:solidFill>
              <a:srgbClr val="CD7F32"/>
            </a:solidFill>
            <a:prstDash val="solid"/>
          </a:ln>
        </p:spPr>
      </p:sp>
      <p:sp>
        <p:nvSpPr>
          <p:cNvPr id="6" name="Text 4"/>
          <p:cNvSpPr/>
          <p:nvPr/>
        </p:nvSpPr>
        <p:spPr>
          <a:xfrm>
            <a:off x="365760" y="1005840"/>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BRONZE</a:t>
            </a:r>
            <a:endParaRPr lang="en-US" sz="1800" dirty="0"/>
          </a:p>
        </p:txBody>
      </p:sp>
      <p:sp>
        <p:nvSpPr>
          <p:cNvPr id="7" name="Text 5"/>
          <p:cNvSpPr/>
          <p:nvPr/>
        </p:nvSpPr>
        <p:spPr>
          <a:xfrm>
            <a:off x="1737360" y="1078992"/>
            <a:ext cx="6858000" cy="685800"/>
          </a:xfrm>
          <a:prstGeom prst="rect">
            <a:avLst/>
          </a:prstGeom>
          <a:noFill/>
          <a:ln/>
        </p:spPr>
        <p:txBody>
          <a:bodyPr wrap="square" lIns="0" tIns="0" rIns="0" bIns="0" rtlCol="0" anchor="ctr"/>
          <a:lstStyle/>
          <a:p>
            <a:pPr marL="0" indent="0">
              <a:buNone/>
            </a:pPr>
            <a:r>
              <a:rPr lang="en-US" sz="1100" dirty="0">
                <a:solidFill>
                  <a:srgbClr val="FFFFFF"/>
                </a:solidFill>
              </a:rPr>
              <a:t>Raw data exactly as received</a:t>
            </a:r>
            <a:endParaRPr lang="en-US" sz="1100" dirty="0"/>
          </a:p>
          <a:p>
            <a:pPr marL="0" indent="0">
              <a:buNone/>
            </a:pPr>
            <a:r>
              <a:rPr lang="en-US" sz="1100" dirty="0">
                <a:solidFill>
                  <a:srgbClr val="FFFFFF"/>
                </a:solidFill>
              </a:rPr>
              <a:t>RAW_STOPS · RAW_ROUTES · RAW_TRIPS · RAW_STOP_TIMES</a:t>
            </a:r>
            <a:endParaRPr lang="en-US" sz="1100" dirty="0"/>
          </a:p>
          <a:p>
            <a:pPr marL="0" indent="0">
              <a:buNone/>
            </a:pPr>
            <a:r>
              <a:rPr lang="en-US" sz="1100" dirty="0">
                <a:solidFill>
                  <a:srgbClr val="FFFFFF"/>
                </a:solidFill>
              </a:rPr>
              <a:t>VARIANT type preserves original — safe to reprocess</a:t>
            </a:r>
            <a:endParaRPr lang="en-US" sz="1100" dirty="0"/>
          </a:p>
        </p:txBody>
      </p:sp>
      <p:sp>
        <p:nvSpPr>
          <p:cNvPr id="8" name="Shape 6"/>
          <p:cNvSpPr/>
          <p:nvPr/>
        </p:nvSpPr>
        <p:spPr>
          <a:xfrm>
            <a:off x="1737360" y="1810512"/>
            <a:ext cx="6858000" cy="36576"/>
          </a:xfrm>
          <a:prstGeom prst="rect">
            <a:avLst/>
          </a:prstGeom>
          <a:solidFill>
            <a:srgbClr val="CD7F32">
              <a:alpha val="40000"/>
            </a:srgbClr>
          </a:solidFill>
          <a:ln w="12700">
            <a:solidFill>
              <a:srgbClr val="CD7F32">
                <a:alpha val="40000"/>
              </a:srgbClr>
            </a:solidFill>
            <a:prstDash val="solid"/>
          </a:ln>
        </p:spPr>
      </p:sp>
      <p:sp>
        <p:nvSpPr>
          <p:cNvPr id="9" name="Text 7"/>
          <p:cNvSpPr/>
          <p:nvPr/>
        </p:nvSpPr>
        <p:spPr>
          <a:xfrm>
            <a:off x="1737360" y="1865376"/>
            <a:ext cx="6858000" cy="237744"/>
          </a:xfrm>
          <a:prstGeom prst="rect">
            <a:avLst/>
          </a:prstGeom>
          <a:noFill/>
          <a:ln/>
        </p:spPr>
        <p:txBody>
          <a:bodyPr wrap="square" lIns="0" tIns="0" rIns="0" bIns="0" rtlCol="0" anchor="ctr"/>
          <a:lstStyle/>
          <a:p>
            <a:pPr marL="0" indent="0">
              <a:buNone/>
            </a:pPr>
            <a:r>
              <a:rPr lang="en-US" sz="950" dirty="0">
                <a:solidFill>
                  <a:srgbClr val="CD7F32"/>
                </a:solidFill>
              </a:rPr>
              <a:t>21,829 stops · 614 routes · 138K trips · 2.78M stop times</a:t>
            </a:r>
            <a:endParaRPr lang="en-US" sz="950" dirty="0"/>
          </a:p>
        </p:txBody>
      </p:sp>
      <p:sp>
        <p:nvSpPr>
          <p:cNvPr id="10" name="Shape 8"/>
          <p:cNvSpPr/>
          <p:nvPr/>
        </p:nvSpPr>
        <p:spPr>
          <a:xfrm>
            <a:off x="365760" y="2304288"/>
            <a:ext cx="8412480" cy="1143000"/>
          </a:xfrm>
          <a:prstGeom prst="rect">
            <a:avLst/>
          </a:prstGeom>
          <a:solidFill>
            <a:srgbClr val="1B2A3B"/>
          </a:solidFill>
          <a:ln w="12700">
            <a:solidFill>
              <a:srgbClr val="C0C0C0"/>
            </a:solidFill>
            <a:prstDash val="solid"/>
          </a:ln>
        </p:spPr>
      </p:sp>
      <p:sp>
        <p:nvSpPr>
          <p:cNvPr id="11" name="Shape 9"/>
          <p:cNvSpPr/>
          <p:nvPr/>
        </p:nvSpPr>
        <p:spPr>
          <a:xfrm>
            <a:off x="365760" y="2304288"/>
            <a:ext cx="1280160" cy="1143000"/>
          </a:xfrm>
          <a:prstGeom prst="rect">
            <a:avLst/>
          </a:prstGeom>
          <a:solidFill>
            <a:srgbClr val="C0C0C0">
              <a:alpha val="75000"/>
            </a:srgbClr>
          </a:solidFill>
          <a:ln w="12700">
            <a:solidFill>
              <a:srgbClr val="C0C0C0"/>
            </a:solidFill>
            <a:prstDash val="solid"/>
          </a:ln>
        </p:spPr>
      </p:sp>
      <p:sp>
        <p:nvSpPr>
          <p:cNvPr id="12" name="Text 10"/>
          <p:cNvSpPr/>
          <p:nvPr/>
        </p:nvSpPr>
        <p:spPr>
          <a:xfrm>
            <a:off x="365760" y="2304288"/>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SILVER</a:t>
            </a:r>
            <a:endParaRPr lang="en-US" sz="1800" dirty="0"/>
          </a:p>
        </p:txBody>
      </p:sp>
      <p:sp>
        <p:nvSpPr>
          <p:cNvPr id="13" name="Text 11"/>
          <p:cNvSpPr/>
          <p:nvPr/>
        </p:nvSpPr>
        <p:spPr>
          <a:xfrm>
            <a:off x="1737360" y="2377440"/>
            <a:ext cx="6858000" cy="685800"/>
          </a:xfrm>
          <a:prstGeom prst="rect">
            <a:avLst/>
          </a:prstGeom>
          <a:noFill/>
          <a:ln/>
        </p:spPr>
        <p:txBody>
          <a:bodyPr wrap="square" lIns="0" tIns="0" rIns="0" bIns="0" rtlCol="0" anchor="ctr"/>
          <a:lstStyle/>
          <a:p>
            <a:pPr marL="0" indent="0">
              <a:buNone/>
            </a:pPr>
            <a:r>
              <a:rPr lang="en-US" sz="1100" dirty="0">
                <a:solidFill>
                  <a:srgbClr val="FFFFFF"/>
                </a:solidFill>
              </a:rPr>
              <a:t>Cleaned, typed, validated</a:t>
            </a:r>
            <a:endParaRPr lang="en-US" sz="1100" dirty="0"/>
          </a:p>
          <a:p>
            <a:pPr marL="0" indent="0">
              <a:buNone/>
            </a:pPr>
            <a:r>
              <a:rPr lang="en-US" sz="1100" dirty="0">
                <a:solidFill>
                  <a:srgbClr val="FFFFFF"/>
                </a:solidFill>
              </a:rPr>
              <a:t>stg_stops · stg_routes · stg_stop_times</a:t>
            </a:r>
            <a:endParaRPr lang="en-US" sz="1100" dirty="0"/>
          </a:p>
          <a:p>
            <a:pPr marL="0" indent="0">
              <a:buNone/>
            </a:pPr>
            <a:r>
              <a:rPr lang="en-US" sz="1100" dirty="0">
                <a:solidFill>
                  <a:srgbClr val="FFFFFF"/>
                </a:solidFill>
              </a:rPr>
              <a:t>NULL filtering, type casting, transport mode mapping</a:t>
            </a:r>
            <a:endParaRPr lang="en-US" sz="1100" dirty="0"/>
          </a:p>
        </p:txBody>
      </p:sp>
      <p:sp>
        <p:nvSpPr>
          <p:cNvPr id="14" name="Shape 12"/>
          <p:cNvSpPr/>
          <p:nvPr/>
        </p:nvSpPr>
        <p:spPr>
          <a:xfrm>
            <a:off x="1737360" y="3108960"/>
            <a:ext cx="6858000" cy="36576"/>
          </a:xfrm>
          <a:prstGeom prst="rect">
            <a:avLst/>
          </a:prstGeom>
          <a:solidFill>
            <a:srgbClr val="C0C0C0">
              <a:alpha val="40000"/>
            </a:srgbClr>
          </a:solidFill>
          <a:ln w="12700">
            <a:solidFill>
              <a:srgbClr val="C0C0C0">
                <a:alpha val="40000"/>
              </a:srgbClr>
            </a:solidFill>
            <a:prstDash val="solid"/>
          </a:ln>
        </p:spPr>
      </p:sp>
      <p:sp>
        <p:nvSpPr>
          <p:cNvPr id="15" name="Text 13"/>
          <p:cNvSpPr/>
          <p:nvPr/>
        </p:nvSpPr>
        <p:spPr>
          <a:xfrm>
            <a:off x="1737360" y="3163824"/>
            <a:ext cx="6858000" cy="237744"/>
          </a:xfrm>
          <a:prstGeom prst="rect">
            <a:avLst/>
          </a:prstGeom>
          <a:noFill/>
          <a:ln/>
        </p:spPr>
        <p:txBody>
          <a:bodyPr wrap="square" lIns="0" tIns="0" rIns="0" bIns="0" rtlCol="0" anchor="ctr"/>
          <a:lstStyle/>
          <a:p>
            <a:pPr marL="0" indent="0">
              <a:buNone/>
            </a:pPr>
            <a:r>
              <a:rPr lang="en-US" sz="950" dirty="0">
                <a:solidFill>
                  <a:srgbClr val="C0C0C0"/>
                </a:solidFill>
              </a:rPr>
              <a:t>Views built by dbt — always fresh from bronze</a:t>
            </a:r>
            <a:endParaRPr lang="en-US" sz="950" dirty="0"/>
          </a:p>
        </p:txBody>
      </p:sp>
      <p:sp>
        <p:nvSpPr>
          <p:cNvPr id="16" name="Shape 14"/>
          <p:cNvSpPr/>
          <p:nvPr/>
        </p:nvSpPr>
        <p:spPr>
          <a:xfrm>
            <a:off x="365760" y="3602736"/>
            <a:ext cx="8412480" cy="1143000"/>
          </a:xfrm>
          <a:prstGeom prst="rect">
            <a:avLst/>
          </a:prstGeom>
          <a:solidFill>
            <a:srgbClr val="1B2A3B"/>
          </a:solidFill>
          <a:ln w="12700">
            <a:solidFill>
              <a:srgbClr val="FFD166"/>
            </a:solidFill>
            <a:prstDash val="solid"/>
          </a:ln>
        </p:spPr>
      </p:sp>
      <p:sp>
        <p:nvSpPr>
          <p:cNvPr id="17" name="Shape 15"/>
          <p:cNvSpPr/>
          <p:nvPr/>
        </p:nvSpPr>
        <p:spPr>
          <a:xfrm>
            <a:off x="365760" y="3602736"/>
            <a:ext cx="1280160" cy="1143000"/>
          </a:xfrm>
          <a:prstGeom prst="rect">
            <a:avLst/>
          </a:prstGeom>
          <a:solidFill>
            <a:srgbClr val="FFD166">
              <a:alpha val="75000"/>
            </a:srgbClr>
          </a:solidFill>
          <a:ln w="12700">
            <a:solidFill>
              <a:srgbClr val="FFD166"/>
            </a:solidFill>
            <a:prstDash val="solid"/>
          </a:ln>
        </p:spPr>
      </p:sp>
      <p:sp>
        <p:nvSpPr>
          <p:cNvPr id="18" name="Text 16"/>
          <p:cNvSpPr/>
          <p:nvPr/>
        </p:nvSpPr>
        <p:spPr>
          <a:xfrm>
            <a:off x="365760" y="3602736"/>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GOLD</a:t>
            </a:r>
            <a:endParaRPr lang="en-US" sz="1800" dirty="0"/>
          </a:p>
        </p:txBody>
      </p:sp>
      <p:sp>
        <p:nvSpPr>
          <p:cNvPr id="19" name="Text 17"/>
          <p:cNvSpPr/>
          <p:nvPr/>
        </p:nvSpPr>
        <p:spPr>
          <a:xfrm>
            <a:off x="1737360" y="3675888"/>
            <a:ext cx="6858000" cy="685800"/>
          </a:xfrm>
          <a:prstGeom prst="rect">
            <a:avLst/>
          </a:prstGeom>
          <a:noFill/>
          <a:ln/>
        </p:spPr>
        <p:txBody>
          <a:bodyPr wrap="square" lIns="0" tIns="0" rIns="0" bIns="0" rtlCol="0" anchor="ctr"/>
          <a:lstStyle/>
          <a:p>
            <a:pPr marL="0" indent="0">
              <a:buNone/>
            </a:pPr>
            <a:r>
              <a:rPr lang="en-US" sz="1100" dirty="0">
                <a:solidFill>
                  <a:srgbClr val="FFFFFF"/>
                </a:solidFill>
              </a:rPr>
              <a:t>Aggregated for consumption</a:t>
            </a:r>
            <a:endParaRPr lang="en-US" sz="1100" dirty="0"/>
          </a:p>
          <a:p>
            <a:pPr marL="0" indent="0">
              <a:buNone/>
            </a:pPr>
            <a:r>
              <a:rPr lang="en-US" sz="1100" dirty="0">
                <a:solidFill>
                  <a:srgbClr val="FFFFFF"/>
                </a:solidFill>
              </a:rPr>
              <a:t>fct_busiest_stops · fct_departures_by_hour · fct_routes_by_mode</a:t>
            </a:r>
            <a:endParaRPr lang="en-US" sz="1100" dirty="0"/>
          </a:p>
          <a:p>
            <a:pPr marL="0" indent="0">
              <a:buNone/>
            </a:pPr>
            <a:r>
              <a:rPr lang="en-US" sz="1100" dirty="0">
                <a:solidFill>
                  <a:srgbClr val="FFFFFF"/>
                </a:solidFill>
              </a:rPr>
              <a:t>Power BI reads only from here — no raw data exposure</a:t>
            </a:r>
            <a:endParaRPr lang="en-US" sz="1100" dirty="0"/>
          </a:p>
        </p:txBody>
      </p:sp>
      <p:sp>
        <p:nvSpPr>
          <p:cNvPr id="20" name="Shape 18"/>
          <p:cNvSpPr/>
          <p:nvPr/>
        </p:nvSpPr>
        <p:spPr>
          <a:xfrm>
            <a:off x="1737360" y="4407408"/>
            <a:ext cx="6858000" cy="36576"/>
          </a:xfrm>
          <a:prstGeom prst="rect">
            <a:avLst/>
          </a:prstGeom>
          <a:solidFill>
            <a:srgbClr val="FFD166">
              <a:alpha val="40000"/>
            </a:srgbClr>
          </a:solidFill>
          <a:ln w="12700">
            <a:solidFill>
              <a:srgbClr val="FFD166">
                <a:alpha val="40000"/>
              </a:srgbClr>
            </a:solidFill>
            <a:prstDash val="solid"/>
          </a:ln>
        </p:spPr>
      </p:sp>
      <p:sp>
        <p:nvSpPr>
          <p:cNvPr id="21" name="Text 19"/>
          <p:cNvSpPr/>
          <p:nvPr/>
        </p:nvSpPr>
        <p:spPr>
          <a:xfrm>
            <a:off x="1737360" y="4462272"/>
            <a:ext cx="6858000" cy="237744"/>
          </a:xfrm>
          <a:prstGeom prst="rect">
            <a:avLst/>
          </a:prstGeom>
          <a:noFill/>
          <a:ln/>
        </p:spPr>
        <p:txBody>
          <a:bodyPr wrap="square" lIns="0" tIns="0" rIns="0" bIns="0" rtlCol="0" anchor="ctr"/>
          <a:lstStyle/>
          <a:p>
            <a:pPr marL="0" indent="0">
              <a:buNone/>
            </a:pPr>
            <a:r>
              <a:rPr lang="en-US" sz="950" dirty="0">
                <a:solidFill>
                  <a:srgbClr val="FFD166"/>
                </a:solidFill>
              </a:rPr>
              <a:t>11,809 stops ranked · 24hr pattern · 5 transport modes</a:t>
            </a:r>
            <a:endParaRPr lang="en-US" sz="950" dirty="0"/>
          </a:p>
        </p:txBody>
      </p:sp>
      <p:sp>
        <p:nvSpPr>
          <p:cNvPr id="22" name="Shape 20"/>
          <p:cNvSpPr/>
          <p:nvPr/>
        </p:nvSpPr>
        <p:spPr>
          <a:xfrm>
            <a:off x="365760" y="4745736"/>
            <a:ext cx="8412480" cy="347472"/>
          </a:xfrm>
          <a:prstGeom prst="rect">
            <a:avLst/>
          </a:prstGeom>
          <a:solidFill>
            <a:srgbClr val="00B4D8">
              <a:alpha val="15000"/>
            </a:srgbClr>
          </a:solidFill>
          <a:ln w="12700">
            <a:solidFill>
              <a:srgbClr val="00B4D8"/>
            </a:solidFill>
            <a:prstDash val="solid"/>
          </a:ln>
        </p:spPr>
      </p:sp>
      <p:sp>
        <p:nvSpPr>
          <p:cNvPr id="23" name="Text 21"/>
          <p:cNvSpPr/>
          <p:nvPr/>
        </p:nvSpPr>
        <p:spPr>
          <a:xfrm>
            <a:off x="457200" y="4663440"/>
            <a:ext cx="8229600" cy="347472"/>
          </a:xfrm>
          <a:prstGeom prst="rect">
            <a:avLst/>
          </a:prstGeom>
          <a:noFill/>
          <a:ln/>
        </p:spPr>
        <p:txBody>
          <a:bodyPr wrap="square" lIns="0" tIns="0" rIns="0" bIns="0" rtlCol="0" anchor="ctr"/>
          <a:lstStyle/>
          <a:p>
            <a:pPr marL="0" indent="0">
              <a:buNone/>
            </a:pPr>
            <a:r>
              <a:rPr lang="en-US" sz="1000" dirty="0">
                <a:solidFill>
                  <a:srgbClr val="90E0EF"/>
                </a:solidFill>
              </a:rPr>
              <a:t>COPY INTO from ADLS External Stage using SAS token stored in Key Vault — credentials never exposed in code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9D8D3-EA10-32C1-506F-23BC940F09F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A377CF3-F38B-312E-971C-3C85C4B03720}"/>
              </a:ext>
            </a:extLst>
          </p:cNvPr>
          <p:cNvSpPr/>
          <p:nvPr/>
        </p:nvSpPr>
        <p:spPr>
          <a:xfrm>
            <a:off x="0" y="0"/>
            <a:ext cx="9144000" cy="777240"/>
          </a:xfrm>
          <a:prstGeom prst="rect">
            <a:avLst/>
          </a:prstGeom>
          <a:solidFill>
            <a:srgbClr val="1B2A3B"/>
          </a:solidFill>
          <a:ln w="12700">
            <a:solidFill>
              <a:srgbClr val="1B2A3B"/>
            </a:solidFill>
            <a:prstDash val="solid"/>
          </a:ln>
        </p:spPr>
      </p:sp>
      <p:sp>
        <p:nvSpPr>
          <p:cNvPr id="3" name="Text 1">
            <a:extLst>
              <a:ext uri="{FF2B5EF4-FFF2-40B4-BE49-F238E27FC236}">
                <a16:creationId xmlns:a16="http://schemas.microsoft.com/office/drawing/2014/main" id="{6974F2B1-60DC-6657-9A5C-430EB4DB281C}"/>
              </a:ext>
            </a:extLst>
          </p:cNvPr>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SNOWFLAKE MEDALLION ARCHITECTURE</a:t>
            </a:r>
            <a:endParaRPr lang="en-US" sz="1300" dirty="0"/>
          </a:p>
        </p:txBody>
      </p:sp>
      <p:sp>
        <p:nvSpPr>
          <p:cNvPr id="4" name="Shape 2">
            <a:extLst>
              <a:ext uri="{FF2B5EF4-FFF2-40B4-BE49-F238E27FC236}">
                <a16:creationId xmlns:a16="http://schemas.microsoft.com/office/drawing/2014/main" id="{E106B62B-0F65-DF25-E4C7-043A89A37EA4}"/>
              </a:ext>
            </a:extLst>
          </p:cNvPr>
          <p:cNvSpPr/>
          <p:nvPr/>
        </p:nvSpPr>
        <p:spPr>
          <a:xfrm>
            <a:off x="365760" y="1005840"/>
            <a:ext cx="8412480" cy="1143000"/>
          </a:xfrm>
          <a:prstGeom prst="rect">
            <a:avLst/>
          </a:prstGeom>
          <a:solidFill>
            <a:srgbClr val="1B2A3B"/>
          </a:solidFill>
          <a:ln w="12700">
            <a:solidFill>
              <a:srgbClr val="CD7F32"/>
            </a:solidFill>
            <a:prstDash val="solid"/>
          </a:ln>
        </p:spPr>
      </p:sp>
      <p:sp>
        <p:nvSpPr>
          <p:cNvPr id="5" name="Shape 3">
            <a:extLst>
              <a:ext uri="{FF2B5EF4-FFF2-40B4-BE49-F238E27FC236}">
                <a16:creationId xmlns:a16="http://schemas.microsoft.com/office/drawing/2014/main" id="{84FED299-D8E8-D434-FC53-EA72A862D99B}"/>
              </a:ext>
            </a:extLst>
          </p:cNvPr>
          <p:cNvSpPr/>
          <p:nvPr/>
        </p:nvSpPr>
        <p:spPr>
          <a:xfrm>
            <a:off x="365760" y="1005840"/>
            <a:ext cx="1280160" cy="1143000"/>
          </a:xfrm>
          <a:prstGeom prst="rect">
            <a:avLst/>
          </a:prstGeom>
          <a:solidFill>
            <a:srgbClr val="CD7F32">
              <a:alpha val="75000"/>
            </a:srgbClr>
          </a:solidFill>
          <a:ln w="12700">
            <a:solidFill>
              <a:srgbClr val="CD7F32"/>
            </a:solidFill>
            <a:prstDash val="solid"/>
          </a:ln>
        </p:spPr>
      </p:sp>
      <p:sp>
        <p:nvSpPr>
          <p:cNvPr id="6" name="Text 4">
            <a:extLst>
              <a:ext uri="{FF2B5EF4-FFF2-40B4-BE49-F238E27FC236}">
                <a16:creationId xmlns:a16="http://schemas.microsoft.com/office/drawing/2014/main" id="{AEBA9DFB-B729-04E7-131C-A1E33EF973C1}"/>
              </a:ext>
            </a:extLst>
          </p:cNvPr>
          <p:cNvSpPr/>
          <p:nvPr/>
        </p:nvSpPr>
        <p:spPr>
          <a:xfrm>
            <a:off x="365760" y="1005840"/>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BRONZE</a:t>
            </a:r>
            <a:endParaRPr lang="en-US" sz="1800" dirty="0"/>
          </a:p>
        </p:txBody>
      </p:sp>
      <p:sp>
        <p:nvSpPr>
          <p:cNvPr id="7" name="Text 5">
            <a:extLst>
              <a:ext uri="{FF2B5EF4-FFF2-40B4-BE49-F238E27FC236}">
                <a16:creationId xmlns:a16="http://schemas.microsoft.com/office/drawing/2014/main" id="{57C07F45-0071-F26A-897E-8432D782F7FA}"/>
              </a:ext>
            </a:extLst>
          </p:cNvPr>
          <p:cNvSpPr/>
          <p:nvPr/>
        </p:nvSpPr>
        <p:spPr>
          <a:xfrm>
            <a:off x="1737360" y="1078992"/>
            <a:ext cx="6858000" cy="685800"/>
          </a:xfrm>
          <a:prstGeom prst="rect">
            <a:avLst/>
          </a:prstGeom>
          <a:noFill/>
          <a:ln/>
        </p:spPr>
        <p:txBody>
          <a:bodyPr wrap="square" lIns="0" tIns="0" rIns="0" bIns="0" rtlCol="0" anchor="ctr"/>
          <a:lstStyle/>
          <a:p>
            <a:pPr marL="0" indent="0">
              <a:buNone/>
            </a:pPr>
            <a:r>
              <a:rPr lang="en-US" sz="1100" dirty="0">
                <a:solidFill>
                  <a:srgbClr val="FFFFFF"/>
                </a:solidFill>
              </a:rPr>
              <a:t>Raw data exactly as received</a:t>
            </a:r>
            <a:endParaRPr lang="en-US" sz="1100" dirty="0"/>
          </a:p>
          <a:p>
            <a:pPr marL="0" indent="0">
              <a:buNone/>
            </a:pPr>
            <a:r>
              <a:rPr lang="en-US" sz="1100" dirty="0">
                <a:solidFill>
                  <a:srgbClr val="FFFFFF"/>
                </a:solidFill>
              </a:rPr>
              <a:t>RAW_STOPS · RAW_ROUTES · RAW_TRIPS · RAW_STOP_TIMES</a:t>
            </a:r>
            <a:endParaRPr lang="en-US" sz="1100" dirty="0"/>
          </a:p>
          <a:p>
            <a:pPr marL="0" indent="0">
              <a:buNone/>
            </a:pPr>
            <a:r>
              <a:rPr lang="en-US" sz="1100" dirty="0">
                <a:solidFill>
                  <a:srgbClr val="FFFFFF"/>
                </a:solidFill>
              </a:rPr>
              <a:t>VARIANT type preserves original — safe to reprocess</a:t>
            </a:r>
            <a:endParaRPr lang="en-US" sz="1100" dirty="0"/>
          </a:p>
        </p:txBody>
      </p:sp>
      <p:sp>
        <p:nvSpPr>
          <p:cNvPr id="8" name="Shape 6">
            <a:extLst>
              <a:ext uri="{FF2B5EF4-FFF2-40B4-BE49-F238E27FC236}">
                <a16:creationId xmlns:a16="http://schemas.microsoft.com/office/drawing/2014/main" id="{9C6D3FF1-188F-9C93-1647-88B60CEBDA5E}"/>
              </a:ext>
            </a:extLst>
          </p:cNvPr>
          <p:cNvSpPr/>
          <p:nvPr/>
        </p:nvSpPr>
        <p:spPr>
          <a:xfrm>
            <a:off x="1737360" y="1810512"/>
            <a:ext cx="6858000" cy="36576"/>
          </a:xfrm>
          <a:prstGeom prst="rect">
            <a:avLst/>
          </a:prstGeom>
          <a:solidFill>
            <a:srgbClr val="CD7F32">
              <a:alpha val="40000"/>
            </a:srgbClr>
          </a:solidFill>
          <a:ln w="12700">
            <a:solidFill>
              <a:srgbClr val="CD7F32">
                <a:alpha val="40000"/>
              </a:srgbClr>
            </a:solidFill>
            <a:prstDash val="solid"/>
          </a:ln>
        </p:spPr>
      </p:sp>
      <p:sp>
        <p:nvSpPr>
          <p:cNvPr id="9" name="Text 7">
            <a:extLst>
              <a:ext uri="{FF2B5EF4-FFF2-40B4-BE49-F238E27FC236}">
                <a16:creationId xmlns:a16="http://schemas.microsoft.com/office/drawing/2014/main" id="{AA03868B-EAA9-090E-DD51-D61F150F4ADB}"/>
              </a:ext>
            </a:extLst>
          </p:cNvPr>
          <p:cNvSpPr/>
          <p:nvPr/>
        </p:nvSpPr>
        <p:spPr>
          <a:xfrm>
            <a:off x="1737360" y="1865376"/>
            <a:ext cx="6858000" cy="237744"/>
          </a:xfrm>
          <a:prstGeom prst="rect">
            <a:avLst/>
          </a:prstGeom>
          <a:noFill/>
          <a:ln/>
        </p:spPr>
        <p:txBody>
          <a:bodyPr wrap="square" lIns="0" tIns="0" rIns="0" bIns="0" rtlCol="0" anchor="ctr"/>
          <a:lstStyle/>
          <a:p>
            <a:pPr marL="0" indent="0">
              <a:buNone/>
            </a:pPr>
            <a:r>
              <a:rPr lang="en-US" sz="950" dirty="0">
                <a:solidFill>
                  <a:srgbClr val="CD7F32"/>
                </a:solidFill>
              </a:rPr>
              <a:t>21,829 stops · 614 routes · 138K trips · 2.78M stop times</a:t>
            </a:r>
            <a:endParaRPr lang="en-US" sz="950" dirty="0"/>
          </a:p>
        </p:txBody>
      </p:sp>
      <p:sp>
        <p:nvSpPr>
          <p:cNvPr id="10" name="Shape 8">
            <a:extLst>
              <a:ext uri="{FF2B5EF4-FFF2-40B4-BE49-F238E27FC236}">
                <a16:creationId xmlns:a16="http://schemas.microsoft.com/office/drawing/2014/main" id="{0A938678-6807-0AC9-AF55-4E568BC86A34}"/>
              </a:ext>
            </a:extLst>
          </p:cNvPr>
          <p:cNvSpPr/>
          <p:nvPr/>
        </p:nvSpPr>
        <p:spPr>
          <a:xfrm>
            <a:off x="365760" y="2304288"/>
            <a:ext cx="8412480" cy="1143000"/>
          </a:xfrm>
          <a:prstGeom prst="rect">
            <a:avLst/>
          </a:prstGeom>
          <a:solidFill>
            <a:srgbClr val="1B2A3B"/>
          </a:solidFill>
          <a:ln w="12700">
            <a:solidFill>
              <a:srgbClr val="C0C0C0"/>
            </a:solidFill>
            <a:prstDash val="solid"/>
          </a:ln>
        </p:spPr>
      </p:sp>
      <p:sp>
        <p:nvSpPr>
          <p:cNvPr id="11" name="Shape 9">
            <a:extLst>
              <a:ext uri="{FF2B5EF4-FFF2-40B4-BE49-F238E27FC236}">
                <a16:creationId xmlns:a16="http://schemas.microsoft.com/office/drawing/2014/main" id="{D04D2C90-F4CA-783F-B07C-907DE0DFE6C0}"/>
              </a:ext>
            </a:extLst>
          </p:cNvPr>
          <p:cNvSpPr/>
          <p:nvPr/>
        </p:nvSpPr>
        <p:spPr>
          <a:xfrm>
            <a:off x="365760" y="2304288"/>
            <a:ext cx="1280160" cy="1143000"/>
          </a:xfrm>
          <a:prstGeom prst="rect">
            <a:avLst/>
          </a:prstGeom>
          <a:solidFill>
            <a:srgbClr val="C0C0C0">
              <a:alpha val="75000"/>
            </a:srgbClr>
          </a:solidFill>
          <a:ln w="12700">
            <a:solidFill>
              <a:srgbClr val="C0C0C0"/>
            </a:solidFill>
            <a:prstDash val="solid"/>
          </a:ln>
        </p:spPr>
      </p:sp>
      <p:sp>
        <p:nvSpPr>
          <p:cNvPr id="12" name="Text 10">
            <a:extLst>
              <a:ext uri="{FF2B5EF4-FFF2-40B4-BE49-F238E27FC236}">
                <a16:creationId xmlns:a16="http://schemas.microsoft.com/office/drawing/2014/main" id="{B074CD3D-1A94-E9F4-B9BD-7314F23AB8F3}"/>
              </a:ext>
            </a:extLst>
          </p:cNvPr>
          <p:cNvSpPr/>
          <p:nvPr/>
        </p:nvSpPr>
        <p:spPr>
          <a:xfrm>
            <a:off x="365760" y="2304288"/>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SILVER</a:t>
            </a:r>
            <a:endParaRPr lang="en-US" sz="1800" dirty="0"/>
          </a:p>
        </p:txBody>
      </p:sp>
      <p:sp>
        <p:nvSpPr>
          <p:cNvPr id="13" name="Text 11">
            <a:extLst>
              <a:ext uri="{FF2B5EF4-FFF2-40B4-BE49-F238E27FC236}">
                <a16:creationId xmlns:a16="http://schemas.microsoft.com/office/drawing/2014/main" id="{E314BD49-3BB5-2B7A-B540-054C637DD727}"/>
              </a:ext>
            </a:extLst>
          </p:cNvPr>
          <p:cNvSpPr/>
          <p:nvPr/>
        </p:nvSpPr>
        <p:spPr>
          <a:xfrm>
            <a:off x="1737360" y="2377440"/>
            <a:ext cx="6858000" cy="685800"/>
          </a:xfrm>
          <a:prstGeom prst="rect">
            <a:avLst/>
          </a:prstGeom>
          <a:noFill/>
          <a:ln/>
        </p:spPr>
        <p:txBody>
          <a:bodyPr wrap="square" lIns="0" tIns="0" rIns="0" bIns="0" rtlCol="0" anchor="ctr"/>
          <a:lstStyle/>
          <a:p>
            <a:pPr marL="0" indent="0">
              <a:buNone/>
            </a:pPr>
            <a:r>
              <a:rPr lang="en-US" sz="1100" dirty="0">
                <a:solidFill>
                  <a:srgbClr val="FFFFFF"/>
                </a:solidFill>
              </a:rPr>
              <a:t>Cleaned, typed, validated</a:t>
            </a:r>
            <a:endParaRPr lang="en-US" sz="1100" dirty="0"/>
          </a:p>
          <a:p>
            <a:pPr marL="0" indent="0">
              <a:buNone/>
            </a:pPr>
            <a:r>
              <a:rPr lang="en-US" sz="1100" dirty="0">
                <a:solidFill>
                  <a:srgbClr val="FFFFFF"/>
                </a:solidFill>
              </a:rPr>
              <a:t>stg_stops · stg_routes · stg_stop_times</a:t>
            </a:r>
            <a:endParaRPr lang="en-US" sz="1100" dirty="0"/>
          </a:p>
          <a:p>
            <a:pPr marL="0" indent="0">
              <a:buNone/>
            </a:pPr>
            <a:r>
              <a:rPr lang="en-US" sz="1100" dirty="0">
                <a:solidFill>
                  <a:srgbClr val="FFFFFF"/>
                </a:solidFill>
              </a:rPr>
              <a:t>NULL filtering, type casting, transport mode mapping</a:t>
            </a:r>
            <a:endParaRPr lang="en-US" sz="1100" dirty="0"/>
          </a:p>
        </p:txBody>
      </p:sp>
      <p:sp>
        <p:nvSpPr>
          <p:cNvPr id="14" name="Shape 12">
            <a:extLst>
              <a:ext uri="{FF2B5EF4-FFF2-40B4-BE49-F238E27FC236}">
                <a16:creationId xmlns:a16="http://schemas.microsoft.com/office/drawing/2014/main" id="{56E43982-1634-FFDE-1ADF-C970B0EAE92F}"/>
              </a:ext>
            </a:extLst>
          </p:cNvPr>
          <p:cNvSpPr/>
          <p:nvPr/>
        </p:nvSpPr>
        <p:spPr>
          <a:xfrm>
            <a:off x="1737360" y="3108960"/>
            <a:ext cx="6858000" cy="36576"/>
          </a:xfrm>
          <a:prstGeom prst="rect">
            <a:avLst/>
          </a:prstGeom>
          <a:solidFill>
            <a:srgbClr val="C0C0C0">
              <a:alpha val="40000"/>
            </a:srgbClr>
          </a:solidFill>
          <a:ln w="12700">
            <a:solidFill>
              <a:srgbClr val="C0C0C0">
                <a:alpha val="40000"/>
              </a:srgbClr>
            </a:solidFill>
            <a:prstDash val="solid"/>
          </a:ln>
        </p:spPr>
      </p:sp>
      <p:sp>
        <p:nvSpPr>
          <p:cNvPr id="15" name="Text 13">
            <a:extLst>
              <a:ext uri="{FF2B5EF4-FFF2-40B4-BE49-F238E27FC236}">
                <a16:creationId xmlns:a16="http://schemas.microsoft.com/office/drawing/2014/main" id="{91487686-23DC-9897-7D08-14292975D004}"/>
              </a:ext>
            </a:extLst>
          </p:cNvPr>
          <p:cNvSpPr/>
          <p:nvPr/>
        </p:nvSpPr>
        <p:spPr>
          <a:xfrm>
            <a:off x="1737360" y="3163824"/>
            <a:ext cx="6858000" cy="237744"/>
          </a:xfrm>
          <a:prstGeom prst="rect">
            <a:avLst/>
          </a:prstGeom>
          <a:noFill/>
          <a:ln/>
        </p:spPr>
        <p:txBody>
          <a:bodyPr wrap="square" lIns="0" tIns="0" rIns="0" bIns="0" rtlCol="0" anchor="ctr"/>
          <a:lstStyle/>
          <a:p>
            <a:pPr marL="0" indent="0">
              <a:buNone/>
            </a:pPr>
            <a:r>
              <a:rPr lang="en-US" sz="950" dirty="0">
                <a:solidFill>
                  <a:srgbClr val="C0C0C0"/>
                </a:solidFill>
              </a:rPr>
              <a:t>Views built by dbt — always fresh from bronze</a:t>
            </a:r>
            <a:endParaRPr lang="en-US" sz="950" dirty="0"/>
          </a:p>
        </p:txBody>
      </p:sp>
      <p:sp>
        <p:nvSpPr>
          <p:cNvPr id="16" name="Shape 14">
            <a:extLst>
              <a:ext uri="{FF2B5EF4-FFF2-40B4-BE49-F238E27FC236}">
                <a16:creationId xmlns:a16="http://schemas.microsoft.com/office/drawing/2014/main" id="{A84ABD4A-719A-305B-BBFD-2A64C3E3EC9C}"/>
              </a:ext>
            </a:extLst>
          </p:cNvPr>
          <p:cNvSpPr/>
          <p:nvPr/>
        </p:nvSpPr>
        <p:spPr>
          <a:xfrm>
            <a:off x="365760" y="3602736"/>
            <a:ext cx="8412480" cy="1143000"/>
          </a:xfrm>
          <a:prstGeom prst="rect">
            <a:avLst/>
          </a:prstGeom>
          <a:solidFill>
            <a:srgbClr val="1B2A3B"/>
          </a:solidFill>
          <a:ln w="12700">
            <a:solidFill>
              <a:srgbClr val="FFD166"/>
            </a:solidFill>
            <a:prstDash val="solid"/>
          </a:ln>
        </p:spPr>
      </p:sp>
      <p:sp>
        <p:nvSpPr>
          <p:cNvPr id="17" name="Shape 15">
            <a:extLst>
              <a:ext uri="{FF2B5EF4-FFF2-40B4-BE49-F238E27FC236}">
                <a16:creationId xmlns:a16="http://schemas.microsoft.com/office/drawing/2014/main" id="{30C43671-3A49-A0BD-CF18-442CA720BF78}"/>
              </a:ext>
            </a:extLst>
          </p:cNvPr>
          <p:cNvSpPr/>
          <p:nvPr/>
        </p:nvSpPr>
        <p:spPr>
          <a:xfrm>
            <a:off x="365760" y="3602736"/>
            <a:ext cx="1280160" cy="1143000"/>
          </a:xfrm>
          <a:prstGeom prst="rect">
            <a:avLst/>
          </a:prstGeom>
          <a:solidFill>
            <a:srgbClr val="FFD166">
              <a:alpha val="75000"/>
            </a:srgbClr>
          </a:solidFill>
          <a:ln w="12700">
            <a:solidFill>
              <a:srgbClr val="FFD166"/>
            </a:solidFill>
            <a:prstDash val="solid"/>
          </a:ln>
        </p:spPr>
      </p:sp>
      <p:sp>
        <p:nvSpPr>
          <p:cNvPr id="18" name="Text 16">
            <a:extLst>
              <a:ext uri="{FF2B5EF4-FFF2-40B4-BE49-F238E27FC236}">
                <a16:creationId xmlns:a16="http://schemas.microsoft.com/office/drawing/2014/main" id="{A077F88E-86AF-B07C-0C47-BFC8C44CD792}"/>
              </a:ext>
            </a:extLst>
          </p:cNvPr>
          <p:cNvSpPr/>
          <p:nvPr/>
        </p:nvSpPr>
        <p:spPr>
          <a:xfrm>
            <a:off x="365760" y="3602736"/>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GOLD</a:t>
            </a:r>
            <a:endParaRPr lang="en-US" sz="1800" dirty="0"/>
          </a:p>
        </p:txBody>
      </p:sp>
      <p:sp>
        <p:nvSpPr>
          <p:cNvPr id="19" name="Text 17">
            <a:extLst>
              <a:ext uri="{FF2B5EF4-FFF2-40B4-BE49-F238E27FC236}">
                <a16:creationId xmlns:a16="http://schemas.microsoft.com/office/drawing/2014/main" id="{F01579A1-4A01-361C-D6BC-21D5D0820DFB}"/>
              </a:ext>
            </a:extLst>
          </p:cNvPr>
          <p:cNvSpPr/>
          <p:nvPr/>
        </p:nvSpPr>
        <p:spPr>
          <a:xfrm>
            <a:off x="1737360" y="3675888"/>
            <a:ext cx="6858000" cy="685800"/>
          </a:xfrm>
          <a:prstGeom prst="rect">
            <a:avLst/>
          </a:prstGeom>
          <a:noFill/>
          <a:ln/>
        </p:spPr>
        <p:txBody>
          <a:bodyPr wrap="square" lIns="0" tIns="0" rIns="0" bIns="0" rtlCol="0" anchor="ctr"/>
          <a:lstStyle/>
          <a:p>
            <a:pPr marL="0" indent="0">
              <a:buNone/>
            </a:pPr>
            <a:r>
              <a:rPr lang="en-US" sz="1100" dirty="0">
                <a:solidFill>
                  <a:srgbClr val="FFFFFF"/>
                </a:solidFill>
              </a:rPr>
              <a:t>Aggregated for consumption</a:t>
            </a:r>
            <a:endParaRPr lang="en-US" sz="1100" dirty="0"/>
          </a:p>
          <a:p>
            <a:pPr marL="0" indent="0">
              <a:buNone/>
            </a:pPr>
            <a:r>
              <a:rPr lang="en-US" sz="1100" dirty="0">
                <a:solidFill>
                  <a:srgbClr val="FFFFFF"/>
                </a:solidFill>
              </a:rPr>
              <a:t>fct_busiest_stops · fct_departures_by_hour · fct_routes_by_mode</a:t>
            </a:r>
            <a:endParaRPr lang="en-US" sz="1100" dirty="0"/>
          </a:p>
          <a:p>
            <a:pPr marL="0" indent="0">
              <a:buNone/>
            </a:pPr>
            <a:r>
              <a:rPr lang="en-US" sz="1100" dirty="0">
                <a:solidFill>
                  <a:srgbClr val="FFFFFF"/>
                </a:solidFill>
              </a:rPr>
              <a:t>Power BI reads only from here — no raw data exposure</a:t>
            </a:r>
            <a:endParaRPr lang="en-US" sz="1100" dirty="0"/>
          </a:p>
        </p:txBody>
      </p:sp>
      <p:sp>
        <p:nvSpPr>
          <p:cNvPr id="20" name="Shape 18">
            <a:extLst>
              <a:ext uri="{FF2B5EF4-FFF2-40B4-BE49-F238E27FC236}">
                <a16:creationId xmlns:a16="http://schemas.microsoft.com/office/drawing/2014/main" id="{995945B4-7361-A32D-2D8E-B8B379891B03}"/>
              </a:ext>
            </a:extLst>
          </p:cNvPr>
          <p:cNvSpPr/>
          <p:nvPr/>
        </p:nvSpPr>
        <p:spPr>
          <a:xfrm>
            <a:off x="1737360" y="4407408"/>
            <a:ext cx="6858000" cy="36576"/>
          </a:xfrm>
          <a:prstGeom prst="rect">
            <a:avLst/>
          </a:prstGeom>
          <a:solidFill>
            <a:srgbClr val="FFD166">
              <a:alpha val="40000"/>
            </a:srgbClr>
          </a:solidFill>
          <a:ln w="12700">
            <a:solidFill>
              <a:srgbClr val="FFD166">
                <a:alpha val="40000"/>
              </a:srgbClr>
            </a:solidFill>
            <a:prstDash val="solid"/>
          </a:ln>
        </p:spPr>
      </p:sp>
      <p:sp>
        <p:nvSpPr>
          <p:cNvPr id="21" name="Text 19">
            <a:extLst>
              <a:ext uri="{FF2B5EF4-FFF2-40B4-BE49-F238E27FC236}">
                <a16:creationId xmlns:a16="http://schemas.microsoft.com/office/drawing/2014/main" id="{5F991C6B-D8A0-4A67-7294-E4BE1C49C47E}"/>
              </a:ext>
            </a:extLst>
          </p:cNvPr>
          <p:cNvSpPr/>
          <p:nvPr/>
        </p:nvSpPr>
        <p:spPr>
          <a:xfrm>
            <a:off x="1737360" y="4462272"/>
            <a:ext cx="6858000" cy="237744"/>
          </a:xfrm>
          <a:prstGeom prst="rect">
            <a:avLst/>
          </a:prstGeom>
          <a:noFill/>
          <a:ln/>
        </p:spPr>
        <p:txBody>
          <a:bodyPr wrap="square" lIns="0" tIns="0" rIns="0" bIns="0" rtlCol="0" anchor="ctr"/>
          <a:lstStyle/>
          <a:p>
            <a:pPr marL="0" indent="0">
              <a:buNone/>
            </a:pPr>
            <a:r>
              <a:rPr lang="en-US" sz="950" dirty="0">
                <a:solidFill>
                  <a:srgbClr val="FFD166"/>
                </a:solidFill>
              </a:rPr>
              <a:t>11,809 stops ranked · 24hr pattern · 5 transport modes</a:t>
            </a:r>
            <a:endParaRPr lang="en-US" sz="950" dirty="0"/>
          </a:p>
        </p:txBody>
      </p:sp>
      <p:sp>
        <p:nvSpPr>
          <p:cNvPr id="22" name="Shape 20">
            <a:extLst>
              <a:ext uri="{FF2B5EF4-FFF2-40B4-BE49-F238E27FC236}">
                <a16:creationId xmlns:a16="http://schemas.microsoft.com/office/drawing/2014/main" id="{FA8970B4-8FA7-5F65-069A-BFAF026404E2}"/>
              </a:ext>
            </a:extLst>
          </p:cNvPr>
          <p:cNvSpPr/>
          <p:nvPr/>
        </p:nvSpPr>
        <p:spPr>
          <a:xfrm>
            <a:off x="365760" y="4745736"/>
            <a:ext cx="8412480" cy="347472"/>
          </a:xfrm>
          <a:prstGeom prst="rect">
            <a:avLst/>
          </a:prstGeom>
          <a:solidFill>
            <a:srgbClr val="00B4D8">
              <a:alpha val="15000"/>
            </a:srgbClr>
          </a:solidFill>
          <a:ln w="12700">
            <a:solidFill>
              <a:srgbClr val="00B4D8"/>
            </a:solidFill>
            <a:prstDash val="solid"/>
          </a:ln>
        </p:spPr>
      </p:sp>
      <p:sp>
        <p:nvSpPr>
          <p:cNvPr id="23" name="Text 21">
            <a:extLst>
              <a:ext uri="{FF2B5EF4-FFF2-40B4-BE49-F238E27FC236}">
                <a16:creationId xmlns:a16="http://schemas.microsoft.com/office/drawing/2014/main" id="{4C002D9F-B2E0-C5C6-BE0F-7221469721F0}"/>
              </a:ext>
            </a:extLst>
          </p:cNvPr>
          <p:cNvSpPr/>
          <p:nvPr/>
        </p:nvSpPr>
        <p:spPr>
          <a:xfrm>
            <a:off x="457200" y="4663440"/>
            <a:ext cx="8229600" cy="347472"/>
          </a:xfrm>
          <a:prstGeom prst="rect">
            <a:avLst/>
          </a:prstGeom>
          <a:noFill/>
          <a:ln/>
        </p:spPr>
        <p:txBody>
          <a:bodyPr wrap="square" lIns="0" tIns="0" rIns="0" bIns="0" rtlCol="0" anchor="ctr"/>
          <a:lstStyle/>
          <a:p>
            <a:pPr marL="0" indent="0">
              <a:buNone/>
            </a:pPr>
            <a:r>
              <a:rPr lang="en-US" sz="1000" dirty="0">
                <a:solidFill>
                  <a:srgbClr val="002060"/>
                </a:solidFill>
              </a:rPr>
              <a:t>COPY INTO from ADLS External Stage using SAS token stored in Key Vault — credentials never exposed in code</a:t>
            </a:r>
          </a:p>
        </p:txBody>
      </p:sp>
      <mc:AlternateContent xmlns:mc="http://schemas.openxmlformats.org/markup-compatibility/2006" xmlns:p14="http://schemas.microsoft.com/office/powerpoint/2010/main">
        <mc:Choice Requires="p14">
          <p:contentPart p14:bwMode="auto" r:id="rId3">
            <p14:nvContentPartPr>
              <p14:cNvPr id="24" name="Ink 23">
                <a:extLst>
                  <a:ext uri="{FF2B5EF4-FFF2-40B4-BE49-F238E27FC236}">
                    <a16:creationId xmlns:a16="http://schemas.microsoft.com/office/drawing/2014/main" id="{B94EA617-012A-95A8-2D61-8352A9C95027}"/>
                  </a:ext>
                </a:extLst>
              </p14:cNvPr>
              <p14:cNvContentPartPr/>
              <p14:nvPr/>
            </p14:nvContentPartPr>
            <p14:xfrm>
              <a:off x="445864" y="1228463"/>
              <a:ext cx="1118160" cy="899280"/>
            </p14:xfrm>
          </p:contentPart>
        </mc:Choice>
        <mc:Fallback xmlns="">
          <p:pic>
            <p:nvPicPr>
              <p:cNvPr id="24" name="Ink 23">
                <a:extLst>
                  <a:ext uri="{FF2B5EF4-FFF2-40B4-BE49-F238E27FC236}">
                    <a16:creationId xmlns:a16="http://schemas.microsoft.com/office/drawing/2014/main" id="{B94EA617-012A-95A8-2D61-8352A9C95027}"/>
                  </a:ext>
                </a:extLst>
              </p:cNvPr>
              <p:cNvPicPr/>
              <p:nvPr/>
            </p:nvPicPr>
            <p:blipFill>
              <a:blip r:embed="rId4"/>
              <a:stretch>
                <a:fillRect/>
              </a:stretch>
            </p:blipFill>
            <p:spPr>
              <a:xfrm>
                <a:off x="439744" y="1222343"/>
                <a:ext cx="1130400" cy="9115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5" name="Ink 24">
                <a:extLst>
                  <a:ext uri="{FF2B5EF4-FFF2-40B4-BE49-F238E27FC236}">
                    <a16:creationId xmlns:a16="http://schemas.microsoft.com/office/drawing/2014/main" id="{02BE1F43-E908-4237-20AD-F76F52ED1B2E}"/>
                  </a:ext>
                </a:extLst>
              </p14:cNvPr>
              <p14:cNvContentPartPr/>
              <p14:nvPr/>
            </p14:nvContentPartPr>
            <p14:xfrm>
              <a:off x="1229224" y="1204703"/>
              <a:ext cx="360" cy="360"/>
            </p14:xfrm>
          </p:contentPart>
        </mc:Choice>
        <mc:Fallback xmlns="">
          <p:pic>
            <p:nvPicPr>
              <p:cNvPr id="25" name="Ink 24">
                <a:extLst>
                  <a:ext uri="{FF2B5EF4-FFF2-40B4-BE49-F238E27FC236}">
                    <a16:creationId xmlns:a16="http://schemas.microsoft.com/office/drawing/2014/main" id="{02BE1F43-E908-4237-20AD-F76F52ED1B2E}"/>
                  </a:ext>
                </a:extLst>
              </p:cNvPr>
              <p:cNvPicPr/>
              <p:nvPr/>
            </p:nvPicPr>
            <p:blipFill>
              <a:blip r:embed="rId6"/>
              <a:stretch>
                <a:fillRect/>
              </a:stretch>
            </p:blipFill>
            <p:spPr>
              <a:xfrm>
                <a:off x="1166224" y="1142063"/>
                <a:ext cx="126000" cy="126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6" name="Ink 25">
                <a:extLst>
                  <a:ext uri="{FF2B5EF4-FFF2-40B4-BE49-F238E27FC236}">
                    <a16:creationId xmlns:a16="http://schemas.microsoft.com/office/drawing/2014/main" id="{A78D5A97-28E4-E5BF-73A2-7FB4E4E2812B}"/>
                  </a:ext>
                </a:extLst>
              </p14:cNvPr>
              <p14:cNvContentPartPr/>
              <p14:nvPr/>
            </p14:nvContentPartPr>
            <p14:xfrm>
              <a:off x="459184" y="1198223"/>
              <a:ext cx="1145880" cy="873720"/>
            </p14:xfrm>
          </p:contentPart>
        </mc:Choice>
        <mc:Fallback xmlns="">
          <p:pic>
            <p:nvPicPr>
              <p:cNvPr id="26" name="Ink 25">
                <a:extLst>
                  <a:ext uri="{FF2B5EF4-FFF2-40B4-BE49-F238E27FC236}">
                    <a16:creationId xmlns:a16="http://schemas.microsoft.com/office/drawing/2014/main" id="{A78D5A97-28E4-E5BF-73A2-7FB4E4E2812B}"/>
                  </a:ext>
                </a:extLst>
              </p:cNvPr>
              <p:cNvPicPr/>
              <p:nvPr/>
            </p:nvPicPr>
            <p:blipFill>
              <a:blip r:embed="rId8"/>
              <a:stretch>
                <a:fillRect/>
              </a:stretch>
            </p:blipFill>
            <p:spPr>
              <a:xfrm>
                <a:off x="396544" y="1135583"/>
                <a:ext cx="1271520" cy="999360"/>
              </a:xfrm>
              <a:prstGeom prst="rect">
                <a:avLst/>
              </a:prstGeom>
            </p:spPr>
          </p:pic>
        </mc:Fallback>
      </mc:AlternateContent>
    </p:spTree>
    <p:extLst>
      <p:ext uri="{BB962C8B-B14F-4D97-AF65-F5344CB8AC3E}">
        <p14:creationId xmlns:p14="http://schemas.microsoft.com/office/powerpoint/2010/main" val="29370183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1ECFD0C-A993-F56E-B6F5-E5DD86EE5318}"/>
              </a:ext>
            </a:extLst>
          </p:cNvPr>
          <p:cNvPicPr>
            <a:picLocks noChangeAspect="1"/>
          </p:cNvPicPr>
          <p:nvPr/>
        </p:nvPicPr>
        <p:blipFill>
          <a:blip r:embed="rId2"/>
          <a:stretch>
            <a:fillRect/>
          </a:stretch>
        </p:blipFill>
        <p:spPr>
          <a:xfrm>
            <a:off x="766134" y="1102125"/>
            <a:ext cx="7251517" cy="3534514"/>
          </a:xfrm>
          <a:prstGeom prst="rect">
            <a:avLst/>
          </a:prstGeom>
        </p:spPr>
      </p:pic>
      <p:sp>
        <p:nvSpPr>
          <p:cNvPr id="4" name="Text 0">
            <a:extLst>
              <a:ext uri="{FF2B5EF4-FFF2-40B4-BE49-F238E27FC236}">
                <a16:creationId xmlns:a16="http://schemas.microsoft.com/office/drawing/2014/main" id="{1486515B-6011-659B-363B-5A7899E00C28}"/>
              </a:ext>
            </a:extLst>
          </p:cNvPr>
          <p:cNvSpPr/>
          <p:nvPr/>
        </p:nvSpPr>
        <p:spPr>
          <a:xfrm>
            <a:off x="2563142" y="335411"/>
            <a:ext cx="4306530" cy="342900"/>
          </a:xfrm>
          <a:prstGeom prst="rect">
            <a:avLst/>
          </a:prstGeom>
          <a:noFill/>
          <a:ln/>
        </p:spPr>
        <p:txBody>
          <a:bodyPr wrap="square" rtlCol="0" anchor="ctr"/>
          <a:lstStyle/>
          <a:p>
            <a:r>
              <a:rPr lang="en-US" b="1" dirty="0">
                <a:solidFill>
                  <a:srgbClr val="0E7490"/>
                </a:solidFill>
              </a:rPr>
              <a:t>Snowflake Data Pipeline Setup</a:t>
            </a:r>
            <a:endParaRPr lang="en-US" dirty="0"/>
          </a:p>
        </p:txBody>
      </p:sp>
    </p:spTree>
    <p:extLst>
      <p:ext uri="{BB962C8B-B14F-4D97-AF65-F5344CB8AC3E}">
        <p14:creationId xmlns:p14="http://schemas.microsoft.com/office/powerpoint/2010/main" val="8423187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CA9FA1-5022-6A17-34F5-83473FC5E1DB}"/>
              </a:ext>
            </a:extLst>
          </p:cNvPr>
          <p:cNvPicPr>
            <a:picLocks noChangeAspect="1"/>
          </p:cNvPicPr>
          <p:nvPr/>
        </p:nvPicPr>
        <p:blipFill>
          <a:blip r:embed="rId2"/>
          <a:stretch>
            <a:fillRect/>
          </a:stretch>
        </p:blipFill>
        <p:spPr>
          <a:xfrm>
            <a:off x="684454" y="648929"/>
            <a:ext cx="4497452" cy="4334500"/>
          </a:xfrm>
          <a:prstGeom prst="rect">
            <a:avLst/>
          </a:prstGeom>
        </p:spPr>
      </p:pic>
      <p:sp>
        <p:nvSpPr>
          <p:cNvPr id="4" name="Text 0">
            <a:extLst>
              <a:ext uri="{FF2B5EF4-FFF2-40B4-BE49-F238E27FC236}">
                <a16:creationId xmlns:a16="http://schemas.microsoft.com/office/drawing/2014/main" id="{B73C7056-D93D-48A3-D113-20CF87C87D89}"/>
              </a:ext>
            </a:extLst>
          </p:cNvPr>
          <p:cNvSpPr/>
          <p:nvPr/>
        </p:nvSpPr>
        <p:spPr>
          <a:xfrm>
            <a:off x="4682613" y="2400300"/>
            <a:ext cx="4306530" cy="342900"/>
          </a:xfrm>
          <a:prstGeom prst="rect">
            <a:avLst/>
          </a:prstGeom>
          <a:noFill/>
          <a:ln/>
        </p:spPr>
        <p:txBody>
          <a:bodyPr wrap="square" rtlCol="0" anchor="ctr"/>
          <a:lstStyle/>
          <a:p>
            <a:r>
              <a:rPr lang="en-US" b="1" dirty="0">
                <a:solidFill>
                  <a:srgbClr val="0E7490"/>
                </a:solidFill>
              </a:rPr>
              <a:t>Snowflake Bronze Table Setup</a:t>
            </a:r>
            <a:endParaRPr lang="en-US" dirty="0"/>
          </a:p>
        </p:txBody>
      </p:sp>
    </p:spTree>
    <p:extLst>
      <p:ext uri="{BB962C8B-B14F-4D97-AF65-F5344CB8AC3E}">
        <p14:creationId xmlns:p14="http://schemas.microsoft.com/office/powerpoint/2010/main" val="22514295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4D7BAA8-CBDF-D8D7-0EEA-745529E9D261}"/>
              </a:ext>
            </a:extLst>
          </p:cNvPr>
          <p:cNvPicPr>
            <a:picLocks noChangeAspect="1"/>
          </p:cNvPicPr>
          <p:nvPr/>
        </p:nvPicPr>
        <p:blipFill>
          <a:blip r:embed="rId2"/>
          <a:stretch>
            <a:fillRect/>
          </a:stretch>
        </p:blipFill>
        <p:spPr>
          <a:xfrm>
            <a:off x="769065" y="452631"/>
            <a:ext cx="4069805" cy="4363866"/>
          </a:xfrm>
          <a:prstGeom prst="rect">
            <a:avLst/>
          </a:prstGeom>
        </p:spPr>
      </p:pic>
      <p:sp>
        <p:nvSpPr>
          <p:cNvPr id="4" name="Text 0">
            <a:extLst>
              <a:ext uri="{FF2B5EF4-FFF2-40B4-BE49-F238E27FC236}">
                <a16:creationId xmlns:a16="http://schemas.microsoft.com/office/drawing/2014/main" id="{1BE6F1B4-B07D-33E0-DB3E-507E59103FBD}"/>
              </a:ext>
            </a:extLst>
          </p:cNvPr>
          <p:cNvSpPr/>
          <p:nvPr/>
        </p:nvSpPr>
        <p:spPr>
          <a:xfrm>
            <a:off x="5154952" y="2338230"/>
            <a:ext cx="3480375" cy="342900"/>
          </a:xfrm>
          <a:prstGeom prst="rect">
            <a:avLst/>
          </a:prstGeom>
          <a:noFill/>
          <a:ln/>
        </p:spPr>
        <p:txBody>
          <a:bodyPr wrap="square" rtlCol="0" anchor="ctr"/>
          <a:lstStyle/>
          <a:p>
            <a:r>
              <a:rPr lang="en-US" b="1" dirty="0">
                <a:solidFill>
                  <a:srgbClr val="0E7490"/>
                </a:solidFill>
              </a:rPr>
              <a:t>Snowflake COPY INTO Bronze</a:t>
            </a:r>
            <a:endParaRPr lang="en-US" dirty="0"/>
          </a:p>
        </p:txBody>
      </p:sp>
    </p:spTree>
    <p:extLst>
      <p:ext uri="{BB962C8B-B14F-4D97-AF65-F5344CB8AC3E}">
        <p14:creationId xmlns:p14="http://schemas.microsoft.com/office/powerpoint/2010/main" val="7682241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1F510AC7-E137-B64B-2550-BFAC9CBBE87F}"/>
                  </a:ext>
                </a:extLst>
              </p14:cNvPr>
              <p14:cNvContentPartPr/>
              <p14:nvPr/>
            </p14:nvContentPartPr>
            <p14:xfrm>
              <a:off x="1768144" y="2064679"/>
              <a:ext cx="360" cy="360"/>
            </p14:xfrm>
          </p:contentPart>
        </mc:Choice>
        <mc:Fallback xmlns="">
          <p:pic>
            <p:nvPicPr>
              <p:cNvPr id="2" name="Ink 1">
                <a:extLst>
                  <a:ext uri="{FF2B5EF4-FFF2-40B4-BE49-F238E27FC236}">
                    <a16:creationId xmlns:a16="http://schemas.microsoft.com/office/drawing/2014/main" id="{1F510AC7-E137-B64B-2550-BFAC9CBBE87F}"/>
                  </a:ext>
                </a:extLst>
              </p:cNvPr>
              <p:cNvPicPr/>
              <p:nvPr/>
            </p:nvPicPr>
            <p:blipFill>
              <a:blip r:embed="rId3"/>
              <a:stretch>
                <a:fillRect/>
              </a:stretch>
            </p:blipFill>
            <p:spPr>
              <a:xfrm>
                <a:off x="1762024" y="2058559"/>
                <a:ext cx="12600" cy="12600"/>
              </a:xfrm>
              <a:prstGeom prst="rect">
                <a:avLst/>
              </a:prstGeom>
            </p:spPr>
          </p:pic>
        </mc:Fallback>
      </mc:AlternateContent>
      <p:pic>
        <p:nvPicPr>
          <p:cNvPr id="4" name="Picture 3">
            <a:extLst>
              <a:ext uri="{FF2B5EF4-FFF2-40B4-BE49-F238E27FC236}">
                <a16:creationId xmlns:a16="http://schemas.microsoft.com/office/drawing/2014/main" id="{910417D0-DE66-3CEF-8D75-ED4C73A1F71B}"/>
              </a:ext>
            </a:extLst>
          </p:cNvPr>
          <p:cNvPicPr>
            <a:picLocks noChangeAspect="1"/>
          </p:cNvPicPr>
          <p:nvPr/>
        </p:nvPicPr>
        <p:blipFill>
          <a:blip r:embed="rId4"/>
          <a:srcRect b="59863"/>
          <a:stretch>
            <a:fillRect/>
          </a:stretch>
        </p:blipFill>
        <p:spPr>
          <a:xfrm>
            <a:off x="539224" y="176611"/>
            <a:ext cx="8156659" cy="1494382"/>
          </a:xfrm>
          <a:prstGeom prst="rect">
            <a:avLst/>
          </a:prstGeom>
        </p:spPr>
      </p:pic>
      <p:pic>
        <p:nvPicPr>
          <p:cNvPr id="6" name="Picture 5">
            <a:extLst>
              <a:ext uri="{FF2B5EF4-FFF2-40B4-BE49-F238E27FC236}">
                <a16:creationId xmlns:a16="http://schemas.microsoft.com/office/drawing/2014/main" id="{26461EC7-F6A7-6DFE-7362-7AF646D3BAA6}"/>
              </a:ext>
            </a:extLst>
          </p:cNvPr>
          <p:cNvPicPr>
            <a:picLocks noChangeAspect="1"/>
          </p:cNvPicPr>
          <p:nvPr/>
        </p:nvPicPr>
        <p:blipFill>
          <a:blip r:embed="rId5"/>
          <a:srcRect b="65767"/>
          <a:stretch>
            <a:fillRect/>
          </a:stretch>
        </p:blipFill>
        <p:spPr>
          <a:xfrm>
            <a:off x="539224" y="1824558"/>
            <a:ext cx="8156659" cy="1494383"/>
          </a:xfrm>
          <a:prstGeom prst="rect">
            <a:avLst/>
          </a:prstGeom>
        </p:spPr>
      </p:pic>
      <p:pic>
        <p:nvPicPr>
          <p:cNvPr id="8" name="Picture 7">
            <a:extLst>
              <a:ext uri="{FF2B5EF4-FFF2-40B4-BE49-F238E27FC236}">
                <a16:creationId xmlns:a16="http://schemas.microsoft.com/office/drawing/2014/main" id="{9E0BAD2C-0530-13CB-4F32-6ACB96F75497}"/>
              </a:ext>
            </a:extLst>
          </p:cNvPr>
          <p:cNvPicPr>
            <a:picLocks noChangeAspect="1"/>
          </p:cNvPicPr>
          <p:nvPr/>
        </p:nvPicPr>
        <p:blipFill>
          <a:blip r:embed="rId6"/>
          <a:srcRect b="65253"/>
          <a:stretch>
            <a:fillRect/>
          </a:stretch>
        </p:blipFill>
        <p:spPr>
          <a:xfrm>
            <a:off x="490506" y="3559062"/>
            <a:ext cx="8205377" cy="1508253"/>
          </a:xfrm>
          <a:prstGeom prst="rect">
            <a:avLst/>
          </a:prstGeom>
        </p:spPr>
      </p:pic>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CBDE04D2-1018-8943-B38B-2BEA8DB3369D}"/>
                  </a:ext>
                </a:extLst>
              </p14:cNvPr>
              <p14:cNvContentPartPr/>
              <p14:nvPr/>
            </p14:nvContentPartPr>
            <p14:xfrm>
              <a:off x="8326264" y="1531583"/>
              <a:ext cx="406440" cy="7560"/>
            </p14:xfrm>
          </p:contentPart>
        </mc:Choice>
        <mc:Fallback xmlns="">
          <p:pic>
            <p:nvPicPr>
              <p:cNvPr id="10" name="Ink 9">
                <a:extLst>
                  <a:ext uri="{FF2B5EF4-FFF2-40B4-BE49-F238E27FC236}">
                    <a16:creationId xmlns:a16="http://schemas.microsoft.com/office/drawing/2014/main" id="{CBDE04D2-1018-8943-B38B-2BEA8DB3369D}"/>
                  </a:ext>
                </a:extLst>
              </p:cNvPr>
              <p:cNvPicPr/>
              <p:nvPr/>
            </p:nvPicPr>
            <p:blipFill>
              <a:blip r:embed="rId8"/>
              <a:stretch>
                <a:fillRect/>
              </a:stretch>
            </p:blipFill>
            <p:spPr>
              <a:xfrm>
                <a:off x="8290624" y="1495943"/>
                <a:ext cx="47808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1" name="Ink 10">
                <a:extLst>
                  <a:ext uri="{FF2B5EF4-FFF2-40B4-BE49-F238E27FC236}">
                    <a16:creationId xmlns:a16="http://schemas.microsoft.com/office/drawing/2014/main" id="{4800BC6A-4621-2FE4-6D87-1A2530D1F866}"/>
                  </a:ext>
                </a:extLst>
              </p14:cNvPr>
              <p14:cNvContentPartPr/>
              <p14:nvPr/>
            </p14:nvContentPartPr>
            <p14:xfrm>
              <a:off x="8368744" y="3306383"/>
              <a:ext cx="363960" cy="30600"/>
            </p14:xfrm>
          </p:contentPart>
        </mc:Choice>
        <mc:Fallback xmlns="">
          <p:pic>
            <p:nvPicPr>
              <p:cNvPr id="11" name="Ink 10">
                <a:extLst>
                  <a:ext uri="{FF2B5EF4-FFF2-40B4-BE49-F238E27FC236}">
                    <a16:creationId xmlns:a16="http://schemas.microsoft.com/office/drawing/2014/main" id="{4800BC6A-4621-2FE4-6D87-1A2530D1F866}"/>
                  </a:ext>
                </a:extLst>
              </p:cNvPr>
              <p:cNvPicPr/>
              <p:nvPr/>
            </p:nvPicPr>
            <p:blipFill>
              <a:blip r:embed="rId10"/>
              <a:stretch>
                <a:fillRect/>
              </a:stretch>
            </p:blipFill>
            <p:spPr>
              <a:xfrm>
                <a:off x="8332744" y="3270383"/>
                <a:ext cx="435600" cy="102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2" name="Ink 11">
                <a:extLst>
                  <a:ext uri="{FF2B5EF4-FFF2-40B4-BE49-F238E27FC236}">
                    <a16:creationId xmlns:a16="http://schemas.microsoft.com/office/drawing/2014/main" id="{1035395F-BD9C-163D-D10B-AB15C38C67AF}"/>
                  </a:ext>
                </a:extLst>
              </p14:cNvPr>
              <p14:cNvContentPartPr/>
              <p14:nvPr/>
            </p14:nvContentPartPr>
            <p14:xfrm>
              <a:off x="8289904" y="5025743"/>
              <a:ext cx="381960" cy="7200"/>
            </p14:xfrm>
          </p:contentPart>
        </mc:Choice>
        <mc:Fallback xmlns="">
          <p:pic>
            <p:nvPicPr>
              <p:cNvPr id="12" name="Ink 11">
                <a:extLst>
                  <a:ext uri="{FF2B5EF4-FFF2-40B4-BE49-F238E27FC236}">
                    <a16:creationId xmlns:a16="http://schemas.microsoft.com/office/drawing/2014/main" id="{1035395F-BD9C-163D-D10B-AB15C38C67AF}"/>
                  </a:ext>
                </a:extLst>
              </p:cNvPr>
              <p:cNvPicPr/>
              <p:nvPr/>
            </p:nvPicPr>
            <p:blipFill>
              <a:blip r:embed="rId12"/>
              <a:stretch>
                <a:fillRect/>
              </a:stretch>
            </p:blipFill>
            <p:spPr>
              <a:xfrm>
                <a:off x="8254264" y="4990103"/>
                <a:ext cx="453600" cy="78840"/>
              </a:xfrm>
              <a:prstGeom prst="rect">
                <a:avLst/>
              </a:prstGeom>
            </p:spPr>
          </p:pic>
        </mc:Fallback>
      </mc:AlternateContent>
    </p:spTree>
    <p:extLst>
      <p:ext uri="{BB962C8B-B14F-4D97-AF65-F5344CB8AC3E}">
        <p14:creationId xmlns:p14="http://schemas.microsoft.com/office/powerpoint/2010/main" val="292515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F6499-3C15-DD62-043B-DFDC768B36F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D8931C7-FE36-BDB7-0952-EC87433CA63E}"/>
              </a:ext>
            </a:extLst>
          </p:cNvPr>
          <p:cNvSpPr/>
          <p:nvPr/>
        </p:nvSpPr>
        <p:spPr>
          <a:xfrm>
            <a:off x="0" y="0"/>
            <a:ext cx="9144000" cy="777240"/>
          </a:xfrm>
          <a:prstGeom prst="rect">
            <a:avLst/>
          </a:prstGeom>
          <a:solidFill>
            <a:srgbClr val="1B2A3B"/>
          </a:solidFill>
          <a:ln w="12700">
            <a:solidFill>
              <a:srgbClr val="1B2A3B"/>
            </a:solidFill>
            <a:prstDash val="solid"/>
          </a:ln>
        </p:spPr>
      </p:sp>
      <p:sp>
        <p:nvSpPr>
          <p:cNvPr id="3" name="Text 1">
            <a:extLst>
              <a:ext uri="{FF2B5EF4-FFF2-40B4-BE49-F238E27FC236}">
                <a16:creationId xmlns:a16="http://schemas.microsoft.com/office/drawing/2014/main" id="{30A55121-D244-C495-0EB8-CFC303B4A4DF}"/>
              </a:ext>
            </a:extLst>
          </p:cNvPr>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SNOWFLAKE MEDALLION ARCHITECTURE</a:t>
            </a:r>
            <a:endParaRPr lang="en-US" sz="1300" dirty="0"/>
          </a:p>
        </p:txBody>
      </p:sp>
      <p:sp>
        <p:nvSpPr>
          <p:cNvPr id="4" name="Shape 2">
            <a:extLst>
              <a:ext uri="{FF2B5EF4-FFF2-40B4-BE49-F238E27FC236}">
                <a16:creationId xmlns:a16="http://schemas.microsoft.com/office/drawing/2014/main" id="{8CDB41A7-5220-4116-2BB9-0AA66D23E52C}"/>
              </a:ext>
            </a:extLst>
          </p:cNvPr>
          <p:cNvSpPr/>
          <p:nvPr/>
        </p:nvSpPr>
        <p:spPr>
          <a:xfrm>
            <a:off x="365760" y="1005840"/>
            <a:ext cx="8412480" cy="1143000"/>
          </a:xfrm>
          <a:prstGeom prst="rect">
            <a:avLst/>
          </a:prstGeom>
          <a:solidFill>
            <a:srgbClr val="1B2A3B"/>
          </a:solidFill>
          <a:ln w="12700">
            <a:solidFill>
              <a:srgbClr val="CD7F32"/>
            </a:solidFill>
            <a:prstDash val="solid"/>
          </a:ln>
        </p:spPr>
      </p:sp>
      <p:sp>
        <p:nvSpPr>
          <p:cNvPr id="5" name="Shape 3">
            <a:extLst>
              <a:ext uri="{FF2B5EF4-FFF2-40B4-BE49-F238E27FC236}">
                <a16:creationId xmlns:a16="http://schemas.microsoft.com/office/drawing/2014/main" id="{D19DC45C-DF36-6933-3E4E-9F4E2C5C137B}"/>
              </a:ext>
            </a:extLst>
          </p:cNvPr>
          <p:cNvSpPr/>
          <p:nvPr/>
        </p:nvSpPr>
        <p:spPr>
          <a:xfrm>
            <a:off x="365760" y="1005840"/>
            <a:ext cx="1280160" cy="1143000"/>
          </a:xfrm>
          <a:prstGeom prst="rect">
            <a:avLst/>
          </a:prstGeom>
          <a:solidFill>
            <a:srgbClr val="CD7F32">
              <a:alpha val="75000"/>
            </a:srgbClr>
          </a:solidFill>
          <a:ln w="12700">
            <a:solidFill>
              <a:srgbClr val="CD7F32"/>
            </a:solidFill>
            <a:prstDash val="solid"/>
          </a:ln>
        </p:spPr>
      </p:sp>
      <p:sp>
        <p:nvSpPr>
          <p:cNvPr id="6" name="Text 4">
            <a:extLst>
              <a:ext uri="{FF2B5EF4-FFF2-40B4-BE49-F238E27FC236}">
                <a16:creationId xmlns:a16="http://schemas.microsoft.com/office/drawing/2014/main" id="{FBAA4EE2-5ECC-FE52-490B-C5C236238F60}"/>
              </a:ext>
            </a:extLst>
          </p:cNvPr>
          <p:cNvSpPr/>
          <p:nvPr/>
        </p:nvSpPr>
        <p:spPr>
          <a:xfrm>
            <a:off x="365760" y="1005840"/>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BRONZE</a:t>
            </a:r>
            <a:endParaRPr lang="en-US" sz="1800" dirty="0"/>
          </a:p>
        </p:txBody>
      </p:sp>
      <p:sp>
        <p:nvSpPr>
          <p:cNvPr id="7" name="Text 5">
            <a:extLst>
              <a:ext uri="{FF2B5EF4-FFF2-40B4-BE49-F238E27FC236}">
                <a16:creationId xmlns:a16="http://schemas.microsoft.com/office/drawing/2014/main" id="{71C1AE3E-AE47-3C44-8686-29B90FC52E93}"/>
              </a:ext>
            </a:extLst>
          </p:cNvPr>
          <p:cNvSpPr/>
          <p:nvPr/>
        </p:nvSpPr>
        <p:spPr>
          <a:xfrm>
            <a:off x="1737360" y="1078992"/>
            <a:ext cx="6858000" cy="685800"/>
          </a:xfrm>
          <a:prstGeom prst="rect">
            <a:avLst/>
          </a:prstGeom>
          <a:noFill/>
          <a:ln/>
        </p:spPr>
        <p:txBody>
          <a:bodyPr wrap="square" lIns="0" tIns="0" rIns="0" bIns="0" rtlCol="0" anchor="ctr"/>
          <a:lstStyle/>
          <a:p>
            <a:pPr marL="0" indent="0">
              <a:buNone/>
            </a:pPr>
            <a:r>
              <a:rPr lang="en-US" sz="1100" dirty="0">
                <a:solidFill>
                  <a:srgbClr val="FFFFFF"/>
                </a:solidFill>
              </a:rPr>
              <a:t>Raw data exactly as received</a:t>
            </a:r>
            <a:endParaRPr lang="en-US" sz="1100" dirty="0"/>
          </a:p>
          <a:p>
            <a:pPr marL="0" indent="0">
              <a:buNone/>
            </a:pPr>
            <a:r>
              <a:rPr lang="en-US" sz="1100" dirty="0">
                <a:solidFill>
                  <a:srgbClr val="FFFFFF"/>
                </a:solidFill>
              </a:rPr>
              <a:t>RAW_STOPS · RAW_ROUTES · RAW_TRIPS · RAW_STOP_TIMES</a:t>
            </a:r>
            <a:endParaRPr lang="en-US" sz="1100" dirty="0"/>
          </a:p>
          <a:p>
            <a:pPr marL="0" indent="0">
              <a:buNone/>
            </a:pPr>
            <a:r>
              <a:rPr lang="en-US" sz="1100" dirty="0">
                <a:solidFill>
                  <a:srgbClr val="FFFFFF"/>
                </a:solidFill>
              </a:rPr>
              <a:t>VARIANT type preserves original — safe to reprocess</a:t>
            </a:r>
            <a:endParaRPr lang="en-US" sz="1100" dirty="0"/>
          </a:p>
        </p:txBody>
      </p:sp>
      <p:sp>
        <p:nvSpPr>
          <p:cNvPr id="8" name="Shape 6">
            <a:extLst>
              <a:ext uri="{FF2B5EF4-FFF2-40B4-BE49-F238E27FC236}">
                <a16:creationId xmlns:a16="http://schemas.microsoft.com/office/drawing/2014/main" id="{F2A0EB03-1ECA-905B-1BCF-884B75EB6EC6}"/>
              </a:ext>
            </a:extLst>
          </p:cNvPr>
          <p:cNvSpPr/>
          <p:nvPr/>
        </p:nvSpPr>
        <p:spPr>
          <a:xfrm>
            <a:off x="1737360" y="1810512"/>
            <a:ext cx="6858000" cy="36576"/>
          </a:xfrm>
          <a:prstGeom prst="rect">
            <a:avLst/>
          </a:prstGeom>
          <a:solidFill>
            <a:srgbClr val="CD7F32">
              <a:alpha val="40000"/>
            </a:srgbClr>
          </a:solidFill>
          <a:ln w="12700">
            <a:solidFill>
              <a:srgbClr val="CD7F32">
                <a:alpha val="40000"/>
              </a:srgbClr>
            </a:solidFill>
            <a:prstDash val="solid"/>
          </a:ln>
        </p:spPr>
      </p:sp>
      <p:sp>
        <p:nvSpPr>
          <p:cNvPr id="9" name="Text 7">
            <a:extLst>
              <a:ext uri="{FF2B5EF4-FFF2-40B4-BE49-F238E27FC236}">
                <a16:creationId xmlns:a16="http://schemas.microsoft.com/office/drawing/2014/main" id="{21820B93-226A-8A73-5AA6-FC162EC96C38}"/>
              </a:ext>
            </a:extLst>
          </p:cNvPr>
          <p:cNvSpPr/>
          <p:nvPr/>
        </p:nvSpPr>
        <p:spPr>
          <a:xfrm>
            <a:off x="1737360" y="1865376"/>
            <a:ext cx="6858000" cy="237744"/>
          </a:xfrm>
          <a:prstGeom prst="rect">
            <a:avLst/>
          </a:prstGeom>
          <a:noFill/>
          <a:ln/>
        </p:spPr>
        <p:txBody>
          <a:bodyPr wrap="square" lIns="0" tIns="0" rIns="0" bIns="0" rtlCol="0" anchor="ctr"/>
          <a:lstStyle/>
          <a:p>
            <a:pPr marL="0" indent="0">
              <a:buNone/>
            </a:pPr>
            <a:r>
              <a:rPr lang="en-US" sz="950" dirty="0">
                <a:solidFill>
                  <a:srgbClr val="CD7F32"/>
                </a:solidFill>
              </a:rPr>
              <a:t>21,829 stops · 614 routes · 138K trips · 2.78M stop times</a:t>
            </a:r>
            <a:endParaRPr lang="en-US" sz="950" dirty="0"/>
          </a:p>
        </p:txBody>
      </p:sp>
      <p:sp>
        <p:nvSpPr>
          <p:cNvPr id="10" name="Shape 8">
            <a:extLst>
              <a:ext uri="{FF2B5EF4-FFF2-40B4-BE49-F238E27FC236}">
                <a16:creationId xmlns:a16="http://schemas.microsoft.com/office/drawing/2014/main" id="{95B892A7-BFCF-BA44-F18B-4EF0C612052E}"/>
              </a:ext>
            </a:extLst>
          </p:cNvPr>
          <p:cNvSpPr/>
          <p:nvPr/>
        </p:nvSpPr>
        <p:spPr>
          <a:xfrm>
            <a:off x="365760" y="2304288"/>
            <a:ext cx="8412480" cy="1143000"/>
          </a:xfrm>
          <a:prstGeom prst="rect">
            <a:avLst/>
          </a:prstGeom>
          <a:solidFill>
            <a:srgbClr val="1B2A3B"/>
          </a:solidFill>
          <a:ln w="12700">
            <a:solidFill>
              <a:srgbClr val="C0C0C0"/>
            </a:solidFill>
            <a:prstDash val="solid"/>
          </a:ln>
        </p:spPr>
      </p:sp>
      <p:sp>
        <p:nvSpPr>
          <p:cNvPr id="11" name="Shape 9">
            <a:extLst>
              <a:ext uri="{FF2B5EF4-FFF2-40B4-BE49-F238E27FC236}">
                <a16:creationId xmlns:a16="http://schemas.microsoft.com/office/drawing/2014/main" id="{71DD3690-0239-CB0C-8FBB-DC6DB3AF4676}"/>
              </a:ext>
            </a:extLst>
          </p:cNvPr>
          <p:cNvSpPr/>
          <p:nvPr/>
        </p:nvSpPr>
        <p:spPr>
          <a:xfrm>
            <a:off x="365760" y="2304288"/>
            <a:ext cx="1280160" cy="1143000"/>
          </a:xfrm>
          <a:prstGeom prst="rect">
            <a:avLst/>
          </a:prstGeom>
          <a:solidFill>
            <a:srgbClr val="C0C0C0">
              <a:alpha val="75000"/>
            </a:srgbClr>
          </a:solidFill>
          <a:ln w="12700">
            <a:solidFill>
              <a:srgbClr val="C0C0C0"/>
            </a:solidFill>
            <a:prstDash val="solid"/>
          </a:ln>
        </p:spPr>
      </p:sp>
      <p:sp>
        <p:nvSpPr>
          <p:cNvPr id="12" name="Text 10">
            <a:extLst>
              <a:ext uri="{FF2B5EF4-FFF2-40B4-BE49-F238E27FC236}">
                <a16:creationId xmlns:a16="http://schemas.microsoft.com/office/drawing/2014/main" id="{92C437CF-903F-3FDA-75FD-953D3C6A3100}"/>
              </a:ext>
            </a:extLst>
          </p:cNvPr>
          <p:cNvSpPr/>
          <p:nvPr/>
        </p:nvSpPr>
        <p:spPr>
          <a:xfrm>
            <a:off x="365760" y="2304288"/>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SILVER</a:t>
            </a:r>
            <a:endParaRPr lang="en-US" sz="1800" dirty="0"/>
          </a:p>
        </p:txBody>
      </p:sp>
      <p:sp>
        <p:nvSpPr>
          <p:cNvPr id="13" name="Text 11">
            <a:extLst>
              <a:ext uri="{FF2B5EF4-FFF2-40B4-BE49-F238E27FC236}">
                <a16:creationId xmlns:a16="http://schemas.microsoft.com/office/drawing/2014/main" id="{83F8772A-8A2D-4974-F493-AC0CFC76FCC2}"/>
              </a:ext>
            </a:extLst>
          </p:cNvPr>
          <p:cNvSpPr/>
          <p:nvPr/>
        </p:nvSpPr>
        <p:spPr>
          <a:xfrm>
            <a:off x="1737360" y="2377440"/>
            <a:ext cx="6858000" cy="685800"/>
          </a:xfrm>
          <a:prstGeom prst="rect">
            <a:avLst/>
          </a:prstGeom>
          <a:noFill/>
          <a:ln/>
        </p:spPr>
        <p:txBody>
          <a:bodyPr wrap="square" lIns="0" tIns="0" rIns="0" bIns="0" rtlCol="0" anchor="ctr"/>
          <a:lstStyle/>
          <a:p>
            <a:pPr marL="0" indent="0">
              <a:buNone/>
            </a:pPr>
            <a:r>
              <a:rPr lang="en-US" sz="1100" dirty="0">
                <a:solidFill>
                  <a:srgbClr val="FFFFFF"/>
                </a:solidFill>
              </a:rPr>
              <a:t>Cleaned, typed, validated</a:t>
            </a:r>
            <a:endParaRPr lang="en-US" sz="1100" dirty="0"/>
          </a:p>
          <a:p>
            <a:pPr marL="0" indent="0">
              <a:buNone/>
            </a:pPr>
            <a:r>
              <a:rPr lang="en-US" sz="1100" dirty="0">
                <a:solidFill>
                  <a:srgbClr val="FFFFFF"/>
                </a:solidFill>
              </a:rPr>
              <a:t>stg_stops · stg_routes · stg_stop_times</a:t>
            </a:r>
            <a:endParaRPr lang="en-US" sz="1100" dirty="0"/>
          </a:p>
          <a:p>
            <a:pPr marL="0" indent="0">
              <a:buNone/>
            </a:pPr>
            <a:r>
              <a:rPr lang="en-US" sz="1100" dirty="0">
                <a:solidFill>
                  <a:srgbClr val="FFFFFF"/>
                </a:solidFill>
              </a:rPr>
              <a:t>NULL filtering, type casting, transport mode mapping</a:t>
            </a:r>
            <a:endParaRPr lang="en-US" sz="1100" dirty="0"/>
          </a:p>
        </p:txBody>
      </p:sp>
      <p:sp>
        <p:nvSpPr>
          <p:cNvPr id="14" name="Shape 12">
            <a:extLst>
              <a:ext uri="{FF2B5EF4-FFF2-40B4-BE49-F238E27FC236}">
                <a16:creationId xmlns:a16="http://schemas.microsoft.com/office/drawing/2014/main" id="{B557093E-6C82-DEF8-3D48-2EE56F258BE5}"/>
              </a:ext>
            </a:extLst>
          </p:cNvPr>
          <p:cNvSpPr/>
          <p:nvPr/>
        </p:nvSpPr>
        <p:spPr>
          <a:xfrm>
            <a:off x="1737360" y="3108960"/>
            <a:ext cx="6858000" cy="36576"/>
          </a:xfrm>
          <a:prstGeom prst="rect">
            <a:avLst/>
          </a:prstGeom>
          <a:solidFill>
            <a:srgbClr val="C0C0C0">
              <a:alpha val="40000"/>
            </a:srgbClr>
          </a:solidFill>
          <a:ln w="12700">
            <a:solidFill>
              <a:srgbClr val="C0C0C0">
                <a:alpha val="40000"/>
              </a:srgbClr>
            </a:solidFill>
            <a:prstDash val="solid"/>
          </a:ln>
        </p:spPr>
      </p:sp>
      <p:sp>
        <p:nvSpPr>
          <p:cNvPr id="15" name="Text 13">
            <a:extLst>
              <a:ext uri="{FF2B5EF4-FFF2-40B4-BE49-F238E27FC236}">
                <a16:creationId xmlns:a16="http://schemas.microsoft.com/office/drawing/2014/main" id="{571FBE01-27D6-55D4-C474-BE3662C13017}"/>
              </a:ext>
            </a:extLst>
          </p:cNvPr>
          <p:cNvSpPr/>
          <p:nvPr/>
        </p:nvSpPr>
        <p:spPr>
          <a:xfrm>
            <a:off x="1737360" y="3163824"/>
            <a:ext cx="6858000" cy="237744"/>
          </a:xfrm>
          <a:prstGeom prst="rect">
            <a:avLst/>
          </a:prstGeom>
          <a:noFill/>
          <a:ln/>
        </p:spPr>
        <p:txBody>
          <a:bodyPr wrap="square" lIns="0" tIns="0" rIns="0" bIns="0" rtlCol="0" anchor="ctr"/>
          <a:lstStyle/>
          <a:p>
            <a:pPr marL="0" indent="0">
              <a:buNone/>
            </a:pPr>
            <a:r>
              <a:rPr lang="en-US" sz="950" dirty="0">
                <a:solidFill>
                  <a:srgbClr val="C0C0C0"/>
                </a:solidFill>
              </a:rPr>
              <a:t>Views built by dbt — always fresh from bronze</a:t>
            </a:r>
            <a:endParaRPr lang="en-US" sz="950" dirty="0"/>
          </a:p>
        </p:txBody>
      </p:sp>
      <p:sp>
        <p:nvSpPr>
          <p:cNvPr id="16" name="Shape 14">
            <a:extLst>
              <a:ext uri="{FF2B5EF4-FFF2-40B4-BE49-F238E27FC236}">
                <a16:creationId xmlns:a16="http://schemas.microsoft.com/office/drawing/2014/main" id="{396CDED3-D86B-627B-E8FE-D379C52AB39E}"/>
              </a:ext>
            </a:extLst>
          </p:cNvPr>
          <p:cNvSpPr/>
          <p:nvPr/>
        </p:nvSpPr>
        <p:spPr>
          <a:xfrm>
            <a:off x="365760" y="3602736"/>
            <a:ext cx="8412480" cy="1143000"/>
          </a:xfrm>
          <a:prstGeom prst="rect">
            <a:avLst/>
          </a:prstGeom>
          <a:solidFill>
            <a:srgbClr val="1B2A3B"/>
          </a:solidFill>
          <a:ln w="12700">
            <a:solidFill>
              <a:srgbClr val="FFD166"/>
            </a:solidFill>
            <a:prstDash val="solid"/>
          </a:ln>
        </p:spPr>
      </p:sp>
      <p:sp>
        <p:nvSpPr>
          <p:cNvPr id="17" name="Shape 15">
            <a:extLst>
              <a:ext uri="{FF2B5EF4-FFF2-40B4-BE49-F238E27FC236}">
                <a16:creationId xmlns:a16="http://schemas.microsoft.com/office/drawing/2014/main" id="{355AABF2-7CB8-D451-869A-008D4799BFFE}"/>
              </a:ext>
            </a:extLst>
          </p:cNvPr>
          <p:cNvSpPr/>
          <p:nvPr/>
        </p:nvSpPr>
        <p:spPr>
          <a:xfrm>
            <a:off x="365760" y="3602736"/>
            <a:ext cx="1280160" cy="1143000"/>
          </a:xfrm>
          <a:prstGeom prst="rect">
            <a:avLst/>
          </a:prstGeom>
          <a:solidFill>
            <a:srgbClr val="FFD166">
              <a:alpha val="75000"/>
            </a:srgbClr>
          </a:solidFill>
          <a:ln w="12700">
            <a:solidFill>
              <a:srgbClr val="FFD166"/>
            </a:solidFill>
            <a:prstDash val="solid"/>
          </a:ln>
        </p:spPr>
      </p:sp>
      <p:sp>
        <p:nvSpPr>
          <p:cNvPr id="18" name="Text 16">
            <a:extLst>
              <a:ext uri="{FF2B5EF4-FFF2-40B4-BE49-F238E27FC236}">
                <a16:creationId xmlns:a16="http://schemas.microsoft.com/office/drawing/2014/main" id="{6B9B7F40-2BD3-FF9F-457F-05388D84C30F}"/>
              </a:ext>
            </a:extLst>
          </p:cNvPr>
          <p:cNvSpPr/>
          <p:nvPr/>
        </p:nvSpPr>
        <p:spPr>
          <a:xfrm>
            <a:off x="365760" y="3602736"/>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GOLD</a:t>
            </a:r>
            <a:endParaRPr lang="en-US" sz="1800" dirty="0"/>
          </a:p>
        </p:txBody>
      </p:sp>
      <p:sp>
        <p:nvSpPr>
          <p:cNvPr id="19" name="Text 17">
            <a:extLst>
              <a:ext uri="{FF2B5EF4-FFF2-40B4-BE49-F238E27FC236}">
                <a16:creationId xmlns:a16="http://schemas.microsoft.com/office/drawing/2014/main" id="{B1C3927F-A8D7-3985-FA09-2F0509C53216}"/>
              </a:ext>
            </a:extLst>
          </p:cNvPr>
          <p:cNvSpPr/>
          <p:nvPr/>
        </p:nvSpPr>
        <p:spPr>
          <a:xfrm>
            <a:off x="1737360" y="3675888"/>
            <a:ext cx="6858000" cy="685800"/>
          </a:xfrm>
          <a:prstGeom prst="rect">
            <a:avLst/>
          </a:prstGeom>
          <a:noFill/>
          <a:ln/>
        </p:spPr>
        <p:txBody>
          <a:bodyPr wrap="square" lIns="0" tIns="0" rIns="0" bIns="0" rtlCol="0" anchor="ctr"/>
          <a:lstStyle/>
          <a:p>
            <a:pPr marL="0" indent="0">
              <a:buNone/>
            </a:pPr>
            <a:r>
              <a:rPr lang="en-US" sz="1100" dirty="0">
                <a:solidFill>
                  <a:srgbClr val="FFFFFF"/>
                </a:solidFill>
              </a:rPr>
              <a:t>Aggregated for consumption</a:t>
            </a:r>
            <a:endParaRPr lang="en-US" sz="1100" dirty="0"/>
          </a:p>
          <a:p>
            <a:pPr marL="0" indent="0">
              <a:buNone/>
            </a:pPr>
            <a:r>
              <a:rPr lang="en-US" sz="1100" dirty="0">
                <a:solidFill>
                  <a:srgbClr val="FFFFFF"/>
                </a:solidFill>
              </a:rPr>
              <a:t>fct_busiest_stops · fct_departures_by_hour · fct_routes_by_mode</a:t>
            </a:r>
            <a:endParaRPr lang="en-US" sz="1100" dirty="0"/>
          </a:p>
          <a:p>
            <a:pPr marL="0" indent="0">
              <a:buNone/>
            </a:pPr>
            <a:r>
              <a:rPr lang="en-US" sz="1100" dirty="0">
                <a:solidFill>
                  <a:srgbClr val="FFFFFF"/>
                </a:solidFill>
              </a:rPr>
              <a:t>Power BI reads only from here — no raw data exposure</a:t>
            </a:r>
            <a:endParaRPr lang="en-US" sz="1100" dirty="0"/>
          </a:p>
        </p:txBody>
      </p:sp>
      <p:sp>
        <p:nvSpPr>
          <p:cNvPr id="20" name="Shape 18">
            <a:extLst>
              <a:ext uri="{FF2B5EF4-FFF2-40B4-BE49-F238E27FC236}">
                <a16:creationId xmlns:a16="http://schemas.microsoft.com/office/drawing/2014/main" id="{EEB4B005-59B3-44AB-BA72-156FC18C4CD8}"/>
              </a:ext>
            </a:extLst>
          </p:cNvPr>
          <p:cNvSpPr/>
          <p:nvPr/>
        </p:nvSpPr>
        <p:spPr>
          <a:xfrm>
            <a:off x="1737360" y="4407408"/>
            <a:ext cx="6858000" cy="36576"/>
          </a:xfrm>
          <a:prstGeom prst="rect">
            <a:avLst/>
          </a:prstGeom>
          <a:solidFill>
            <a:srgbClr val="FFD166">
              <a:alpha val="40000"/>
            </a:srgbClr>
          </a:solidFill>
          <a:ln w="12700">
            <a:solidFill>
              <a:srgbClr val="FFD166">
                <a:alpha val="40000"/>
              </a:srgbClr>
            </a:solidFill>
            <a:prstDash val="solid"/>
          </a:ln>
        </p:spPr>
      </p:sp>
      <p:sp>
        <p:nvSpPr>
          <p:cNvPr id="21" name="Text 19">
            <a:extLst>
              <a:ext uri="{FF2B5EF4-FFF2-40B4-BE49-F238E27FC236}">
                <a16:creationId xmlns:a16="http://schemas.microsoft.com/office/drawing/2014/main" id="{4698B175-8B55-4996-792D-8D241F71868A}"/>
              </a:ext>
            </a:extLst>
          </p:cNvPr>
          <p:cNvSpPr/>
          <p:nvPr/>
        </p:nvSpPr>
        <p:spPr>
          <a:xfrm>
            <a:off x="1737360" y="4462272"/>
            <a:ext cx="6858000" cy="237744"/>
          </a:xfrm>
          <a:prstGeom prst="rect">
            <a:avLst/>
          </a:prstGeom>
          <a:noFill/>
          <a:ln/>
        </p:spPr>
        <p:txBody>
          <a:bodyPr wrap="square" lIns="0" tIns="0" rIns="0" bIns="0" rtlCol="0" anchor="ctr"/>
          <a:lstStyle/>
          <a:p>
            <a:pPr marL="0" indent="0">
              <a:buNone/>
            </a:pPr>
            <a:r>
              <a:rPr lang="en-US" sz="950" dirty="0">
                <a:solidFill>
                  <a:srgbClr val="FFD166"/>
                </a:solidFill>
              </a:rPr>
              <a:t>11,809 stops ranked · 24hr pattern · 5 transport modes</a:t>
            </a:r>
            <a:endParaRPr lang="en-US" sz="950" dirty="0"/>
          </a:p>
        </p:txBody>
      </p:sp>
      <p:sp>
        <p:nvSpPr>
          <p:cNvPr id="22" name="Shape 20">
            <a:extLst>
              <a:ext uri="{FF2B5EF4-FFF2-40B4-BE49-F238E27FC236}">
                <a16:creationId xmlns:a16="http://schemas.microsoft.com/office/drawing/2014/main" id="{E321D549-7E23-E190-3644-0A0C15FC0D81}"/>
              </a:ext>
            </a:extLst>
          </p:cNvPr>
          <p:cNvSpPr/>
          <p:nvPr/>
        </p:nvSpPr>
        <p:spPr>
          <a:xfrm>
            <a:off x="365760" y="4663440"/>
            <a:ext cx="8412480" cy="347472"/>
          </a:xfrm>
          <a:prstGeom prst="rect">
            <a:avLst/>
          </a:prstGeom>
          <a:solidFill>
            <a:srgbClr val="00B4D8">
              <a:alpha val="15000"/>
            </a:srgbClr>
          </a:solidFill>
          <a:ln w="12700">
            <a:solidFill>
              <a:srgbClr val="00B4D8"/>
            </a:solidFill>
            <a:prstDash val="solid"/>
          </a:ln>
        </p:spPr>
      </p:sp>
      <p:sp>
        <p:nvSpPr>
          <p:cNvPr id="23" name="Text 21">
            <a:extLst>
              <a:ext uri="{FF2B5EF4-FFF2-40B4-BE49-F238E27FC236}">
                <a16:creationId xmlns:a16="http://schemas.microsoft.com/office/drawing/2014/main" id="{7F04A0B4-8086-632F-0866-20830D02CB1C}"/>
              </a:ext>
            </a:extLst>
          </p:cNvPr>
          <p:cNvSpPr/>
          <p:nvPr/>
        </p:nvSpPr>
        <p:spPr>
          <a:xfrm>
            <a:off x="457200" y="4663440"/>
            <a:ext cx="8229600" cy="347472"/>
          </a:xfrm>
          <a:prstGeom prst="rect">
            <a:avLst/>
          </a:prstGeom>
          <a:noFill/>
          <a:ln/>
        </p:spPr>
        <p:txBody>
          <a:bodyPr wrap="square" lIns="0" tIns="0" rIns="0" bIns="0" rtlCol="0" anchor="ctr"/>
          <a:lstStyle/>
          <a:p>
            <a:pPr marL="0" indent="0">
              <a:buNone/>
            </a:pPr>
            <a:r>
              <a:rPr lang="en-US" sz="1000" dirty="0">
                <a:solidFill>
                  <a:srgbClr val="002060"/>
                </a:solidFill>
              </a:rPr>
              <a:t>COPY INTO from ADLS External Stage using SAS token stored in Key Vault — credentials never exposed in code</a:t>
            </a:r>
          </a:p>
        </p:txBody>
      </p:sp>
      <mc:AlternateContent xmlns:mc="http://schemas.openxmlformats.org/markup-compatibility/2006" xmlns:p14="http://schemas.microsoft.com/office/powerpoint/2010/main">
        <mc:Choice Requires="p14">
          <p:contentPart p14:bwMode="auto" r:id="rId3">
            <p14:nvContentPartPr>
              <p14:cNvPr id="24" name="Ink 23">
                <a:extLst>
                  <a:ext uri="{FF2B5EF4-FFF2-40B4-BE49-F238E27FC236}">
                    <a16:creationId xmlns:a16="http://schemas.microsoft.com/office/drawing/2014/main" id="{9B73208F-2615-4E84-9AFF-8EE990BAE81B}"/>
                  </a:ext>
                </a:extLst>
              </p14:cNvPr>
              <p14:cNvContentPartPr/>
              <p14:nvPr/>
            </p14:nvContentPartPr>
            <p14:xfrm>
              <a:off x="592744" y="2555063"/>
              <a:ext cx="897480" cy="703080"/>
            </p14:xfrm>
          </p:contentPart>
        </mc:Choice>
        <mc:Fallback xmlns="">
          <p:pic>
            <p:nvPicPr>
              <p:cNvPr id="24" name="Ink 23">
                <a:extLst>
                  <a:ext uri="{FF2B5EF4-FFF2-40B4-BE49-F238E27FC236}">
                    <a16:creationId xmlns:a16="http://schemas.microsoft.com/office/drawing/2014/main" id="{9B73208F-2615-4E84-9AFF-8EE990BAE81B}"/>
                  </a:ext>
                </a:extLst>
              </p:cNvPr>
              <p:cNvPicPr/>
              <p:nvPr/>
            </p:nvPicPr>
            <p:blipFill>
              <a:blip r:embed="rId4"/>
              <a:stretch>
                <a:fillRect/>
              </a:stretch>
            </p:blipFill>
            <p:spPr>
              <a:xfrm>
                <a:off x="557104" y="2519423"/>
                <a:ext cx="969120" cy="774720"/>
              </a:xfrm>
              <a:prstGeom prst="rect">
                <a:avLst/>
              </a:prstGeom>
            </p:spPr>
          </p:pic>
        </mc:Fallback>
      </mc:AlternateContent>
    </p:spTree>
    <p:extLst>
      <p:ext uri="{BB962C8B-B14F-4D97-AF65-F5344CB8AC3E}">
        <p14:creationId xmlns:p14="http://schemas.microsoft.com/office/powerpoint/2010/main" val="17367973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A75FA1-C45B-D2DE-F734-E92F163368EE}"/>
              </a:ext>
            </a:extLst>
          </p:cNvPr>
          <p:cNvPicPr>
            <a:picLocks noChangeAspect="1"/>
          </p:cNvPicPr>
          <p:nvPr/>
        </p:nvPicPr>
        <p:blipFill>
          <a:blip r:embed="rId2"/>
          <a:srcRect b="33934"/>
          <a:stretch>
            <a:fillRect/>
          </a:stretch>
        </p:blipFill>
        <p:spPr>
          <a:xfrm>
            <a:off x="369463" y="1677849"/>
            <a:ext cx="7976394" cy="2440419"/>
          </a:xfrm>
          <a:prstGeom prst="rect">
            <a:avLst/>
          </a:prstGeom>
        </p:spPr>
      </p:pic>
      <p:sp>
        <p:nvSpPr>
          <p:cNvPr id="3" name="Text 0">
            <a:extLst>
              <a:ext uri="{FF2B5EF4-FFF2-40B4-BE49-F238E27FC236}">
                <a16:creationId xmlns:a16="http://schemas.microsoft.com/office/drawing/2014/main" id="{435EA9E6-06CD-6F22-588A-45C4DF96D0C3}"/>
              </a:ext>
            </a:extLst>
          </p:cNvPr>
          <p:cNvSpPr/>
          <p:nvPr/>
        </p:nvSpPr>
        <p:spPr>
          <a:xfrm>
            <a:off x="2841702" y="795558"/>
            <a:ext cx="4306530" cy="342900"/>
          </a:xfrm>
          <a:prstGeom prst="rect">
            <a:avLst/>
          </a:prstGeom>
          <a:noFill/>
          <a:ln/>
        </p:spPr>
        <p:txBody>
          <a:bodyPr wrap="square" rtlCol="0" anchor="ctr"/>
          <a:lstStyle/>
          <a:p>
            <a:r>
              <a:rPr lang="en-US" b="1" dirty="0">
                <a:solidFill>
                  <a:srgbClr val="0E7490"/>
                </a:solidFill>
              </a:rPr>
              <a:t>Snowflake Silver Layer (</a:t>
            </a:r>
            <a:r>
              <a:rPr lang="en-US" b="1" dirty="0" err="1">
                <a:solidFill>
                  <a:srgbClr val="0E7490"/>
                </a:solidFill>
              </a:rPr>
              <a:t>dbt</a:t>
            </a:r>
            <a:r>
              <a:rPr lang="en-US" b="1" dirty="0">
                <a:solidFill>
                  <a:srgbClr val="0E7490"/>
                </a:solidFill>
              </a:rPr>
              <a:t>)</a:t>
            </a:r>
            <a:endParaRPr lang="en-US" dirty="0"/>
          </a:p>
        </p:txBody>
      </p:sp>
    </p:spTree>
    <p:extLst>
      <p:ext uri="{BB962C8B-B14F-4D97-AF65-F5344CB8AC3E}">
        <p14:creationId xmlns:p14="http://schemas.microsoft.com/office/powerpoint/2010/main" val="42058383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F9284-565A-71CF-03CC-8725E5C7174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1765D59-F0F1-2264-10C4-31EB1276B23D}"/>
              </a:ext>
            </a:extLst>
          </p:cNvPr>
          <p:cNvSpPr/>
          <p:nvPr/>
        </p:nvSpPr>
        <p:spPr>
          <a:xfrm>
            <a:off x="0" y="0"/>
            <a:ext cx="9144000" cy="777240"/>
          </a:xfrm>
          <a:prstGeom prst="rect">
            <a:avLst/>
          </a:prstGeom>
          <a:solidFill>
            <a:srgbClr val="1B2A3B"/>
          </a:solidFill>
          <a:ln w="12700">
            <a:solidFill>
              <a:srgbClr val="1B2A3B"/>
            </a:solidFill>
            <a:prstDash val="solid"/>
          </a:ln>
        </p:spPr>
      </p:sp>
      <p:sp>
        <p:nvSpPr>
          <p:cNvPr id="3" name="Text 1">
            <a:extLst>
              <a:ext uri="{FF2B5EF4-FFF2-40B4-BE49-F238E27FC236}">
                <a16:creationId xmlns:a16="http://schemas.microsoft.com/office/drawing/2014/main" id="{4058C6B7-3527-7CB5-407D-2B2F33457C94}"/>
              </a:ext>
            </a:extLst>
          </p:cNvPr>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SNOWFLAKE MEDALLION ARCHITECTURE</a:t>
            </a:r>
            <a:endParaRPr lang="en-US" sz="1300" dirty="0"/>
          </a:p>
        </p:txBody>
      </p:sp>
      <p:sp>
        <p:nvSpPr>
          <p:cNvPr id="4" name="Shape 2">
            <a:extLst>
              <a:ext uri="{FF2B5EF4-FFF2-40B4-BE49-F238E27FC236}">
                <a16:creationId xmlns:a16="http://schemas.microsoft.com/office/drawing/2014/main" id="{2DD1D5A3-C641-8A7F-2D1B-B9457434A7CD}"/>
              </a:ext>
            </a:extLst>
          </p:cNvPr>
          <p:cNvSpPr/>
          <p:nvPr/>
        </p:nvSpPr>
        <p:spPr>
          <a:xfrm>
            <a:off x="365760" y="1005840"/>
            <a:ext cx="8412480" cy="1143000"/>
          </a:xfrm>
          <a:prstGeom prst="rect">
            <a:avLst/>
          </a:prstGeom>
          <a:solidFill>
            <a:srgbClr val="1B2A3B"/>
          </a:solidFill>
          <a:ln w="12700">
            <a:solidFill>
              <a:srgbClr val="CD7F32"/>
            </a:solidFill>
            <a:prstDash val="solid"/>
          </a:ln>
        </p:spPr>
      </p:sp>
      <p:sp>
        <p:nvSpPr>
          <p:cNvPr id="5" name="Shape 3">
            <a:extLst>
              <a:ext uri="{FF2B5EF4-FFF2-40B4-BE49-F238E27FC236}">
                <a16:creationId xmlns:a16="http://schemas.microsoft.com/office/drawing/2014/main" id="{3436A686-03F5-8303-59DD-E7C74421E96C}"/>
              </a:ext>
            </a:extLst>
          </p:cNvPr>
          <p:cNvSpPr/>
          <p:nvPr/>
        </p:nvSpPr>
        <p:spPr>
          <a:xfrm>
            <a:off x="365760" y="1005840"/>
            <a:ext cx="1280160" cy="1143000"/>
          </a:xfrm>
          <a:prstGeom prst="rect">
            <a:avLst/>
          </a:prstGeom>
          <a:solidFill>
            <a:srgbClr val="CD7F32">
              <a:alpha val="75000"/>
            </a:srgbClr>
          </a:solidFill>
          <a:ln w="12700">
            <a:solidFill>
              <a:srgbClr val="CD7F32"/>
            </a:solidFill>
            <a:prstDash val="solid"/>
          </a:ln>
        </p:spPr>
      </p:sp>
      <p:sp>
        <p:nvSpPr>
          <p:cNvPr id="6" name="Text 4">
            <a:extLst>
              <a:ext uri="{FF2B5EF4-FFF2-40B4-BE49-F238E27FC236}">
                <a16:creationId xmlns:a16="http://schemas.microsoft.com/office/drawing/2014/main" id="{45E65348-1ED1-E95E-9E29-6C40E6F0A66B}"/>
              </a:ext>
            </a:extLst>
          </p:cNvPr>
          <p:cNvSpPr/>
          <p:nvPr/>
        </p:nvSpPr>
        <p:spPr>
          <a:xfrm>
            <a:off x="365760" y="1005840"/>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BRONZE</a:t>
            </a:r>
            <a:endParaRPr lang="en-US" sz="1800" dirty="0"/>
          </a:p>
        </p:txBody>
      </p:sp>
      <p:sp>
        <p:nvSpPr>
          <p:cNvPr id="7" name="Text 5">
            <a:extLst>
              <a:ext uri="{FF2B5EF4-FFF2-40B4-BE49-F238E27FC236}">
                <a16:creationId xmlns:a16="http://schemas.microsoft.com/office/drawing/2014/main" id="{78C07DED-C774-AB5E-A8EC-A8D48D353C59}"/>
              </a:ext>
            </a:extLst>
          </p:cNvPr>
          <p:cNvSpPr/>
          <p:nvPr/>
        </p:nvSpPr>
        <p:spPr>
          <a:xfrm>
            <a:off x="1737360" y="1078992"/>
            <a:ext cx="6858000" cy="685800"/>
          </a:xfrm>
          <a:prstGeom prst="rect">
            <a:avLst/>
          </a:prstGeom>
          <a:noFill/>
          <a:ln/>
        </p:spPr>
        <p:txBody>
          <a:bodyPr wrap="square" lIns="0" tIns="0" rIns="0" bIns="0" rtlCol="0" anchor="ctr"/>
          <a:lstStyle/>
          <a:p>
            <a:pPr marL="0" indent="0">
              <a:buNone/>
            </a:pPr>
            <a:r>
              <a:rPr lang="en-US" sz="1100" dirty="0">
                <a:solidFill>
                  <a:srgbClr val="FFFFFF"/>
                </a:solidFill>
              </a:rPr>
              <a:t>Raw data exactly as received</a:t>
            </a:r>
            <a:endParaRPr lang="en-US" sz="1100" dirty="0"/>
          </a:p>
          <a:p>
            <a:pPr marL="0" indent="0">
              <a:buNone/>
            </a:pPr>
            <a:r>
              <a:rPr lang="en-US" sz="1100" dirty="0">
                <a:solidFill>
                  <a:srgbClr val="FFFFFF"/>
                </a:solidFill>
              </a:rPr>
              <a:t>RAW_STOPS · RAW_ROUTES · RAW_TRIPS · RAW_STOP_TIMES</a:t>
            </a:r>
            <a:endParaRPr lang="en-US" sz="1100" dirty="0"/>
          </a:p>
          <a:p>
            <a:pPr marL="0" indent="0">
              <a:buNone/>
            </a:pPr>
            <a:r>
              <a:rPr lang="en-US" sz="1100" dirty="0">
                <a:solidFill>
                  <a:srgbClr val="FFFFFF"/>
                </a:solidFill>
              </a:rPr>
              <a:t>VARIANT type preserves original — safe to reprocess</a:t>
            </a:r>
            <a:endParaRPr lang="en-US" sz="1100" dirty="0"/>
          </a:p>
        </p:txBody>
      </p:sp>
      <p:sp>
        <p:nvSpPr>
          <p:cNvPr id="8" name="Shape 6">
            <a:extLst>
              <a:ext uri="{FF2B5EF4-FFF2-40B4-BE49-F238E27FC236}">
                <a16:creationId xmlns:a16="http://schemas.microsoft.com/office/drawing/2014/main" id="{B7C746D6-5FEB-2850-A649-D3CF6AF940CE}"/>
              </a:ext>
            </a:extLst>
          </p:cNvPr>
          <p:cNvSpPr/>
          <p:nvPr/>
        </p:nvSpPr>
        <p:spPr>
          <a:xfrm>
            <a:off x="1737360" y="1810512"/>
            <a:ext cx="6858000" cy="36576"/>
          </a:xfrm>
          <a:prstGeom prst="rect">
            <a:avLst/>
          </a:prstGeom>
          <a:solidFill>
            <a:srgbClr val="CD7F32">
              <a:alpha val="40000"/>
            </a:srgbClr>
          </a:solidFill>
          <a:ln w="12700">
            <a:solidFill>
              <a:srgbClr val="CD7F32">
                <a:alpha val="40000"/>
              </a:srgbClr>
            </a:solidFill>
            <a:prstDash val="solid"/>
          </a:ln>
        </p:spPr>
      </p:sp>
      <p:sp>
        <p:nvSpPr>
          <p:cNvPr id="9" name="Text 7">
            <a:extLst>
              <a:ext uri="{FF2B5EF4-FFF2-40B4-BE49-F238E27FC236}">
                <a16:creationId xmlns:a16="http://schemas.microsoft.com/office/drawing/2014/main" id="{790039DE-A821-E235-B8EA-ECC2513AD530}"/>
              </a:ext>
            </a:extLst>
          </p:cNvPr>
          <p:cNvSpPr/>
          <p:nvPr/>
        </p:nvSpPr>
        <p:spPr>
          <a:xfrm>
            <a:off x="1737360" y="1865376"/>
            <a:ext cx="6858000" cy="237744"/>
          </a:xfrm>
          <a:prstGeom prst="rect">
            <a:avLst/>
          </a:prstGeom>
          <a:noFill/>
          <a:ln/>
        </p:spPr>
        <p:txBody>
          <a:bodyPr wrap="square" lIns="0" tIns="0" rIns="0" bIns="0" rtlCol="0" anchor="ctr"/>
          <a:lstStyle/>
          <a:p>
            <a:pPr marL="0" indent="0">
              <a:buNone/>
            </a:pPr>
            <a:r>
              <a:rPr lang="en-US" sz="950" dirty="0">
                <a:solidFill>
                  <a:srgbClr val="CD7F32"/>
                </a:solidFill>
              </a:rPr>
              <a:t>21,829 stops · 614 routes · 138K trips · 2.78M stop times</a:t>
            </a:r>
            <a:endParaRPr lang="en-US" sz="950" dirty="0"/>
          </a:p>
        </p:txBody>
      </p:sp>
      <p:sp>
        <p:nvSpPr>
          <p:cNvPr id="10" name="Shape 8">
            <a:extLst>
              <a:ext uri="{FF2B5EF4-FFF2-40B4-BE49-F238E27FC236}">
                <a16:creationId xmlns:a16="http://schemas.microsoft.com/office/drawing/2014/main" id="{424576B5-14ED-97EE-F482-DFE37EDFF13A}"/>
              </a:ext>
            </a:extLst>
          </p:cNvPr>
          <p:cNvSpPr/>
          <p:nvPr/>
        </p:nvSpPr>
        <p:spPr>
          <a:xfrm>
            <a:off x="365760" y="2304288"/>
            <a:ext cx="8412480" cy="1143000"/>
          </a:xfrm>
          <a:prstGeom prst="rect">
            <a:avLst/>
          </a:prstGeom>
          <a:solidFill>
            <a:srgbClr val="1B2A3B"/>
          </a:solidFill>
          <a:ln w="12700">
            <a:solidFill>
              <a:srgbClr val="C0C0C0"/>
            </a:solidFill>
            <a:prstDash val="solid"/>
          </a:ln>
        </p:spPr>
      </p:sp>
      <p:sp>
        <p:nvSpPr>
          <p:cNvPr id="11" name="Shape 9">
            <a:extLst>
              <a:ext uri="{FF2B5EF4-FFF2-40B4-BE49-F238E27FC236}">
                <a16:creationId xmlns:a16="http://schemas.microsoft.com/office/drawing/2014/main" id="{ED978EF6-25A0-070B-14C0-58A6FF8E0B64}"/>
              </a:ext>
            </a:extLst>
          </p:cNvPr>
          <p:cNvSpPr/>
          <p:nvPr/>
        </p:nvSpPr>
        <p:spPr>
          <a:xfrm>
            <a:off x="365760" y="2304288"/>
            <a:ext cx="1280160" cy="1143000"/>
          </a:xfrm>
          <a:prstGeom prst="rect">
            <a:avLst/>
          </a:prstGeom>
          <a:solidFill>
            <a:srgbClr val="C0C0C0">
              <a:alpha val="75000"/>
            </a:srgbClr>
          </a:solidFill>
          <a:ln w="12700">
            <a:solidFill>
              <a:srgbClr val="C0C0C0"/>
            </a:solidFill>
            <a:prstDash val="solid"/>
          </a:ln>
        </p:spPr>
      </p:sp>
      <p:sp>
        <p:nvSpPr>
          <p:cNvPr id="12" name="Text 10">
            <a:extLst>
              <a:ext uri="{FF2B5EF4-FFF2-40B4-BE49-F238E27FC236}">
                <a16:creationId xmlns:a16="http://schemas.microsoft.com/office/drawing/2014/main" id="{B4020247-E128-BD52-7162-08A397D82C4B}"/>
              </a:ext>
            </a:extLst>
          </p:cNvPr>
          <p:cNvSpPr/>
          <p:nvPr/>
        </p:nvSpPr>
        <p:spPr>
          <a:xfrm>
            <a:off x="365760" y="2304288"/>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SILVER</a:t>
            </a:r>
            <a:endParaRPr lang="en-US" sz="1800" dirty="0"/>
          </a:p>
        </p:txBody>
      </p:sp>
      <p:sp>
        <p:nvSpPr>
          <p:cNvPr id="13" name="Text 11">
            <a:extLst>
              <a:ext uri="{FF2B5EF4-FFF2-40B4-BE49-F238E27FC236}">
                <a16:creationId xmlns:a16="http://schemas.microsoft.com/office/drawing/2014/main" id="{2D00265F-767E-5066-083A-82512AFD72E2}"/>
              </a:ext>
            </a:extLst>
          </p:cNvPr>
          <p:cNvSpPr/>
          <p:nvPr/>
        </p:nvSpPr>
        <p:spPr>
          <a:xfrm>
            <a:off x="1737360" y="2377440"/>
            <a:ext cx="6858000" cy="685800"/>
          </a:xfrm>
          <a:prstGeom prst="rect">
            <a:avLst/>
          </a:prstGeom>
          <a:noFill/>
          <a:ln/>
        </p:spPr>
        <p:txBody>
          <a:bodyPr wrap="square" lIns="0" tIns="0" rIns="0" bIns="0" rtlCol="0" anchor="ctr"/>
          <a:lstStyle/>
          <a:p>
            <a:pPr marL="0" indent="0">
              <a:buNone/>
            </a:pPr>
            <a:r>
              <a:rPr lang="en-US" sz="1100" dirty="0">
                <a:solidFill>
                  <a:srgbClr val="FFFFFF"/>
                </a:solidFill>
              </a:rPr>
              <a:t>Cleaned, typed, validated</a:t>
            </a:r>
            <a:endParaRPr lang="en-US" sz="1100" dirty="0"/>
          </a:p>
          <a:p>
            <a:pPr marL="0" indent="0">
              <a:buNone/>
            </a:pPr>
            <a:r>
              <a:rPr lang="en-US" sz="1100" dirty="0">
                <a:solidFill>
                  <a:srgbClr val="FFFFFF"/>
                </a:solidFill>
              </a:rPr>
              <a:t>stg_stops · stg_routes · stg_stop_times</a:t>
            </a:r>
            <a:endParaRPr lang="en-US" sz="1100" dirty="0"/>
          </a:p>
          <a:p>
            <a:pPr marL="0" indent="0">
              <a:buNone/>
            </a:pPr>
            <a:r>
              <a:rPr lang="en-US" sz="1100" dirty="0">
                <a:solidFill>
                  <a:srgbClr val="FFFFFF"/>
                </a:solidFill>
              </a:rPr>
              <a:t>NULL filtering, type casting, transport mode mapping</a:t>
            </a:r>
            <a:endParaRPr lang="en-US" sz="1100" dirty="0"/>
          </a:p>
        </p:txBody>
      </p:sp>
      <p:sp>
        <p:nvSpPr>
          <p:cNvPr id="14" name="Shape 12">
            <a:extLst>
              <a:ext uri="{FF2B5EF4-FFF2-40B4-BE49-F238E27FC236}">
                <a16:creationId xmlns:a16="http://schemas.microsoft.com/office/drawing/2014/main" id="{4D801552-62CF-2398-F286-FB7998A2FA8A}"/>
              </a:ext>
            </a:extLst>
          </p:cNvPr>
          <p:cNvSpPr/>
          <p:nvPr/>
        </p:nvSpPr>
        <p:spPr>
          <a:xfrm>
            <a:off x="1737360" y="3108960"/>
            <a:ext cx="6858000" cy="36576"/>
          </a:xfrm>
          <a:prstGeom prst="rect">
            <a:avLst/>
          </a:prstGeom>
          <a:solidFill>
            <a:srgbClr val="C0C0C0">
              <a:alpha val="40000"/>
            </a:srgbClr>
          </a:solidFill>
          <a:ln w="12700">
            <a:solidFill>
              <a:srgbClr val="C0C0C0">
                <a:alpha val="40000"/>
              </a:srgbClr>
            </a:solidFill>
            <a:prstDash val="solid"/>
          </a:ln>
        </p:spPr>
      </p:sp>
      <p:sp>
        <p:nvSpPr>
          <p:cNvPr id="15" name="Text 13">
            <a:extLst>
              <a:ext uri="{FF2B5EF4-FFF2-40B4-BE49-F238E27FC236}">
                <a16:creationId xmlns:a16="http://schemas.microsoft.com/office/drawing/2014/main" id="{BC14E351-67A0-499B-1446-3188CFCCF7F3}"/>
              </a:ext>
            </a:extLst>
          </p:cNvPr>
          <p:cNvSpPr/>
          <p:nvPr/>
        </p:nvSpPr>
        <p:spPr>
          <a:xfrm>
            <a:off x="1737360" y="3163824"/>
            <a:ext cx="6858000" cy="237744"/>
          </a:xfrm>
          <a:prstGeom prst="rect">
            <a:avLst/>
          </a:prstGeom>
          <a:noFill/>
          <a:ln/>
        </p:spPr>
        <p:txBody>
          <a:bodyPr wrap="square" lIns="0" tIns="0" rIns="0" bIns="0" rtlCol="0" anchor="ctr"/>
          <a:lstStyle/>
          <a:p>
            <a:pPr marL="0" indent="0">
              <a:buNone/>
            </a:pPr>
            <a:r>
              <a:rPr lang="en-US" sz="950" dirty="0">
                <a:solidFill>
                  <a:srgbClr val="C0C0C0"/>
                </a:solidFill>
              </a:rPr>
              <a:t>Views built by dbt — always fresh from bronze</a:t>
            </a:r>
            <a:endParaRPr lang="en-US" sz="950" dirty="0"/>
          </a:p>
        </p:txBody>
      </p:sp>
      <p:sp>
        <p:nvSpPr>
          <p:cNvPr id="16" name="Shape 14">
            <a:extLst>
              <a:ext uri="{FF2B5EF4-FFF2-40B4-BE49-F238E27FC236}">
                <a16:creationId xmlns:a16="http://schemas.microsoft.com/office/drawing/2014/main" id="{CB8AED88-4417-A123-2802-6FA63A7601BA}"/>
              </a:ext>
            </a:extLst>
          </p:cNvPr>
          <p:cNvSpPr/>
          <p:nvPr/>
        </p:nvSpPr>
        <p:spPr>
          <a:xfrm>
            <a:off x="365760" y="3602736"/>
            <a:ext cx="8412480" cy="1143000"/>
          </a:xfrm>
          <a:prstGeom prst="rect">
            <a:avLst/>
          </a:prstGeom>
          <a:solidFill>
            <a:srgbClr val="1B2A3B"/>
          </a:solidFill>
          <a:ln w="12700">
            <a:solidFill>
              <a:srgbClr val="FFD166"/>
            </a:solidFill>
            <a:prstDash val="solid"/>
          </a:ln>
        </p:spPr>
      </p:sp>
      <p:sp>
        <p:nvSpPr>
          <p:cNvPr id="17" name="Shape 15">
            <a:extLst>
              <a:ext uri="{FF2B5EF4-FFF2-40B4-BE49-F238E27FC236}">
                <a16:creationId xmlns:a16="http://schemas.microsoft.com/office/drawing/2014/main" id="{B31085F6-CAA2-3BE4-CE02-0E1F8161986A}"/>
              </a:ext>
            </a:extLst>
          </p:cNvPr>
          <p:cNvSpPr/>
          <p:nvPr/>
        </p:nvSpPr>
        <p:spPr>
          <a:xfrm>
            <a:off x="365760" y="3602736"/>
            <a:ext cx="1280160" cy="1143000"/>
          </a:xfrm>
          <a:prstGeom prst="rect">
            <a:avLst/>
          </a:prstGeom>
          <a:solidFill>
            <a:srgbClr val="FFD166">
              <a:alpha val="75000"/>
            </a:srgbClr>
          </a:solidFill>
          <a:ln w="12700">
            <a:solidFill>
              <a:srgbClr val="FFD166"/>
            </a:solidFill>
            <a:prstDash val="solid"/>
          </a:ln>
        </p:spPr>
      </p:sp>
      <p:sp>
        <p:nvSpPr>
          <p:cNvPr id="18" name="Text 16">
            <a:extLst>
              <a:ext uri="{FF2B5EF4-FFF2-40B4-BE49-F238E27FC236}">
                <a16:creationId xmlns:a16="http://schemas.microsoft.com/office/drawing/2014/main" id="{60598370-D28C-7842-4E3E-9575693D493C}"/>
              </a:ext>
            </a:extLst>
          </p:cNvPr>
          <p:cNvSpPr/>
          <p:nvPr/>
        </p:nvSpPr>
        <p:spPr>
          <a:xfrm>
            <a:off x="365760" y="3602736"/>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GOLD</a:t>
            </a:r>
            <a:endParaRPr lang="en-US" sz="1800" dirty="0"/>
          </a:p>
        </p:txBody>
      </p:sp>
      <p:sp>
        <p:nvSpPr>
          <p:cNvPr id="19" name="Text 17">
            <a:extLst>
              <a:ext uri="{FF2B5EF4-FFF2-40B4-BE49-F238E27FC236}">
                <a16:creationId xmlns:a16="http://schemas.microsoft.com/office/drawing/2014/main" id="{11361BA9-B1C3-CBD6-CB14-13701027DEA6}"/>
              </a:ext>
            </a:extLst>
          </p:cNvPr>
          <p:cNvSpPr/>
          <p:nvPr/>
        </p:nvSpPr>
        <p:spPr>
          <a:xfrm>
            <a:off x="1737360" y="3675888"/>
            <a:ext cx="6858000" cy="685800"/>
          </a:xfrm>
          <a:prstGeom prst="rect">
            <a:avLst/>
          </a:prstGeom>
          <a:noFill/>
          <a:ln/>
        </p:spPr>
        <p:txBody>
          <a:bodyPr wrap="square" lIns="0" tIns="0" rIns="0" bIns="0" rtlCol="0" anchor="ctr"/>
          <a:lstStyle/>
          <a:p>
            <a:pPr marL="0" indent="0">
              <a:buNone/>
            </a:pPr>
            <a:r>
              <a:rPr lang="en-US" sz="1100" dirty="0">
                <a:solidFill>
                  <a:srgbClr val="FFFFFF"/>
                </a:solidFill>
              </a:rPr>
              <a:t>Aggregated for consumption</a:t>
            </a:r>
            <a:endParaRPr lang="en-US" sz="1100" dirty="0"/>
          </a:p>
          <a:p>
            <a:pPr marL="0" indent="0">
              <a:buNone/>
            </a:pPr>
            <a:r>
              <a:rPr lang="en-US" sz="1100" dirty="0">
                <a:solidFill>
                  <a:srgbClr val="FFFFFF"/>
                </a:solidFill>
              </a:rPr>
              <a:t>fct_busiest_stops · fct_departures_by_hour · fct_routes_by_mode</a:t>
            </a:r>
            <a:endParaRPr lang="en-US" sz="1100" dirty="0"/>
          </a:p>
          <a:p>
            <a:pPr marL="0" indent="0">
              <a:buNone/>
            </a:pPr>
            <a:r>
              <a:rPr lang="en-US" sz="1100" dirty="0">
                <a:solidFill>
                  <a:srgbClr val="FFFFFF"/>
                </a:solidFill>
              </a:rPr>
              <a:t>Power BI reads only from here — no raw data exposure</a:t>
            </a:r>
            <a:endParaRPr lang="en-US" sz="1100" dirty="0"/>
          </a:p>
        </p:txBody>
      </p:sp>
      <p:sp>
        <p:nvSpPr>
          <p:cNvPr id="20" name="Shape 18">
            <a:extLst>
              <a:ext uri="{FF2B5EF4-FFF2-40B4-BE49-F238E27FC236}">
                <a16:creationId xmlns:a16="http://schemas.microsoft.com/office/drawing/2014/main" id="{801116FF-08DE-977B-5439-B2E28296C490}"/>
              </a:ext>
            </a:extLst>
          </p:cNvPr>
          <p:cNvSpPr/>
          <p:nvPr/>
        </p:nvSpPr>
        <p:spPr>
          <a:xfrm>
            <a:off x="1737360" y="4407408"/>
            <a:ext cx="6858000" cy="36576"/>
          </a:xfrm>
          <a:prstGeom prst="rect">
            <a:avLst/>
          </a:prstGeom>
          <a:solidFill>
            <a:srgbClr val="FFD166">
              <a:alpha val="40000"/>
            </a:srgbClr>
          </a:solidFill>
          <a:ln w="12700">
            <a:solidFill>
              <a:srgbClr val="FFD166">
                <a:alpha val="40000"/>
              </a:srgbClr>
            </a:solidFill>
            <a:prstDash val="solid"/>
          </a:ln>
        </p:spPr>
      </p:sp>
      <p:sp>
        <p:nvSpPr>
          <p:cNvPr id="21" name="Text 19">
            <a:extLst>
              <a:ext uri="{FF2B5EF4-FFF2-40B4-BE49-F238E27FC236}">
                <a16:creationId xmlns:a16="http://schemas.microsoft.com/office/drawing/2014/main" id="{E7DB2529-BEAC-C9CD-C494-30C3DDE5C9C7}"/>
              </a:ext>
            </a:extLst>
          </p:cNvPr>
          <p:cNvSpPr/>
          <p:nvPr/>
        </p:nvSpPr>
        <p:spPr>
          <a:xfrm>
            <a:off x="1737360" y="4462272"/>
            <a:ext cx="6858000" cy="237744"/>
          </a:xfrm>
          <a:prstGeom prst="rect">
            <a:avLst/>
          </a:prstGeom>
          <a:noFill/>
          <a:ln/>
        </p:spPr>
        <p:txBody>
          <a:bodyPr wrap="square" lIns="0" tIns="0" rIns="0" bIns="0" rtlCol="0" anchor="ctr"/>
          <a:lstStyle/>
          <a:p>
            <a:pPr marL="0" indent="0">
              <a:buNone/>
            </a:pPr>
            <a:r>
              <a:rPr lang="en-US" sz="950" dirty="0">
                <a:solidFill>
                  <a:srgbClr val="FFD166"/>
                </a:solidFill>
              </a:rPr>
              <a:t>11,809 stops ranked · 24hr pattern · 5 transport modes</a:t>
            </a:r>
            <a:endParaRPr lang="en-US" sz="950" dirty="0"/>
          </a:p>
        </p:txBody>
      </p:sp>
      <p:sp>
        <p:nvSpPr>
          <p:cNvPr id="22" name="Shape 20">
            <a:extLst>
              <a:ext uri="{FF2B5EF4-FFF2-40B4-BE49-F238E27FC236}">
                <a16:creationId xmlns:a16="http://schemas.microsoft.com/office/drawing/2014/main" id="{D8A62855-6B75-8D6C-AF6C-3D24BBC42451}"/>
              </a:ext>
            </a:extLst>
          </p:cNvPr>
          <p:cNvSpPr/>
          <p:nvPr/>
        </p:nvSpPr>
        <p:spPr>
          <a:xfrm>
            <a:off x="365760" y="4663440"/>
            <a:ext cx="8412480" cy="347472"/>
          </a:xfrm>
          <a:prstGeom prst="rect">
            <a:avLst/>
          </a:prstGeom>
          <a:solidFill>
            <a:srgbClr val="00B4D8">
              <a:alpha val="15000"/>
            </a:srgbClr>
          </a:solidFill>
          <a:ln w="12700">
            <a:solidFill>
              <a:srgbClr val="00B4D8"/>
            </a:solidFill>
            <a:prstDash val="solid"/>
          </a:ln>
        </p:spPr>
        <p:txBody>
          <a:bodyPr/>
          <a:lstStyle/>
          <a:p>
            <a:endParaRPr lang="en-IN" dirty="0">
              <a:solidFill>
                <a:srgbClr val="002060"/>
              </a:solidFill>
            </a:endParaRPr>
          </a:p>
        </p:txBody>
      </p:sp>
      <p:sp>
        <p:nvSpPr>
          <p:cNvPr id="23" name="Text 21">
            <a:extLst>
              <a:ext uri="{FF2B5EF4-FFF2-40B4-BE49-F238E27FC236}">
                <a16:creationId xmlns:a16="http://schemas.microsoft.com/office/drawing/2014/main" id="{FA8C630C-1BAF-03B7-F41D-38000B05D130}"/>
              </a:ext>
            </a:extLst>
          </p:cNvPr>
          <p:cNvSpPr/>
          <p:nvPr/>
        </p:nvSpPr>
        <p:spPr>
          <a:xfrm>
            <a:off x="457200" y="4663440"/>
            <a:ext cx="8229600" cy="347472"/>
          </a:xfrm>
          <a:prstGeom prst="rect">
            <a:avLst/>
          </a:prstGeom>
          <a:noFill/>
          <a:ln/>
        </p:spPr>
        <p:txBody>
          <a:bodyPr wrap="square" lIns="0" tIns="0" rIns="0" bIns="0" rtlCol="0" anchor="ctr"/>
          <a:lstStyle/>
          <a:p>
            <a:pPr marL="0" indent="0">
              <a:buNone/>
            </a:pPr>
            <a:r>
              <a:rPr lang="en-US" sz="1000" dirty="0">
                <a:solidFill>
                  <a:srgbClr val="002060"/>
                </a:solidFill>
              </a:rPr>
              <a:t>COPY INTO from ADLS External Stage using SAS token stored in Key Vault — credentials never exposed in code</a:t>
            </a:r>
          </a:p>
        </p:txBody>
      </p:sp>
      <mc:AlternateContent xmlns:mc="http://schemas.openxmlformats.org/markup-compatibility/2006" xmlns:p14="http://schemas.microsoft.com/office/powerpoint/2010/main">
        <mc:Choice Requires="p14">
          <p:contentPart p14:bwMode="auto" r:id="rId3">
            <p14:nvContentPartPr>
              <p14:cNvPr id="24" name="Ink 23">
                <a:extLst>
                  <a:ext uri="{FF2B5EF4-FFF2-40B4-BE49-F238E27FC236}">
                    <a16:creationId xmlns:a16="http://schemas.microsoft.com/office/drawing/2014/main" id="{DD577A46-6C63-AF05-0DC3-E7D41D3F8F35}"/>
                  </a:ext>
                </a:extLst>
              </p14:cNvPr>
              <p14:cNvContentPartPr/>
              <p14:nvPr/>
            </p14:nvContentPartPr>
            <p14:xfrm>
              <a:off x="548640" y="3859776"/>
              <a:ext cx="897480" cy="703080"/>
            </p14:xfrm>
          </p:contentPart>
        </mc:Choice>
        <mc:Fallback xmlns="">
          <p:pic>
            <p:nvPicPr>
              <p:cNvPr id="24" name="Ink 23">
                <a:extLst>
                  <a:ext uri="{FF2B5EF4-FFF2-40B4-BE49-F238E27FC236}">
                    <a16:creationId xmlns:a16="http://schemas.microsoft.com/office/drawing/2014/main" id="{DD577A46-6C63-AF05-0DC3-E7D41D3F8F35}"/>
                  </a:ext>
                </a:extLst>
              </p:cNvPr>
              <p:cNvPicPr/>
              <p:nvPr/>
            </p:nvPicPr>
            <p:blipFill>
              <a:blip r:embed="rId4"/>
              <a:stretch>
                <a:fillRect/>
              </a:stretch>
            </p:blipFill>
            <p:spPr>
              <a:xfrm>
                <a:off x="513000" y="3824136"/>
                <a:ext cx="969120" cy="774720"/>
              </a:xfrm>
              <a:prstGeom prst="rect">
                <a:avLst/>
              </a:prstGeom>
            </p:spPr>
          </p:pic>
        </mc:Fallback>
      </mc:AlternateContent>
    </p:spTree>
    <p:extLst>
      <p:ext uri="{BB962C8B-B14F-4D97-AF65-F5344CB8AC3E}">
        <p14:creationId xmlns:p14="http://schemas.microsoft.com/office/powerpoint/2010/main" val="37823505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BBAD4C-C736-308E-93D6-67DED1151955}"/>
              </a:ext>
            </a:extLst>
          </p:cNvPr>
          <p:cNvPicPr>
            <a:picLocks noChangeAspect="1"/>
          </p:cNvPicPr>
          <p:nvPr/>
        </p:nvPicPr>
        <p:blipFill>
          <a:blip r:embed="rId2"/>
          <a:srcRect b="48740"/>
          <a:stretch>
            <a:fillRect/>
          </a:stretch>
        </p:blipFill>
        <p:spPr>
          <a:xfrm>
            <a:off x="340070" y="1602849"/>
            <a:ext cx="8307106" cy="1937801"/>
          </a:xfrm>
          <a:prstGeom prst="rect">
            <a:avLst/>
          </a:prstGeom>
        </p:spPr>
      </p:pic>
      <p:sp>
        <p:nvSpPr>
          <p:cNvPr id="4" name="Text 0">
            <a:extLst>
              <a:ext uri="{FF2B5EF4-FFF2-40B4-BE49-F238E27FC236}">
                <a16:creationId xmlns:a16="http://schemas.microsoft.com/office/drawing/2014/main" id="{5E6526D3-6F3C-22DA-1CE6-4600006449C7}"/>
              </a:ext>
            </a:extLst>
          </p:cNvPr>
          <p:cNvSpPr/>
          <p:nvPr/>
        </p:nvSpPr>
        <p:spPr>
          <a:xfrm>
            <a:off x="2841702" y="795558"/>
            <a:ext cx="3026203" cy="342900"/>
          </a:xfrm>
          <a:prstGeom prst="rect">
            <a:avLst/>
          </a:prstGeom>
          <a:noFill/>
          <a:ln/>
        </p:spPr>
        <p:txBody>
          <a:bodyPr wrap="square" rtlCol="0" anchor="ctr"/>
          <a:lstStyle/>
          <a:p>
            <a:r>
              <a:rPr lang="en-US" b="1" dirty="0">
                <a:solidFill>
                  <a:srgbClr val="0E7490"/>
                </a:solidFill>
              </a:rPr>
              <a:t>Snowflake Gold Layer (</a:t>
            </a:r>
            <a:r>
              <a:rPr lang="en-US" b="1" dirty="0" err="1">
                <a:solidFill>
                  <a:srgbClr val="0E7490"/>
                </a:solidFill>
              </a:rPr>
              <a:t>dbt</a:t>
            </a:r>
            <a:r>
              <a:rPr lang="en-US" b="1" dirty="0">
                <a:solidFill>
                  <a:srgbClr val="0E7490"/>
                </a:solidFill>
              </a:rPr>
              <a:t>)</a:t>
            </a:r>
            <a:endParaRPr lang="en-US" dirty="0"/>
          </a:p>
        </p:txBody>
      </p:sp>
    </p:spTree>
    <p:extLst>
      <p:ext uri="{BB962C8B-B14F-4D97-AF65-F5344CB8AC3E}">
        <p14:creationId xmlns:p14="http://schemas.microsoft.com/office/powerpoint/2010/main" val="19841449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42900" y="411480"/>
            <a:ext cx="102870" cy="891540"/>
          </a:xfrm>
          <a:prstGeom prst="rect">
            <a:avLst/>
          </a:prstGeom>
          <a:solidFill>
            <a:srgbClr val="FF694A"/>
          </a:solidFill>
          <a:ln w="12700">
            <a:solidFill>
              <a:srgbClr val="FF694A"/>
            </a:solidFill>
            <a:prstDash val="solid"/>
          </a:ln>
        </p:spPr>
      </p:sp>
      <p:sp>
        <p:nvSpPr>
          <p:cNvPr id="3" name="Text 1"/>
          <p:cNvSpPr/>
          <p:nvPr/>
        </p:nvSpPr>
        <p:spPr>
          <a:xfrm>
            <a:off x="548640" y="411480"/>
            <a:ext cx="5486400" cy="274320"/>
          </a:xfrm>
          <a:prstGeom prst="rect">
            <a:avLst/>
          </a:prstGeom>
          <a:noFill/>
          <a:ln/>
        </p:spPr>
        <p:txBody>
          <a:bodyPr wrap="square" rtlCol="0" anchor="ctr"/>
          <a:lstStyle/>
          <a:p>
            <a:r>
              <a:rPr lang="en-US" sz="1050" b="1" kern="0" spc="600" dirty="0">
                <a:solidFill>
                  <a:srgbClr val="FF694A"/>
                </a:solidFill>
              </a:rPr>
              <a:t>INTRODUCTION</a:t>
            </a:r>
            <a:endParaRPr lang="en-US" sz="1050" dirty="0"/>
          </a:p>
        </p:txBody>
      </p:sp>
      <p:sp>
        <p:nvSpPr>
          <p:cNvPr id="4" name="Text 2"/>
          <p:cNvSpPr/>
          <p:nvPr/>
        </p:nvSpPr>
        <p:spPr>
          <a:xfrm>
            <a:off x="548640" y="685800"/>
            <a:ext cx="7543800" cy="822960"/>
          </a:xfrm>
          <a:prstGeom prst="rect">
            <a:avLst/>
          </a:prstGeom>
          <a:noFill/>
          <a:ln/>
        </p:spPr>
        <p:txBody>
          <a:bodyPr wrap="square" rtlCol="0" anchor="ctr"/>
          <a:lstStyle/>
          <a:p>
            <a:r>
              <a:rPr lang="en-US" sz="5400" b="1" dirty="0">
                <a:solidFill>
                  <a:schemeClr val="accent2">
                    <a:lumMod val="75000"/>
                  </a:schemeClr>
                </a:solidFill>
                <a:latin typeface="Calibri" pitchFamily="34" charset="0"/>
                <a:ea typeface="Calibri" pitchFamily="34" charset="-122"/>
                <a:cs typeface="Calibri" pitchFamily="34" charset="-120"/>
              </a:rPr>
              <a:t>dbt Cloud</a:t>
            </a:r>
            <a:endParaRPr lang="en-US" sz="5400" dirty="0">
              <a:solidFill>
                <a:schemeClr val="accent2">
                  <a:lumMod val="75000"/>
                </a:schemeClr>
              </a:solidFill>
            </a:endParaRPr>
          </a:p>
        </p:txBody>
      </p:sp>
      <p:sp>
        <p:nvSpPr>
          <p:cNvPr id="5" name="Text 3"/>
          <p:cNvSpPr/>
          <p:nvPr/>
        </p:nvSpPr>
        <p:spPr>
          <a:xfrm>
            <a:off x="548640" y="1577340"/>
            <a:ext cx="7886700" cy="342900"/>
          </a:xfrm>
          <a:prstGeom prst="rect">
            <a:avLst/>
          </a:prstGeom>
          <a:noFill/>
          <a:ln/>
        </p:spPr>
        <p:txBody>
          <a:bodyPr wrap="square" rtlCol="0" anchor="ctr"/>
          <a:lstStyle/>
          <a:p>
            <a:r>
              <a:rPr lang="en-US" sz="1500" i="1" dirty="0">
                <a:solidFill>
                  <a:schemeClr val="accent2">
                    <a:lumMod val="75000"/>
                  </a:schemeClr>
                </a:solidFill>
              </a:rPr>
              <a:t>Transform, test and document data — all in SQL</a:t>
            </a:r>
            <a:endParaRPr lang="en-US" sz="1500" dirty="0">
              <a:solidFill>
                <a:schemeClr val="accent2">
                  <a:lumMod val="75000"/>
                </a:schemeClr>
              </a:solidFill>
            </a:endParaRPr>
          </a:p>
        </p:txBody>
      </p:sp>
      <p:sp>
        <p:nvSpPr>
          <p:cNvPr id="6" name="Shape 4"/>
          <p:cNvSpPr/>
          <p:nvPr/>
        </p:nvSpPr>
        <p:spPr>
          <a:xfrm>
            <a:off x="548640" y="2023110"/>
            <a:ext cx="1714500" cy="27432"/>
          </a:xfrm>
          <a:prstGeom prst="rect">
            <a:avLst/>
          </a:prstGeom>
          <a:solidFill>
            <a:srgbClr val="FF694A"/>
          </a:solidFill>
          <a:ln w="12700">
            <a:solidFill>
              <a:srgbClr val="FF694A"/>
            </a:solidFill>
            <a:prstDash val="solid"/>
          </a:ln>
        </p:spPr>
      </p:sp>
      <p:sp>
        <p:nvSpPr>
          <p:cNvPr id="7" name="Text 5"/>
          <p:cNvSpPr/>
          <p:nvPr/>
        </p:nvSpPr>
        <p:spPr>
          <a:xfrm>
            <a:off x="548640" y="2160270"/>
            <a:ext cx="8154162" cy="960120"/>
          </a:xfrm>
          <a:prstGeom prst="rect">
            <a:avLst/>
          </a:prstGeom>
          <a:noFill/>
          <a:ln/>
        </p:spPr>
        <p:txBody>
          <a:bodyPr wrap="square" rtlCol="0" anchor="t"/>
          <a:lstStyle/>
          <a:p>
            <a:pPr algn="just"/>
            <a:r>
              <a:rPr lang="en-US" sz="1200" dirty="0">
                <a:solidFill>
                  <a:schemeClr val="accent2">
                    <a:lumMod val="75000"/>
                  </a:schemeClr>
                </a:solidFill>
              </a:rPr>
              <a:t>dbt Cloud turns raw Snowflake tables into trustworthy analytics models. Every transformation is version-controlled SQL, every model is automatically tested for nulls and duplicates, and every column is documented — so the data reaching Power BI is reliable by design.</a:t>
            </a:r>
          </a:p>
        </p:txBody>
      </p:sp>
      <p:sp>
        <p:nvSpPr>
          <p:cNvPr id="8" name="Shape 6"/>
          <p:cNvSpPr/>
          <p:nvPr/>
        </p:nvSpPr>
        <p:spPr>
          <a:xfrm>
            <a:off x="438912" y="3360420"/>
            <a:ext cx="2640330" cy="1371600"/>
          </a:xfrm>
          <a:prstGeom prst="roundRect">
            <a:avLst>
              <a:gd name="adj" fmla="val 5000"/>
            </a:avLst>
          </a:prstGeom>
          <a:solidFill>
            <a:srgbClr val="1E293B"/>
          </a:solidFill>
          <a:ln w="12700">
            <a:solidFill>
              <a:srgbClr val="FF694A"/>
            </a:solidFill>
            <a:prstDash val="solid"/>
          </a:ln>
        </p:spPr>
      </p:sp>
      <p:sp>
        <p:nvSpPr>
          <p:cNvPr id="9" name="Text 7"/>
          <p:cNvSpPr/>
          <p:nvPr/>
        </p:nvSpPr>
        <p:spPr>
          <a:xfrm>
            <a:off x="57607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0" name="Text 8"/>
          <p:cNvSpPr/>
          <p:nvPr/>
        </p:nvSpPr>
        <p:spPr>
          <a:xfrm>
            <a:off x="576072" y="3874770"/>
            <a:ext cx="2366010" cy="274320"/>
          </a:xfrm>
          <a:prstGeom prst="rect">
            <a:avLst/>
          </a:prstGeom>
          <a:noFill/>
          <a:ln/>
        </p:spPr>
        <p:txBody>
          <a:bodyPr wrap="square" rtlCol="0" anchor="ctr"/>
          <a:lstStyle/>
          <a:p>
            <a:r>
              <a:rPr lang="en-US" sz="1200" b="1" dirty="0">
                <a:solidFill>
                  <a:srgbClr val="FFFFFF"/>
                </a:solidFill>
              </a:rPr>
              <a:t>SQL Transformations</a:t>
            </a:r>
            <a:endParaRPr lang="en-US" sz="1200" dirty="0"/>
          </a:p>
        </p:txBody>
      </p:sp>
      <p:sp>
        <p:nvSpPr>
          <p:cNvPr id="11" name="Text 9"/>
          <p:cNvSpPr/>
          <p:nvPr/>
        </p:nvSpPr>
        <p:spPr>
          <a:xfrm>
            <a:off x="576072" y="4149090"/>
            <a:ext cx="2366010" cy="514350"/>
          </a:xfrm>
          <a:prstGeom prst="rect">
            <a:avLst/>
          </a:prstGeom>
          <a:noFill/>
          <a:ln/>
        </p:spPr>
        <p:txBody>
          <a:bodyPr wrap="square" rtlCol="0" anchor="t"/>
          <a:lstStyle/>
          <a:p>
            <a:r>
              <a:rPr lang="en-US" sz="900" dirty="0">
                <a:solidFill>
                  <a:srgbClr val="94A3B8"/>
                </a:solidFill>
              </a:rPr>
              <a:t>Modular models build Silver and Gold layers from Bronze sources.</a:t>
            </a:r>
            <a:endParaRPr lang="en-US" sz="900" dirty="0"/>
          </a:p>
        </p:txBody>
      </p:sp>
      <p:sp>
        <p:nvSpPr>
          <p:cNvPr id="12" name="Shape 10"/>
          <p:cNvSpPr/>
          <p:nvPr/>
        </p:nvSpPr>
        <p:spPr>
          <a:xfrm>
            <a:off x="3250692" y="3360420"/>
            <a:ext cx="2640330" cy="1371600"/>
          </a:xfrm>
          <a:prstGeom prst="roundRect">
            <a:avLst>
              <a:gd name="adj" fmla="val 5000"/>
            </a:avLst>
          </a:prstGeom>
          <a:solidFill>
            <a:srgbClr val="1E293B"/>
          </a:solidFill>
          <a:ln w="12700">
            <a:solidFill>
              <a:srgbClr val="FF694A"/>
            </a:solidFill>
            <a:prstDash val="solid"/>
          </a:ln>
        </p:spPr>
      </p:sp>
      <p:sp>
        <p:nvSpPr>
          <p:cNvPr id="13" name="Text 11"/>
          <p:cNvSpPr/>
          <p:nvPr/>
        </p:nvSpPr>
        <p:spPr>
          <a:xfrm>
            <a:off x="338785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4" name="Text 12"/>
          <p:cNvSpPr/>
          <p:nvPr/>
        </p:nvSpPr>
        <p:spPr>
          <a:xfrm>
            <a:off x="3387852" y="3874770"/>
            <a:ext cx="2366010" cy="274320"/>
          </a:xfrm>
          <a:prstGeom prst="rect">
            <a:avLst/>
          </a:prstGeom>
          <a:noFill/>
          <a:ln/>
        </p:spPr>
        <p:txBody>
          <a:bodyPr wrap="square" rtlCol="0" anchor="ctr"/>
          <a:lstStyle/>
          <a:p>
            <a:r>
              <a:rPr lang="en-US" sz="1200" b="1" dirty="0">
                <a:solidFill>
                  <a:srgbClr val="FFFFFF"/>
                </a:solidFill>
              </a:rPr>
              <a:t>Built-in Tests</a:t>
            </a:r>
            <a:endParaRPr lang="en-US" sz="1200" dirty="0"/>
          </a:p>
        </p:txBody>
      </p:sp>
      <p:sp>
        <p:nvSpPr>
          <p:cNvPr id="15" name="Text 13"/>
          <p:cNvSpPr/>
          <p:nvPr/>
        </p:nvSpPr>
        <p:spPr>
          <a:xfrm>
            <a:off x="3387852" y="4149090"/>
            <a:ext cx="2366010" cy="514350"/>
          </a:xfrm>
          <a:prstGeom prst="rect">
            <a:avLst/>
          </a:prstGeom>
          <a:noFill/>
          <a:ln/>
        </p:spPr>
        <p:txBody>
          <a:bodyPr wrap="square" rtlCol="0" anchor="t"/>
          <a:lstStyle/>
          <a:p>
            <a:r>
              <a:rPr lang="en-US" sz="900" dirty="0">
                <a:solidFill>
                  <a:srgbClr val="94A3B8"/>
                </a:solidFill>
              </a:rPr>
              <a:t>not_null, unique and relationships catch bad data before reporting.</a:t>
            </a:r>
            <a:endParaRPr lang="en-US" sz="900" dirty="0"/>
          </a:p>
        </p:txBody>
      </p:sp>
      <p:sp>
        <p:nvSpPr>
          <p:cNvPr id="16" name="Shape 14"/>
          <p:cNvSpPr/>
          <p:nvPr/>
        </p:nvSpPr>
        <p:spPr>
          <a:xfrm>
            <a:off x="6062472" y="3360420"/>
            <a:ext cx="2640330" cy="1371600"/>
          </a:xfrm>
          <a:prstGeom prst="roundRect">
            <a:avLst>
              <a:gd name="adj" fmla="val 5000"/>
            </a:avLst>
          </a:prstGeom>
          <a:solidFill>
            <a:srgbClr val="1E293B"/>
          </a:solidFill>
          <a:ln w="12700">
            <a:solidFill>
              <a:srgbClr val="FF694A"/>
            </a:solidFill>
            <a:prstDash val="solid"/>
          </a:ln>
        </p:spPr>
      </p:sp>
      <p:sp>
        <p:nvSpPr>
          <p:cNvPr id="17" name="Text 15"/>
          <p:cNvSpPr/>
          <p:nvPr/>
        </p:nvSpPr>
        <p:spPr>
          <a:xfrm>
            <a:off x="619963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8" name="Text 16"/>
          <p:cNvSpPr/>
          <p:nvPr/>
        </p:nvSpPr>
        <p:spPr>
          <a:xfrm>
            <a:off x="6199632" y="3874770"/>
            <a:ext cx="2366010" cy="274320"/>
          </a:xfrm>
          <a:prstGeom prst="rect">
            <a:avLst/>
          </a:prstGeom>
          <a:noFill/>
          <a:ln/>
        </p:spPr>
        <p:txBody>
          <a:bodyPr wrap="square" rtlCol="0" anchor="ctr"/>
          <a:lstStyle/>
          <a:p>
            <a:r>
              <a:rPr lang="en-US" sz="1200" b="1" dirty="0">
                <a:solidFill>
                  <a:srgbClr val="FFFFFF"/>
                </a:solidFill>
              </a:rPr>
              <a:t>Auto Documentation</a:t>
            </a:r>
            <a:endParaRPr lang="en-US" sz="1200" dirty="0"/>
          </a:p>
        </p:txBody>
      </p:sp>
      <p:sp>
        <p:nvSpPr>
          <p:cNvPr id="19" name="Text 17"/>
          <p:cNvSpPr/>
          <p:nvPr/>
        </p:nvSpPr>
        <p:spPr>
          <a:xfrm>
            <a:off x="6199632" y="4149090"/>
            <a:ext cx="2366010" cy="514350"/>
          </a:xfrm>
          <a:prstGeom prst="rect">
            <a:avLst/>
          </a:prstGeom>
          <a:noFill/>
          <a:ln/>
        </p:spPr>
        <p:txBody>
          <a:bodyPr wrap="square" rtlCol="0" anchor="t"/>
          <a:lstStyle/>
          <a:p>
            <a:r>
              <a:rPr lang="en-US" sz="900" dirty="0">
                <a:solidFill>
                  <a:srgbClr val="94A3B8"/>
                </a:solidFill>
              </a:rPr>
              <a:t>Lineage graphs and column docs generated from the project itself.</a:t>
            </a:r>
            <a:endParaRPr lang="en-US" sz="900" dirty="0"/>
          </a:p>
        </p:txBody>
      </p:sp>
      <p:sp>
        <p:nvSpPr>
          <p:cNvPr id="20" name="Text 18"/>
          <p:cNvSpPr/>
          <p:nvPr/>
        </p:nvSpPr>
        <p:spPr>
          <a:xfrm>
            <a:off x="342900" y="4869180"/>
            <a:ext cx="8435340" cy="205740"/>
          </a:xfrm>
          <a:prstGeom prst="rect">
            <a:avLst/>
          </a:prstGeom>
          <a:noFill/>
          <a:ln/>
        </p:spPr>
        <p:txBody>
          <a:bodyPr wrap="square" rtlCol="0" anchor="ctr"/>
          <a:lstStyle/>
          <a:p>
            <a:pPr algn="r"/>
            <a:r>
              <a:rPr lang="en-US" sz="750" dirty="0">
                <a:solidFill>
                  <a:srgbClr val="475569"/>
                </a:solidFill>
              </a:rPr>
              <a:t>Pipeline Architecture · Introduction</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0D1B2A"/>
          </a:solidFill>
          <a:ln w="12700">
            <a:solidFill>
              <a:srgbClr val="0D1B2A"/>
            </a:solidFill>
            <a:prstDash val="solid"/>
          </a:ln>
        </p:spPr>
      </p:sp>
      <p:sp>
        <p:nvSpPr>
          <p:cNvPr id="3" name="Text 1"/>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DBT CLOUD — TRANSFORMATION LAYER</a:t>
            </a:r>
            <a:endParaRPr lang="en-US" sz="1300" dirty="0"/>
          </a:p>
        </p:txBody>
      </p:sp>
      <p:sp>
        <p:nvSpPr>
          <p:cNvPr id="4" name="Text 2"/>
          <p:cNvSpPr/>
          <p:nvPr/>
        </p:nvSpPr>
        <p:spPr>
          <a:xfrm>
            <a:off x="365760" y="0"/>
            <a:ext cx="8229600" cy="777240"/>
          </a:xfrm>
          <a:prstGeom prst="rect">
            <a:avLst/>
          </a:prstGeom>
          <a:noFill/>
          <a:ln/>
        </p:spPr>
        <p:txBody>
          <a:bodyPr wrap="square" lIns="0" tIns="0" rIns="0" bIns="0" rtlCol="0" anchor="ctr"/>
          <a:lstStyle/>
          <a:p>
            <a:pPr marL="0" indent="0" algn="r">
              <a:buNone/>
            </a:pPr>
            <a:r>
              <a:rPr lang="en-US" sz="1300" dirty="0">
                <a:solidFill>
                  <a:srgbClr val="FFFFFF"/>
                </a:solidFill>
              </a:rPr>
              <a:t>Data quality + lineage</a:t>
            </a:r>
            <a:endParaRPr lang="en-US" sz="1300" dirty="0"/>
          </a:p>
        </p:txBody>
      </p:sp>
      <p:sp>
        <p:nvSpPr>
          <p:cNvPr id="5" name="Text 3"/>
          <p:cNvSpPr/>
          <p:nvPr/>
        </p:nvSpPr>
        <p:spPr>
          <a:xfrm>
            <a:off x="365760" y="914400"/>
            <a:ext cx="8412480" cy="320040"/>
          </a:xfrm>
          <a:prstGeom prst="rect">
            <a:avLst/>
          </a:prstGeom>
          <a:noFill/>
          <a:ln/>
        </p:spPr>
        <p:txBody>
          <a:bodyPr wrap="square" lIns="0" tIns="0" rIns="0" bIns="0" rtlCol="0" anchor="ctr"/>
          <a:lstStyle/>
          <a:p>
            <a:pPr marL="0" indent="0">
              <a:buNone/>
            </a:pPr>
            <a:r>
              <a:rPr lang="en-US" sz="1300" b="1" dirty="0">
                <a:solidFill>
                  <a:srgbClr val="0D1B2A"/>
                </a:solidFill>
              </a:rPr>
              <a:t>Data Lineage Graph</a:t>
            </a:r>
            <a:endParaRPr lang="en-US" sz="1300" dirty="0"/>
          </a:p>
        </p:txBody>
      </p:sp>
      <p:sp>
        <p:nvSpPr>
          <p:cNvPr id="6" name="Shape 4"/>
          <p:cNvSpPr/>
          <p:nvPr/>
        </p:nvSpPr>
        <p:spPr>
          <a:xfrm>
            <a:off x="457200" y="1371600"/>
            <a:ext cx="2560320" cy="594360"/>
          </a:xfrm>
          <a:prstGeom prst="rect">
            <a:avLst/>
          </a:prstGeom>
          <a:solidFill>
            <a:srgbClr val="CD7F32">
              <a:alpha val="20000"/>
            </a:srgbClr>
          </a:solidFill>
          <a:ln w="12700">
            <a:solidFill>
              <a:srgbClr val="CD7F32"/>
            </a:solidFill>
            <a:prstDash val="solid"/>
          </a:ln>
        </p:spPr>
      </p:sp>
      <p:sp>
        <p:nvSpPr>
          <p:cNvPr id="7" name="Text 5"/>
          <p:cNvSpPr/>
          <p:nvPr/>
        </p:nvSpPr>
        <p:spPr>
          <a:xfrm>
            <a:off x="457200" y="1371600"/>
            <a:ext cx="2560320" cy="594360"/>
          </a:xfrm>
          <a:prstGeom prst="rect">
            <a:avLst/>
          </a:prstGeom>
          <a:noFill/>
          <a:ln/>
        </p:spPr>
        <p:txBody>
          <a:bodyPr wrap="square" lIns="0" tIns="0" rIns="0" bIns="0" rtlCol="0" anchor="ctr"/>
          <a:lstStyle/>
          <a:p>
            <a:pPr marL="0" indent="0" algn="ctr">
              <a:buNone/>
            </a:pPr>
            <a:r>
              <a:rPr lang="en-US" sz="1100" b="1" dirty="0">
                <a:solidFill>
                  <a:srgbClr val="0D1B2A"/>
                </a:solidFill>
              </a:rPr>
              <a:t>bronze.RAW_STOPS</a:t>
            </a:r>
            <a:endParaRPr lang="en-US" sz="1100" dirty="0"/>
          </a:p>
        </p:txBody>
      </p:sp>
      <p:sp>
        <p:nvSpPr>
          <p:cNvPr id="8" name="Text 6"/>
          <p:cNvSpPr/>
          <p:nvPr/>
        </p:nvSpPr>
        <p:spPr>
          <a:xfrm>
            <a:off x="3035808" y="1371600"/>
            <a:ext cx="329184" cy="594360"/>
          </a:xfrm>
          <a:prstGeom prst="rect">
            <a:avLst/>
          </a:prstGeom>
          <a:noFill/>
          <a:ln/>
        </p:spPr>
        <p:txBody>
          <a:bodyPr wrap="square" lIns="0" tIns="0" rIns="0" bIns="0" rtlCol="0" anchor="ctr"/>
          <a:lstStyle/>
          <a:p>
            <a:pPr marL="0" indent="0" algn="ctr">
              <a:buNone/>
            </a:pPr>
            <a:r>
              <a:rPr lang="en-US" sz="1800" b="1" dirty="0">
                <a:solidFill>
                  <a:srgbClr val="00B4D8"/>
                </a:solidFill>
              </a:rPr>
              <a:t>→</a:t>
            </a:r>
            <a:endParaRPr lang="en-US" sz="1800" dirty="0"/>
          </a:p>
        </p:txBody>
      </p:sp>
      <p:sp>
        <p:nvSpPr>
          <p:cNvPr id="9" name="Shape 7"/>
          <p:cNvSpPr/>
          <p:nvPr/>
        </p:nvSpPr>
        <p:spPr>
          <a:xfrm>
            <a:off x="3383280" y="1371600"/>
            <a:ext cx="2560320" cy="594360"/>
          </a:xfrm>
          <a:prstGeom prst="rect">
            <a:avLst/>
          </a:prstGeom>
          <a:solidFill>
            <a:srgbClr val="888888">
              <a:alpha val="20000"/>
            </a:srgbClr>
          </a:solidFill>
          <a:ln w="12700">
            <a:solidFill>
              <a:srgbClr val="888888"/>
            </a:solidFill>
            <a:prstDash val="solid"/>
          </a:ln>
        </p:spPr>
      </p:sp>
      <p:sp>
        <p:nvSpPr>
          <p:cNvPr id="10" name="Text 8"/>
          <p:cNvSpPr/>
          <p:nvPr/>
        </p:nvSpPr>
        <p:spPr>
          <a:xfrm>
            <a:off x="3383280" y="1371600"/>
            <a:ext cx="2560320" cy="594360"/>
          </a:xfrm>
          <a:prstGeom prst="rect">
            <a:avLst/>
          </a:prstGeom>
          <a:noFill/>
          <a:ln/>
        </p:spPr>
        <p:txBody>
          <a:bodyPr wrap="square" lIns="0" tIns="0" rIns="0" bIns="0" rtlCol="0" anchor="ctr"/>
          <a:lstStyle/>
          <a:p>
            <a:pPr marL="0" indent="0" algn="ctr">
              <a:buNone/>
            </a:pPr>
            <a:r>
              <a:rPr lang="en-US" sz="1100" b="1" dirty="0">
                <a:solidFill>
                  <a:srgbClr val="0D1B2A"/>
                </a:solidFill>
              </a:rPr>
              <a:t>stg_stops (silver)</a:t>
            </a:r>
            <a:endParaRPr lang="en-US" sz="1100" dirty="0"/>
          </a:p>
        </p:txBody>
      </p:sp>
      <p:sp>
        <p:nvSpPr>
          <p:cNvPr id="11" name="Text 9"/>
          <p:cNvSpPr/>
          <p:nvPr/>
        </p:nvSpPr>
        <p:spPr>
          <a:xfrm>
            <a:off x="5961888" y="1371600"/>
            <a:ext cx="329184" cy="594360"/>
          </a:xfrm>
          <a:prstGeom prst="rect">
            <a:avLst/>
          </a:prstGeom>
          <a:noFill/>
          <a:ln/>
        </p:spPr>
        <p:txBody>
          <a:bodyPr wrap="square" lIns="0" tIns="0" rIns="0" bIns="0" rtlCol="0" anchor="ctr"/>
          <a:lstStyle/>
          <a:p>
            <a:pPr marL="0" indent="0" algn="ctr">
              <a:buNone/>
            </a:pPr>
            <a:r>
              <a:rPr lang="en-US" sz="1800" b="1" dirty="0">
                <a:solidFill>
                  <a:srgbClr val="00B4D8"/>
                </a:solidFill>
              </a:rPr>
              <a:t>→</a:t>
            </a:r>
            <a:endParaRPr lang="en-US" sz="1800" dirty="0"/>
          </a:p>
        </p:txBody>
      </p:sp>
      <p:sp>
        <p:nvSpPr>
          <p:cNvPr id="12" name="Shape 10"/>
          <p:cNvSpPr/>
          <p:nvPr/>
        </p:nvSpPr>
        <p:spPr>
          <a:xfrm>
            <a:off x="6309360" y="1371600"/>
            <a:ext cx="2560320" cy="594360"/>
          </a:xfrm>
          <a:prstGeom prst="rect">
            <a:avLst/>
          </a:prstGeom>
          <a:solidFill>
            <a:srgbClr val="FFD166">
              <a:alpha val="20000"/>
            </a:srgbClr>
          </a:solidFill>
          <a:ln w="12700">
            <a:solidFill>
              <a:srgbClr val="FFD166"/>
            </a:solidFill>
            <a:prstDash val="solid"/>
          </a:ln>
        </p:spPr>
      </p:sp>
      <p:sp>
        <p:nvSpPr>
          <p:cNvPr id="13" name="Text 11"/>
          <p:cNvSpPr/>
          <p:nvPr/>
        </p:nvSpPr>
        <p:spPr>
          <a:xfrm>
            <a:off x="6309360" y="1371600"/>
            <a:ext cx="2560320" cy="594360"/>
          </a:xfrm>
          <a:prstGeom prst="rect">
            <a:avLst/>
          </a:prstGeom>
          <a:noFill/>
          <a:ln/>
        </p:spPr>
        <p:txBody>
          <a:bodyPr wrap="square" lIns="0" tIns="0" rIns="0" bIns="0" rtlCol="0" anchor="ctr"/>
          <a:lstStyle/>
          <a:p>
            <a:pPr marL="0" indent="0" algn="ctr">
              <a:buNone/>
            </a:pPr>
            <a:r>
              <a:rPr lang="en-US" sz="1100" b="1" dirty="0">
                <a:solidFill>
                  <a:srgbClr val="0D1B2A"/>
                </a:solidFill>
              </a:rPr>
              <a:t>fct_busiest_stops (gold)</a:t>
            </a:r>
            <a:endParaRPr lang="en-US" sz="1100" dirty="0"/>
          </a:p>
        </p:txBody>
      </p:sp>
      <p:sp>
        <p:nvSpPr>
          <p:cNvPr id="14" name="Text 12"/>
          <p:cNvSpPr/>
          <p:nvPr/>
        </p:nvSpPr>
        <p:spPr>
          <a:xfrm>
            <a:off x="365760" y="2194560"/>
            <a:ext cx="4023360" cy="320040"/>
          </a:xfrm>
          <a:prstGeom prst="rect">
            <a:avLst/>
          </a:prstGeom>
          <a:noFill/>
          <a:ln/>
        </p:spPr>
        <p:txBody>
          <a:bodyPr wrap="square" lIns="0" tIns="0" rIns="0" bIns="0" rtlCol="0" anchor="ctr"/>
          <a:lstStyle/>
          <a:p>
            <a:pPr marL="0" indent="0">
              <a:buNone/>
            </a:pPr>
            <a:r>
              <a:rPr lang="en-US" sz="1300" b="1" dirty="0">
                <a:solidFill>
                  <a:srgbClr val="0D1B2A"/>
                </a:solidFill>
              </a:rPr>
              <a:t>dbt Models</a:t>
            </a:r>
            <a:endParaRPr lang="en-US" sz="1300" dirty="0"/>
          </a:p>
        </p:txBody>
      </p:sp>
      <p:sp>
        <p:nvSpPr>
          <p:cNvPr id="15" name="Text 13"/>
          <p:cNvSpPr/>
          <p:nvPr/>
        </p:nvSpPr>
        <p:spPr>
          <a:xfrm>
            <a:off x="4754880" y="2194560"/>
            <a:ext cx="4023360" cy="320040"/>
          </a:xfrm>
          <a:prstGeom prst="rect">
            <a:avLst/>
          </a:prstGeom>
          <a:noFill/>
          <a:ln/>
        </p:spPr>
        <p:txBody>
          <a:bodyPr wrap="square" lIns="0" tIns="0" rIns="0" bIns="0" rtlCol="0" anchor="ctr"/>
          <a:lstStyle/>
          <a:p>
            <a:pPr marL="0" indent="0">
              <a:buNone/>
            </a:pPr>
            <a:r>
              <a:rPr lang="en-US" sz="1300" b="1" dirty="0">
                <a:solidFill>
                  <a:srgbClr val="0D1B2A"/>
                </a:solidFill>
              </a:rPr>
              <a:t>Data Quality Tests</a:t>
            </a:r>
            <a:endParaRPr lang="en-US" sz="1300" dirty="0"/>
          </a:p>
        </p:txBody>
      </p:sp>
      <p:sp>
        <p:nvSpPr>
          <p:cNvPr id="16" name="Shape 14"/>
          <p:cNvSpPr/>
          <p:nvPr/>
        </p:nvSpPr>
        <p:spPr>
          <a:xfrm>
            <a:off x="365760" y="2606040"/>
            <a:ext cx="4114800" cy="347472"/>
          </a:xfrm>
          <a:prstGeom prst="rect">
            <a:avLst/>
          </a:prstGeom>
          <a:solidFill>
            <a:srgbClr val="FFFFFF"/>
          </a:solidFill>
          <a:ln w="12700">
            <a:solidFill>
              <a:srgbClr val="D0DCE8"/>
            </a:solidFill>
            <a:prstDash val="solid"/>
          </a:ln>
        </p:spPr>
      </p:sp>
      <p:sp>
        <p:nvSpPr>
          <p:cNvPr id="17" name="Text 15"/>
          <p:cNvSpPr/>
          <p:nvPr/>
        </p:nvSpPr>
        <p:spPr>
          <a:xfrm>
            <a:off x="502920" y="2606040"/>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stg_stops.sql</a:t>
            </a:r>
            <a:endParaRPr lang="en-US" sz="1000" dirty="0"/>
          </a:p>
        </p:txBody>
      </p:sp>
      <p:sp>
        <p:nvSpPr>
          <p:cNvPr id="18" name="Text 16"/>
          <p:cNvSpPr/>
          <p:nvPr/>
        </p:nvSpPr>
        <p:spPr>
          <a:xfrm>
            <a:off x="2560320" y="2606040"/>
            <a:ext cx="914400" cy="347472"/>
          </a:xfrm>
          <a:prstGeom prst="rect">
            <a:avLst/>
          </a:prstGeom>
          <a:noFill/>
          <a:ln/>
        </p:spPr>
        <p:txBody>
          <a:bodyPr wrap="square" lIns="0" tIns="0" rIns="0" bIns="0" rtlCol="0" anchor="ctr"/>
          <a:lstStyle/>
          <a:p>
            <a:pPr marL="0" indent="0">
              <a:buNone/>
            </a:pPr>
            <a:r>
              <a:rPr lang="en-US" sz="900" dirty="0">
                <a:solidFill>
                  <a:srgbClr val="0096C7"/>
                </a:solidFill>
              </a:rPr>
              <a:t>Silver · View</a:t>
            </a:r>
            <a:endParaRPr lang="en-US" sz="900" dirty="0"/>
          </a:p>
        </p:txBody>
      </p:sp>
      <p:sp>
        <p:nvSpPr>
          <p:cNvPr id="19" name="Text 17"/>
          <p:cNvSpPr/>
          <p:nvPr/>
        </p:nvSpPr>
        <p:spPr>
          <a:xfrm>
            <a:off x="3520440" y="2606040"/>
            <a:ext cx="1005840" cy="347472"/>
          </a:xfrm>
          <a:prstGeom prst="rect">
            <a:avLst/>
          </a:prstGeom>
          <a:noFill/>
          <a:ln/>
        </p:spPr>
        <p:txBody>
          <a:bodyPr wrap="square" lIns="0" tIns="0" rIns="0" bIns="0" rtlCol="0" anchor="ctr"/>
          <a:lstStyle/>
          <a:p>
            <a:pPr marL="0" indent="0">
              <a:buNone/>
            </a:pPr>
            <a:r>
              <a:rPr lang="en-US" sz="900" dirty="0">
                <a:solidFill>
                  <a:srgbClr val="4A6278"/>
                </a:solidFill>
              </a:rPr>
              <a:t>Cleans + filters raw stops</a:t>
            </a:r>
            <a:endParaRPr lang="en-US" sz="900" dirty="0"/>
          </a:p>
        </p:txBody>
      </p:sp>
      <p:sp>
        <p:nvSpPr>
          <p:cNvPr id="20" name="Shape 18"/>
          <p:cNvSpPr/>
          <p:nvPr/>
        </p:nvSpPr>
        <p:spPr>
          <a:xfrm>
            <a:off x="365760" y="2990088"/>
            <a:ext cx="4114800" cy="347472"/>
          </a:xfrm>
          <a:prstGeom prst="rect">
            <a:avLst/>
          </a:prstGeom>
          <a:solidFill>
            <a:srgbClr val="FFFFFF"/>
          </a:solidFill>
          <a:ln w="12700">
            <a:solidFill>
              <a:srgbClr val="D0DCE8"/>
            </a:solidFill>
            <a:prstDash val="solid"/>
          </a:ln>
        </p:spPr>
      </p:sp>
      <p:sp>
        <p:nvSpPr>
          <p:cNvPr id="21" name="Text 19"/>
          <p:cNvSpPr/>
          <p:nvPr/>
        </p:nvSpPr>
        <p:spPr>
          <a:xfrm>
            <a:off x="502920" y="2990088"/>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stg_routes.sql</a:t>
            </a:r>
            <a:endParaRPr lang="en-US" sz="1000" dirty="0"/>
          </a:p>
        </p:txBody>
      </p:sp>
      <p:sp>
        <p:nvSpPr>
          <p:cNvPr id="22" name="Text 20"/>
          <p:cNvSpPr/>
          <p:nvPr/>
        </p:nvSpPr>
        <p:spPr>
          <a:xfrm>
            <a:off x="2560320" y="2990088"/>
            <a:ext cx="914400" cy="347472"/>
          </a:xfrm>
          <a:prstGeom prst="rect">
            <a:avLst/>
          </a:prstGeom>
          <a:noFill/>
          <a:ln/>
        </p:spPr>
        <p:txBody>
          <a:bodyPr wrap="square" lIns="0" tIns="0" rIns="0" bIns="0" rtlCol="0" anchor="ctr"/>
          <a:lstStyle/>
          <a:p>
            <a:pPr marL="0" indent="0">
              <a:buNone/>
            </a:pPr>
            <a:r>
              <a:rPr lang="en-US" sz="900" dirty="0">
                <a:solidFill>
                  <a:srgbClr val="0096C7"/>
                </a:solidFill>
              </a:rPr>
              <a:t>Silver · View</a:t>
            </a:r>
            <a:endParaRPr lang="en-US" sz="900" dirty="0"/>
          </a:p>
        </p:txBody>
      </p:sp>
      <p:sp>
        <p:nvSpPr>
          <p:cNvPr id="23" name="Text 21"/>
          <p:cNvSpPr/>
          <p:nvPr/>
        </p:nvSpPr>
        <p:spPr>
          <a:xfrm>
            <a:off x="3520440" y="2990088"/>
            <a:ext cx="1005840" cy="347472"/>
          </a:xfrm>
          <a:prstGeom prst="rect">
            <a:avLst/>
          </a:prstGeom>
          <a:noFill/>
          <a:ln/>
        </p:spPr>
        <p:txBody>
          <a:bodyPr wrap="square" lIns="0" tIns="0" rIns="0" bIns="0" rtlCol="0" anchor="ctr"/>
          <a:lstStyle/>
          <a:p>
            <a:pPr marL="0" indent="0">
              <a:buNone/>
            </a:pPr>
            <a:r>
              <a:rPr lang="en-US" sz="900" dirty="0">
                <a:solidFill>
                  <a:srgbClr val="4A6278"/>
                </a:solidFill>
              </a:rPr>
              <a:t>Maps route types to modes</a:t>
            </a:r>
            <a:endParaRPr lang="en-US" sz="900" dirty="0"/>
          </a:p>
        </p:txBody>
      </p:sp>
      <p:sp>
        <p:nvSpPr>
          <p:cNvPr id="24" name="Shape 22"/>
          <p:cNvSpPr/>
          <p:nvPr/>
        </p:nvSpPr>
        <p:spPr>
          <a:xfrm>
            <a:off x="365760" y="3374136"/>
            <a:ext cx="4114800" cy="347472"/>
          </a:xfrm>
          <a:prstGeom prst="rect">
            <a:avLst/>
          </a:prstGeom>
          <a:solidFill>
            <a:srgbClr val="FFFFFF"/>
          </a:solidFill>
          <a:ln w="12700">
            <a:solidFill>
              <a:srgbClr val="D0DCE8"/>
            </a:solidFill>
            <a:prstDash val="solid"/>
          </a:ln>
        </p:spPr>
      </p:sp>
      <p:sp>
        <p:nvSpPr>
          <p:cNvPr id="25" name="Text 23"/>
          <p:cNvSpPr/>
          <p:nvPr/>
        </p:nvSpPr>
        <p:spPr>
          <a:xfrm>
            <a:off x="502920" y="3374136"/>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stg_stop_times.sql</a:t>
            </a:r>
            <a:endParaRPr lang="en-US" sz="1000" dirty="0"/>
          </a:p>
        </p:txBody>
      </p:sp>
      <p:sp>
        <p:nvSpPr>
          <p:cNvPr id="26" name="Text 24"/>
          <p:cNvSpPr/>
          <p:nvPr/>
        </p:nvSpPr>
        <p:spPr>
          <a:xfrm>
            <a:off x="2560320" y="3374136"/>
            <a:ext cx="914400" cy="347472"/>
          </a:xfrm>
          <a:prstGeom prst="rect">
            <a:avLst/>
          </a:prstGeom>
          <a:noFill/>
          <a:ln/>
        </p:spPr>
        <p:txBody>
          <a:bodyPr wrap="square" lIns="0" tIns="0" rIns="0" bIns="0" rtlCol="0" anchor="ctr"/>
          <a:lstStyle/>
          <a:p>
            <a:pPr marL="0" indent="0">
              <a:buNone/>
            </a:pPr>
            <a:r>
              <a:rPr lang="en-US" sz="900" dirty="0">
                <a:solidFill>
                  <a:srgbClr val="0096C7"/>
                </a:solidFill>
              </a:rPr>
              <a:t>Silver · View</a:t>
            </a:r>
            <a:endParaRPr lang="en-US" sz="900" dirty="0"/>
          </a:p>
        </p:txBody>
      </p:sp>
      <p:sp>
        <p:nvSpPr>
          <p:cNvPr id="27" name="Text 25"/>
          <p:cNvSpPr/>
          <p:nvPr/>
        </p:nvSpPr>
        <p:spPr>
          <a:xfrm>
            <a:off x="3520440" y="3374136"/>
            <a:ext cx="1005840" cy="347472"/>
          </a:xfrm>
          <a:prstGeom prst="rect">
            <a:avLst/>
          </a:prstGeom>
          <a:noFill/>
          <a:ln/>
        </p:spPr>
        <p:txBody>
          <a:bodyPr wrap="square" lIns="0" tIns="0" rIns="0" bIns="0" rtlCol="0" anchor="ctr"/>
          <a:lstStyle/>
          <a:p>
            <a:pPr marL="0" indent="0">
              <a:buNone/>
            </a:pPr>
            <a:r>
              <a:rPr lang="en-US" sz="900" dirty="0">
                <a:solidFill>
                  <a:srgbClr val="4A6278"/>
                </a:solidFill>
              </a:rPr>
              <a:t>Extracts departure hours</a:t>
            </a:r>
            <a:endParaRPr lang="en-US" sz="900" dirty="0"/>
          </a:p>
        </p:txBody>
      </p:sp>
      <p:sp>
        <p:nvSpPr>
          <p:cNvPr id="28" name="Shape 26"/>
          <p:cNvSpPr/>
          <p:nvPr/>
        </p:nvSpPr>
        <p:spPr>
          <a:xfrm>
            <a:off x="365760" y="3758184"/>
            <a:ext cx="4114800" cy="347472"/>
          </a:xfrm>
          <a:prstGeom prst="rect">
            <a:avLst/>
          </a:prstGeom>
          <a:solidFill>
            <a:srgbClr val="FFFFFF"/>
          </a:solidFill>
          <a:ln w="12700">
            <a:solidFill>
              <a:srgbClr val="D0DCE8"/>
            </a:solidFill>
            <a:prstDash val="solid"/>
          </a:ln>
        </p:spPr>
      </p:sp>
      <p:sp>
        <p:nvSpPr>
          <p:cNvPr id="29" name="Text 27"/>
          <p:cNvSpPr/>
          <p:nvPr/>
        </p:nvSpPr>
        <p:spPr>
          <a:xfrm>
            <a:off x="502920" y="3758184"/>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fct_busiest_stops.sql</a:t>
            </a:r>
            <a:endParaRPr lang="en-US" sz="1000" dirty="0"/>
          </a:p>
        </p:txBody>
      </p:sp>
      <p:sp>
        <p:nvSpPr>
          <p:cNvPr id="30" name="Text 28"/>
          <p:cNvSpPr/>
          <p:nvPr/>
        </p:nvSpPr>
        <p:spPr>
          <a:xfrm>
            <a:off x="2560320" y="3758184"/>
            <a:ext cx="914400" cy="347472"/>
          </a:xfrm>
          <a:prstGeom prst="rect">
            <a:avLst/>
          </a:prstGeom>
          <a:noFill/>
          <a:ln/>
        </p:spPr>
        <p:txBody>
          <a:bodyPr wrap="square" lIns="0" tIns="0" rIns="0" bIns="0" rtlCol="0" anchor="ctr"/>
          <a:lstStyle/>
          <a:p>
            <a:pPr marL="0" indent="0">
              <a:buNone/>
            </a:pPr>
            <a:r>
              <a:rPr lang="en-US" sz="900" dirty="0">
                <a:solidFill>
                  <a:srgbClr val="0096C7"/>
                </a:solidFill>
              </a:rPr>
              <a:t>Gold · Table</a:t>
            </a:r>
            <a:endParaRPr lang="en-US" sz="900" dirty="0"/>
          </a:p>
        </p:txBody>
      </p:sp>
      <p:sp>
        <p:nvSpPr>
          <p:cNvPr id="31" name="Text 29"/>
          <p:cNvSpPr/>
          <p:nvPr/>
        </p:nvSpPr>
        <p:spPr>
          <a:xfrm>
            <a:off x="3520440" y="3758184"/>
            <a:ext cx="1005840" cy="347472"/>
          </a:xfrm>
          <a:prstGeom prst="rect">
            <a:avLst/>
          </a:prstGeom>
          <a:noFill/>
          <a:ln/>
        </p:spPr>
        <p:txBody>
          <a:bodyPr wrap="square" lIns="0" tIns="0" rIns="0" bIns="0" rtlCol="0" anchor="ctr"/>
          <a:lstStyle/>
          <a:p>
            <a:pPr marL="0" indent="0">
              <a:buNone/>
            </a:pPr>
            <a:r>
              <a:rPr lang="en-US" sz="900" dirty="0">
                <a:solidFill>
                  <a:srgbClr val="4A6278"/>
                </a:solidFill>
              </a:rPr>
              <a:t>Ranks stops by departures</a:t>
            </a:r>
            <a:endParaRPr lang="en-US" sz="900" dirty="0"/>
          </a:p>
        </p:txBody>
      </p:sp>
      <p:sp>
        <p:nvSpPr>
          <p:cNvPr id="32" name="Shape 30"/>
          <p:cNvSpPr/>
          <p:nvPr/>
        </p:nvSpPr>
        <p:spPr>
          <a:xfrm>
            <a:off x="365760" y="4142232"/>
            <a:ext cx="4114800" cy="347472"/>
          </a:xfrm>
          <a:prstGeom prst="rect">
            <a:avLst/>
          </a:prstGeom>
          <a:solidFill>
            <a:srgbClr val="FFFFFF"/>
          </a:solidFill>
          <a:ln w="12700">
            <a:solidFill>
              <a:srgbClr val="D0DCE8"/>
            </a:solidFill>
            <a:prstDash val="solid"/>
          </a:ln>
        </p:spPr>
      </p:sp>
      <p:sp>
        <p:nvSpPr>
          <p:cNvPr id="33" name="Text 31"/>
          <p:cNvSpPr/>
          <p:nvPr/>
        </p:nvSpPr>
        <p:spPr>
          <a:xfrm>
            <a:off x="502920" y="4142232"/>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fct_departures_by_hour.sql</a:t>
            </a:r>
            <a:endParaRPr lang="en-US" sz="1000" dirty="0"/>
          </a:p>
        </p:txBody>
      </p:sp>
      <p:sp>
        <p:nvSpPr>
          <p:cNvPr id="34" name="Text 32"/>
          <p:cNvSpPr/>
          <p:nvPr/>
        </p:nvSpPr>
        <p:spPr>
          <a:xfrm>
            <a:off x="2560320" y="4142232"/>
            <a:ext cx="914400" cy="347472"/>
          </a:xfrm>
          <a:prstGeom prst="rect">
            <a:avLst/>
          </a:prstGeom>
          <a:noFill/>
          <a:ln/>
        </p:spPr>
        <p:txBody>
          <a:bodyPr wrap="square" lIns="0" tIns="0" rIns="0" bIns="0" rtlCol="0" anchor="ctr"/>
          <a:lstStyle/>
          <a:p>
            <a:pPr marL="0" indent="0">
              <a:buNone/>
            </a:pPr>
            <a:r>
              <a:rPr lang="en-US" sz="900" dirty="0">
                <a:solidFill>
                  <a:srgbClr val="0096C7"/>
                </a:solidFill>
              </a:rPr>
              <a:t>Gold · Table</a:t>
            </a:r>
            <a:endParaRPr lang="en-US" sz="900" dirty="0"/>
          </a:p>
        </p:txBody>
      </p:sp>
      <p:sp>
        <p:nvSpPr>
          <p:cNvPr id="35" name="Text 33"/>
          <p:cNvSpPr/>
          <p:nvPr/>
        </p:nvSpPr>
        <p:spPr>
          <a:xfrm>
            <a:off x="3520440" y="4142232"/>
            <a:ext cx="1005840" cy="347472"/>
          </a:xfrm>
          <a:prstGeom prst="rect">
            <a:avLst/>
          </a:prstGeom>
          <a:noFill/>
          <a:ln/>
        </p:spPr>
        <p:txBody>
          <a:bodyPr wrap="square" lIns="0" tIns="0" rIns="0" bIns="0" rtlCol="0" anchor="ctr"/>
          <a:lstStyle/>
          <a:p>
            <a:pPr marL="0" indent="0">
              <a:buNone/>
            </a:pPr>
            <a:r>
              <a:rPr lang="en-US" sz="900" dirty="0">
                <a:solidFill>
                  <a:srgbClr val="4A6278"/>
                </a:solidFill>
              </a:rPr>
              <a:t>Hourly demand pattern</a:t>
            </a:r>
            <a:endParaRPr lang="en-US" sz="900" dirty="0"/>
          </a:p>
        </p:txBody>
      </p:sp>
      <p:sp>
        <p:nvSpPr>
          <p:cNvPr id="36" name="Shape 34"/>
          <p:cNvSpPr/>
          <p:nvPr/>
        </p:nvSpPr>
        <p:spPr>
          <a:xfrm>
            <a:off x="365760" y="4526280"/>
            <a:ext cx="4114800" cy="347472"/>
          </a:xfrm>
          <a:prstGeom prst="rect">
            <a:avLst/>
          </a:prstGeom>
          <a:solidFill>
            <a:srgbClr val="FFFFFF"/>
          </a:solidFill>
          <a:ln w="12700">
            <a:solidFill>
              <a:srgbClr val="D0DCE8"/>
            </a:solidFill>
            <a:prstDash val="solid"/>
          </a:ln>
        </p:spPr>
      </p:sp>
      <p:sp>
        <p:nvSpPr>
          <p:cNvPr id="37" name="Text 35"/>
          <p:cNvSpPr/>
          <p:nvPr/>
        </p:nvSpPr>
        <p:spPr>
          <a:xfrm>
            <a:off x="502920" y="4526280"/>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fct_routes_by_mode.sql</a:t>
            </a:r>
            <a:endParaRPr lang="en-US" sz="1000" dirty="0"/>
          </a:p>
        </p:txBody>
      </p:sp>
      <p:sp>
        <p:nvSpPr>
          <p:cNvPr id="38" name="Text 36"/>
          <p:cNvSpPr/>
          <p:nvPr/>
        </p:nvSpPr>
        <p:spPr>
          <a:xfrm>
            <a:off x="2560320" y="4526280"/>
            <a:ext cx="914400" cy="347472"/>
          </a:xfrm>
          <a:prstGeom prst="rect">
            <a:avLst/>
          </a:prstGeom>
          <a:noFill/>
          <a:ln/>
        </p:spPr>
        <p:txBody>
          <a:bodyPr wrap="square" lIns="0" tIns="0" rIns="0" bIns="0" rtlCol="0" anchor="ctr"/>
          <a:lstStyle/>
          <a:p>
            <a:pPr marL="0" indent="0">
              <a:buNone/>
            </a:pPr>
            <a:r>
              <a:rPr lang="en-US" sz="900" dirty="0">
                <a:solidFill>
                  <a:srgbClr val="0096C7"/>
                </a:solidFill>
              </a:rPr>
              <a:t>Gold · Table</a:t>
            </a:r>
            <a:endParaRPr lang="en-US" sz="900" dirty="0"/>
          </a:p>
        </p:txBody>
      </p:sp>
      <p:sp>
        <p:nvSpPr>
          <p:cNvPr id="39" name="Text 37"/>
          <p:cNvSpPr/>
          <p:nvPr/>
        </p:nvSpPr>
        <p:spPr>
          <a:xfrm>
            <a:off x="3520440" y="4526280"/>
            <a:ext cx="1005840" cy="347472"/>
          </a:xfrm>
          <a:prstGeom prst="rect">
            <a:avLst/>
          </a:prstGeom>
          <a:noFill/>
          <a:ln/>
        </p:spPr>
        <p:txBody>
          <a:bodyPr wrap="square" lIns="0" tIns="0" rIns="0" bIns="0" rtlCol="0" anchor="ctr"/>
          <a:lstStyle/>
          <a:p>
            <a:pPr marL="0" indent="0">
              <a:buNone/>
            </a:pPr>
            <a:r>
              <a:rPr lang="en-US" sz="900" dirty="0">
                <a:solidFill>
                  <a:srgbClr val="4A6278"/>
                </a:solidFill>
              </a:rPr>
              <a:t>Network by transport type</a:t>
            </a:r>
            <a:endParaRPr lang="en-US" sz="900" dirty="0"/>
          </a:p>
        </p:txBody>
      </p:sp>
      <p:sp>
        <p:nvSpPr>
          <p:cNvPr id="40" name="Shape 38"/>
          <p:cNvSpPr/>
          <p:nvPr/>
        </p:nvSpPr>
        <p:spPr>
          <a:xfrm>
            <a:off x="4754880" y="2606040"/>
            <a:ext cx="4023360" cy="502920"/>
          </a:xfrm>
          <a:prstGeom prst="rect">
            <a:avLst/>
          </a:prstGeom>
          <a:solidFill>
            <a:srgbClr val="FFFFFF"/>
          </a:solidFill>
          <a:ln w="12700">
            <a:solidFill>
              <a:srgbClr val="D0DCE8"/>
            </a:solidFill>
            <a:prstDash val="solid"/>
          </a:ln>
        </p:spPr>
      </p:sp>
      <p:sp>
        <p:nvSpPr>
          <p:cNvPr id="41" name="Text 39"/>
          <p:cNvSpPr/>
          <p:nvPr/>
        </p:nvSpPr>
        <p:spPr>
          <a:xfrm>
            <a:off x="4892040" y="2606040"/>
            <a:ext cx="2743200" cy="502920"/>
          </a:xfrm>
          <a:prstGeom prst="rect">
            <a:avLst/>
          </a:prstGeom>
          <a:noFill/>
          <a:ln/>
        </p:spPr>
        <p:txBody>
          <a:bodyPr wrap="square" lIns="0" tIns="0" rIns="0" bIns="0" rtlCol="0" anchor="ctr"/>
          <a:lstStyle/>
          <a:p>
            <a:pPr marL="0" indent="0">
              <a:buNone/>
            </a:pPr>
            <a:r>
              <a:rPr lang="en-US" sz="1100" dirty="0">
                <a:solidFill>
                  <a:srgbClr val="0D1B2A"/>
                </a:solidFill>
              </a:rPr>
              <a:t>not_null on stop_id</a:t>
            </a:r>
            <a:endParaRPr lang="en-US" sz="1100" dirty="0"/>
          </a:p>
        </p:txBody>
      </p:sp>
      <p:sp>
        <p:nvSpPr>
          <p:cNvPr id="42" name="Shape 40"/>
          <p:cNvSpPr/>
          <p:nvPr/>
        </p:nvSpPr>
        <p:spPr>
          <a:xfrm>
            <a:off x="7680960" y="2679192"/>
            <a:ext cx="914400" cy="347472"/>
          </a:xfrm>
          <a:prstGeom prst="rect">
            <a:avLst/>
          </a:prstGeom>
          <a:solidFill>
            <a:srgbClr val="22C55E">
              <a:alpha val="80000"/>
            </a:srgbClr>
          </a:solidFill>
          <a:ln w="12700">
            <a:solidFill>
              <a:srgbClr val="22C55E"/>
            </a:solidFill>
            <a:prstDash val="solid"/>
          </a:ln>
        </p:spPr>
      </p:sp>
      <p:sp>
        <p:nvSpPr>
          <p:cNvPr id="43" name="Text 41"/>
          <p:cNvSpPr/>
          <p:nvPr/>
        </p:nvSpPr>
        <p:spPr>
          <a:xfrm>
            <a:off x="7680960" y="2679192"/>
            <a:ext cx="914400" cy="347472"/>
          </a:xfrm>
          <a:prstGeom prst="rect">
            <a:avLst/>
          </a:prstGeom>
          <a:noFill/>
          <a:ln/>
        </p:spPr>
        <p:txBody>
          <a:bodyPr wrap="square" lIns="0" tIns="0" rIns="0" bIns="0" rtlCol="0" anchor="ctr"/>
          <a:lstStyle/>
          <a:p>
            <a:pPr marL="0" indent="0" algn="ctr">
              <a:buNone/>
            </a:pPr>
            <a:r>
              <a:rPr lang="en-US" sz="1000" b="1" dirty="0">
                <a:solidFill>
                  <a:srgbClr val="FFFFFF"/>
                </a:solidFill>
              </a:rPr>
              <a:t>PASS ✓</a:t>
            </a:r>
            <a:endParaRPr lang="en-US" sz="1000" dirty="0"/>
          </a:p>
        </p:txBody>
      </p:sp>
      <p:sp>
        <p:nvSpPr>
          <p:cNvPr id="44" name="Shape 42"/>
          <p:cNvSpPr/>
          <p:nvPr/>
        </p:nvSpPr>
        <p:spPr>
          <a:xfrm>
            <a:off x="4754880" y="3200400"/>
            <a:ext cx="4023360" cy="502920"/>
          </a:xfrm>
          <a:prstGeom prst="rect">
            <a:avLst/>
          </a:prstGeom>
          <a:solidFill>
            <a:srgbClr val="FFFFFF"/>
          </a:solidFill>
          <a:ln w="12700">
            <a:solidFill>
              <a:srgbClr val="D0DCE8"/>
            </a:solidFill>
            <a:prstDash val="solid"/>
          </a:ln>
        </p:spPr>
      </p:sp>
      <p:sp>
        <p:nvSpPr>
          <p:cNvPr id="45" name="Text 43"/>
          <p:cNvSpPr/>
          <p:nvPr/>
        </p:nvSpPr>
        <p:spPr>
          <a:xfrm>
            <a:off x="4892040" y="3200400"/>
            <a:ext cx="2743200" cy="502920"/>
          </a:xfrm>
          <a:prstGeom prst="rect">
            <a:avLst/>
          </a:prstGeom>
          <a:noFill/>
          <a:ln/>
        </p:spPr>
        <p:txBody>
          <a:bodyPr wrap="square" lIns="0" tIns="0" rIns="0" bIns="0" rtlCol="0" anchor="ctr"/>
          <a:lstStyle/>
          <a:p>
            <a:pPr marL="0" indent="0">
              <a:buNone/>
            </a:pPr>
            <a:r>
              <a:rPr lang="en-US" sz="1100" dirty="0">
                <a:solidFill>
                  <a:srgbClr val="0D1B2A"/>
                </a:solidFill>
              </a:rPr>
              <a:t>unique on stop_id</a:t>
            </a:r>
            <a:endParaRPr lang="en-US" sz="1100" dirty="0"/>
          </a:p>
        </p:txBody>
      </p:sp>
      <p:sp>
        <p:nvSpPr>
          <p:cNvPr id="46" name="Shape 44"/>
          <p:cNvSpPr/>
          <p:nvPr/>
        </p:nvSpPr>
        <p:spPr>
          <a:xfrm>
            <a:off x="7680960" y="3273552"/>
            <a:ext cx="914400" cy="347472"/>
          </a:xfrm>
          <a:prstGeom prst="rect">
            <a:avLst/>
          </a:prstGeom>
          <a:solidFill>
            <a:srgbClr val="22C55E">
              <a:alpha val="80000"/>
            </a:srgbClr>
          </a:solidFill>
          <a:ln w="12700">
            <a:solidFill>
              <a:srgbClr val="22C55E"/>
            </a:solidFill>
            <a:prstDash val="solid"/>
          </a:ln>
        </p:spPr>
      </p:sp>
      <p:sp>
        <p:nvSpPr>
          <p:cNvPr id="47" name="Text 45"/>
          <p:cNvSpPr/>
          <p:nvPr/>
        </p:nvSpPr>
        <p:spPr>
          <a:xfrm>
            <a:off x="7680960" y="3273552"/>
            <a:ext cx="914400" cy="347472"/>
          </a:xfrm>
          <a:prstGeom prst="rect">
            <a:avLst/>
          </a:prstGeom>
          <a:noFill/>
          <a:ln/>
        </p:spPr>
        <p:txBody>
          <a:bodyPr wrap="square" lIns="0" tIns="0" rIns="0" bIns="0" rtlCol="0" anchor="ctr"/>
          <a:lstStyle/>
          <a:p>
            <a:pPr marL="0" indent="0" algn="ctr">
              <a:buNone/>
            </a:pPr>
            <a:r>
              <a:rPr lang="en-US" sz="1000" b="1" dirty="0">
                <a:solidFill>
                  <a:srgbClr val="FFFFFF"/>
                </a:solidFill>
              </a:rPr>
              <a:t>PASS ✓</a:t>
            </a:r>
            <a:endParaRPr lang="en-US" sz="1000" dirty="0"/>
          </a:p>
        </p:txBody>
      </p:sp>
      <p:sp>
        <p:nvSpPr>
          <p:cNvPr id="48" name="Shape 46"/>
          <p:cNvSpPr/>
          <p:nvPr/>
        </p:nvSpPr>
        <p:spPr>
          <a:xfrm>
            <a:off x="4754880" y="3794760"/>
            <a:ext cx="4023360" cy="502920"/>
          </a:xfrm>
          <a:prstGeom prst="rect">
            <a:avLst/>
          </a:prstGeom>
          <a:solidFill>
            <a:srgbClr val="FFFFFF"/>
          </a:solidFill>
          <a:ln w="12700">
            <a:solidFill>
              <a:srgbClr val="D0DCE8"/>
            </a:solidFill>
            <a:prstDash val="solid"/>
          </a:ln>
        </p:spPr>
      </p:sp>
      <p:sp>
        <p:nvSpPr>
          <p:cNvPr id="49" name="Text 47"/>
          <p:cNvSpPr/>
          <p:nvPr/>
        </p:nvSpPr>
        <p:spPr>
          <a:xfrm>
            <a:off x="4892040" y="3794760"/>
            <a:ext cx="2743200" cy="502920"/>
          </a:xfrm>
          <a:prstGeom prst="rect">
            <a:avLst/>
          </a:prstGeom>
          <a:noFill/>
          <a:ln/>
        </p:spPr>
        <p:txBody>
          <a:bodyPr wrap="square" lIns="0" tIns="0" rIns="0" bIns="0" rtlCol="0" anchor="ctr"/>
          <a:lstStyle/>
          <a:p>
            <a:pPr marL="0" indent="0">
              <a:buNone/>
            </a:pPr>
            <a:r>
              <a:rPr lang="en-US" sz="1100" dirty="0">
                <a:solidFill>
                  <a:srgbClr val="0D1B2A"/>
                </a:solidFill>
              </a:rPr>
              <a:t>not_null on stop_name</a:t>
            </a:r>
            <a:endParaRPr lang="en-US" sz="1100" dirty="0"/>
          </a:p>
        </p:txBody>
      </p:sp>
      <p:sp>
        <p:nvSpPr>
          <p:cNvPr id="50" name="Shape 48"/>
          <p:cNvSpPr/>
          <p:nvPr/>
        </p:nvSpPr>
        <p:spPr>
          <a:xfrm>
            <a:off x="7680960" y="3867912"/>
            <a:ext cx="914400" cy="347472"/>
          </a:xfrm>
          <a:prstGeom prst="rect">
            <a:avLst/>
          </a:prstGeom>
          <a:solidFill>
            <a:srgbClr val="22C55E">
              <a:alpha val="80000"/>
            </a:srgbClr>
          </a:solidFill>
          <a:ln w="12700">
            <a:solidFill>
              <a:srgbClr val="22C55E"/>
            </a:solidFill>
            <a:prstDash val="solid"/>
          </a:ln>
        </p:spPr>
      </p:sp>
      <p:sp>
        <p:nvSpPr>
          <p:cNvPr id="51" name="Text 49"/>
          <p:cNvSpPr/>
          <p:nvPr/>
        </p:nvSpPr>
        <p:spPr>
          <a:xfrm>
            <a:off x="7680960" y="3867912"/>
            <a:ext cx="914400" cy="347472"/>
          </a:xfrm>
          <a:prstGeom prst="rect">
            <a:avLst/>
          </a:prstGeom>
          <a:noFill/>
          <a:ln/>
        </p:spPr>
        <p:txBody>
          <a:bodyPr wrap="square" lIns="0" tIns="0" rIns="0" bIns="0" rtlCol="0" anchor="ctr"/>
          <a:lstStyle/>
          <a:p>
            <a:pPr marL="0" indent="0" algn="ctr">
              <a:buNone/>
            </a:pPr>
            <a:r>
              <a:rPr lang="en-US" sz="1000" b="1" dirty="0">
                <a:solidFill>
                  <a:srgbClr val="FFFFFF"/>
                </a:solidFill>
              </a:rPr>
              <a:t>PASS ✓</a:t>
            </a:r>
            <a:endParaRPr lang="en-US" sz="1000" dirty="0"/>
          </a:p>
        </p:txBody>
      </p:sp>
      <p:sp>
        <p:nvSpPr>
          <p:cNvPr id="52" name="Shape 50"/>
          <p:cNvSpPr/>
          <p:nvPr/>
        </p:nvSpPr>
        <p:spPr>
          <a:xfrm>
            <a:off x="4754880" y="4389120"/>
            <a:ext cx="4023360" cy="502920"/>
          </a:xfrm>
          <a:prstGeom prst="rect">
            <a:avLst/>
          </a:prstGeom>
          <a:solidFill>
            <a:srgbClr val="FFFFFF"/>
          </a:solidFill>
          <a:ln w="12700">
            <a:solidFill>
              <a:srgbClr val="D0DCE8"/>
            </a:solidFill>
            <a:prstDash val="solid"/>
          </a:ln>
        </p:spPr>
      </p:sp>
      <p:sp>
        <p:nvSpPr>
          <p:cNvPr id="53" name="Text 51"/>
          <p:cNvSpPr/>
          <p:nvPr/>
        </p:nvSpPr>
        <p:spPr>
          <a:xfrm>
            <a:off x="4892040" y="4389120"/>
            <a:ext cx="2743200" cy="502920"/>
          </a:xfrm>
          <a:prstGeom prst="rect">
            <a:avLst/>
          </a:prstGeom>
          <a:noFill/>
          <a:ln/>
        </p:spPr>
        <p:txBody>
          <a:bodyPr wrap="square" lIns="0" tIns="0" rIns="0" bIns="0" rtlCol="0" anchor="ctr"/>
          <a:lstStyle/>
          <a:p>
            <a:pPr marL="0" indent="0">
              <a:buNone/>
            </a:pPr>
            <a:r>
              <a:rPr lang="en-US" sz="1100" dirty="0">
                <a:solidFill>
                  <a:srgbClr val="0D1B2A"/>
                </a:solidFill>
              </a:rPr>
              <a:t>dbt build (all models)</a:t>
            </a:r>
            <a:endParaRPr lang="en-US" sz="1100" dirty="0"/>
          </a:p>
        </p:txBody>
      </p:sp>
      <p:sp>
        <p:nvSpPr>
          <p:cNvPr id="54" name="Shape 52"/>
          <p:cNvSpPr/>
          <p:nvPr/>
        </p:nvSpPr>
        <p:spPr>
          <a:xfrm>
            <a:off x="7680960" y="4462272"/>
            <a:ext cx="914400" cy="347472"/>
          </a:xfrm>
          <a:prstGeom prst="rect">
            <a:avLst/>
          </a:prstGeom>
          <a:solidFill>
            <a:srgbClr val="22C55E">
              <a:alpha val="80000"/>
            </a:srgbClr>
          </a:solidFill>
          <a:ln w="12700">
            <a:solidFill>
              <a:srgbClr val="22C55E"/>
            </a:solidFill>
            <a:prstDash val="solid"/>
          </a:ln>
        </p:spPr>
      </p:sp>
      <p:sp>
        <p:nvSpPr>
          <p:cNvPr id="55" name="Text 53"/>
          <p:cNvSpPr/>
          <p:nvPr/>
        </p:nvSpPr>
        <p:spPr>
          <a:xfrm>
            <a:off x="7680960" y="4462272"/>
            <a:ext cx="914400" cy="347472"/>
          </a:xfrm>
          <a:prstGeom prst="rect">
            <a:avLst/>
          </a:prstGeom>
          <a:noFill/>
          <a:ln/>
        </p:spPr>
        <p:txBody>
          <a:bodyPr wrap="square" lIns="0" tIns="0" rIns="0" bIns="0" rtlCol="0" anchor="ctr"/>
          <a:lstStyle/>
          <a:p>
            <a:pPr marL="0" indent="0" algn="ctr">
              <a:buNone/>
            </a:pPr>
            <a:r>
              <a:rPr lang="en-US" sz="1000" b="1" dirty="0">
                <a:solidFill>
                  <a:srgbClr val="FFFFFF"/>
                </a:solidFill>
              </a:rPr>
              <a:t>6/6 PASS ✓</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5D5180-7557-AB92-D51D-5DDD334EF4DF}"/>
              </a:ext>
            </a:extLst>
          </p:cNvPr>
          <p:cNvPicPr>
            <a:picLocks noChangeAspect="1"/>
          </p:cNvPicPr>
          <p:nvPr/>
        </p:nvPicPr>
        <p:blipFill>
          <a:blip r:embed="rId2"/>
          <a:stretch>
            <a:fillRect/>
          </a:stretch>
        </p:blipFill>
        <p:spPr>
          <a:xfrm>
            <a:off x="666118" y="1071463"/>
            <a:ext cx="7502925" cy="3549476"/>
          </a:xfrm>
          <a:prstGeom prst="rect">
            <a:avLst/>
          </a:prstGeom>
        </p:spPr>
      </p:pic>
      <p:sp>
        <p:nvSpPr>
          <p:cNvPr id="4" name="Text 0">
            <a:extLst>
              <a:ext uri="{FF2B5EF4-FFF2-40B4-BE49-F238E27FC236}">
                <a16:creationId xmlns:a16="http://schemas.microsoft.com/office/drawing/2014/main" id="{97AC6525-163B-98BD-C04D-4C75C7FE1B44}"/>
              </a:ext>
            </a:extLst>
          </p:cNvPr>
          <p:cNvSpPr/>
          <p:nvPr/>
        </p:nvSpPr>
        <p:spPr>
          <a:xfrm>
            <a:off x="2608866" y="466168"/>
            <a:ext cx="3926268" cy="342900"/>
          </a:xfrm>
          <a:prstGeom prst="rect">
            <a:avLst/>
          </a:prstGeom>
          <a:noFill/>
          <a:ln/>
        </p:spPr>
        <p:txBody>
          <a:bodyPr wrap="square" rtlCol="0" anchor="ctr"/>
          <a:lstStyle/>
          <a:p>
            <a:r>
              <a:rPr lang="en-US" b="1" dirty="0">
                <a:solidFill>
                  <a:srgbClr val="0E7490"/>
                </a:solidFill>
              </a:rPr>
              <a:t>Documentation in </a:t>
            </a:r>
            <a:r>
              <a:rPr lang="en-US" b="1" dirty="0" err="1">
                <a:solidFill>
                  <a:srgbClr val="0E7490"/>
                </a:solidFill>
              </a:rPr>
              <a:t>schema.yml</a:t>
            </a:r>
            <a:endParaRPr lang="en-US" dirty="0"/>
          </a:p>
        </p:txBody>
      </p:sp>
    </p:spTree>
    <p:extLst>
      <p:ext uri="{BB962C8B-B14F-4D97-AF65-F5344CB8AC3E}">
        <p14:creationId xmlns:p14="http://schemas.microsoft.com/office/powerpoint/2010/main" val="208963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2597356-46BC-598C-F7D1-48D1609DA77D}"/>
              </a:ext>
            </a:extLst>
          </p:cNvPr>
          <p:cNvPicPr>
            <a:picLocks noChangeAspect="1"/>
          </p:cNvPicPr>
          <p:nvPr/>
        </p:nvPicPr>
        <p:blipFill>
          <a:blip r:embed="rId2"/>
          <a:stretch>
            <a:fillRect/>
          </a:stretch>
        </p:blipFill>
        <p:spPr>
          <a:xfrm>
            <a:off x="766916" y="1260322"/>
            <a:ext cx="7245950" cy="3449727"/>
          </a:xfrm>
          <a:prstGeom prst="rect">
            <a:avLst/>
          </a:prstGeom>
        </p:spPr>
      </p:pic>
      <p:sp>
        <p:nvSpPr>
          <p:cNvPr id="5" name="Text 0">
            <a:extLst>
              <a:ext uri="{FF2B5EF4-FFF2-40B4-BE49-F238E27FC236}">
                <a16:creationId xmlns:a16="http://schemas.microsoft.com/office/drawing/2014/main" id="{A88D8752-7280-30C6-6820-EB39CAA78572}"/>
              </a:ext>
            </a:extLst>
          </p:cNvPr>
          <p:cNvSpPr/>
          <p:nvPr/>
        </p:nvSpPr>
        <p:spPr>
          <a:xfrm>
            <a:off x="2330245" y="573562"/>
            <a:ext cx="4866967" cy="342900"/>
          </a:xfrm>
          <a:prstGeom prst="rect">
            <a:avLst/>
          </a:prstGeom>
          <a:noFill/>
          <a:ln/>
        </p:spPr>
        <p:txBody>
          <a:bodyPr wrap="square" rtlCol="0" anchor="ctr"/>
          <a:lstStyle/>
          <a:p>
            <a:r>
              <a:rPr lang="en-US" b="1" dirty="0" err="1">
                <a:solidFill>
                  <a:srgbClr val="0E7490"/>
                </a:solidFill>
              </a:rPr>
              <a:t>Dbt</a:t>
            </a:r>
            <a:r>
              <a:rPr lang="en-US" b="1" dirty="0">
                <a:solidFill>
                  <a:srgbClr val="0E7490"/>
                </a:solidFill>
              </a:rPr>
              <a:t> – Source &amp; Models Configuration</a:t>
            </a:r>
            <a:endParaRPr lang="en-US" dirty="0"/>
          </a:p>
        </p:txBody>
      </p:sp>
    </p:spTree>
    <p:extLst>
      <p:ext uri="{BB962C8B-B14F-4D97-AF65-F5344CB8AC3E}">
        <p14:creationId xmlns:p14="http://schemas.microsoft.com/office/powerpoint/2010/main" val="40546290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696B7A0-E956-3576-B3BB-535F9864034C}"/>
              </a:ext>
            </a:extLst>
          </p:cNvPr>
          <p:cNvPicPr>
            <a:picLocks noChangeAspect="1"/>
          </p:cNvPicPr>
          <p:nvPr/>
        </p:nvPicPr>
        <p:blipFill>
          <a:blip r:embed="rId2"/>
          <a:stretch>
            <a:fillRect/>
          </a:stretch>
        </p:blipFill>
        <p:spPr>
          <a:xfrm>
            <a:off x="811161" y="1122201"/>
            <a:ext cx="7381714" cy="3712450"/>
          </a:xfrm>
          <a:prstGeom prst="rect">
            <a:avLst/>
          </a:prstGeom>
        </p:spPr>
      </p:pic>
      <p:sp>
        <p:nvSpPr>
          <p:cNvPr id="5" name="Text 0">
            <a:extLst>
              <a:ext uri="{FF2B5EF4-FFF2-40B4-BE49-F238E27FC236}">
                <a16:creationId xmlns:a16="http://schemas.microsoft.com/office/drawing/2014/main" id="{FB190BBF-D582-E2A3-8A12-3AE55E5E7E0E}"/>
              </a:ext>
            </a:extLst>
          </p:cNvPr>
          <p:cNvSpPr/>
          <p:nvPr/>
        </p:nvSpPr>
        <p:spPr>
          <a:xfrm>
            <a:off x="3411371" y="470164"/>
            <a:ext cx="2680593" cy="342900"/>
          </a:xfrm>
          <a:prstGeom prst="rect">
            <a:avLst/>
          </a:prstGeom>
          <a:noFill/>
          <a:ln/>
        </p:spPr>
        <p:txBody>
          <a:bodyPr wrap="square" rtlCol="0" anchor="ctr"/>
          <a:lstStyle/>
          <a:p>
            <a:r>
              <a:rPr lang="en-US" b="1" dirty="0" err="1">
                <a:solidFill>
                  <a:srgbClr val="0E7490"/>
                </a:solidFill>
              </a:rPr>
              <a:t>dbt</a:t>
            </a:r>
            <a:r>
              <a:rPr lang="en-US" b="1" dirty="0">
                <a:solidFill>
                  <a:srgbClr val="0E7490"/>
                </a:solidFill>
              </a:rPr>
              <a:t> Silver &amp; Gold Model </a:t>
            </a:r>
            <a:endParaRPr lang="en-US" dirty="0"/>
          </a:p>
        </p:txBody>
      </p:sp>
    </p:spTree>
    <p:extLst>
      <p:ext uri="{BB962C8B-B14F-4D97-AF65-F5344CB8AC3E}">
        <p14:creationId xmlns:p14="http://schemas.microsoft.com/office/powerpoint/2010/main" val="22911724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D7964B-13FE-9384-B725-6485D0051852}"/>
              </a:ext>
            </a:extLst>
          </p:cNvPr>
          <p:cNvPicPr>
            <a:picLocks noChangeAspect="1"/>
          </p:cNvPicPr>
          <p:nvPr/>
        </p:nvPicPr>
        <p:blipFill>
          <a:blip r:embed="rId2"/>
          <a:stretch>
            <a:fillRect/>
          </a:stretch>
        </p:blipFill>
        <p:spPr>
          <a:xfrm>
            <a:off x="905642" y="1150570"/>
            <a:ext cx="7093843" cy="3333388"/>
          </a:xfrm>
          <a:prstGeom prst="rect">
            <a:avLst/>
          </a:prstGeom>
        </p:spPr>
      </p:pic>
      <p:sp>
        <p:nvSpPr>
          <p:cNvPr id="4" name="Text 3">
            <a:extLst>
              <a:ext uri="{FF2B5EF4-FFF2-40B4-BE49-F238E27FC236}">
                <a16:creationId xmlns:a16="http://schemas.microsoft.com/office/drawing/2014/main" id="{2610FBA0-2A22-D1C8-C802-DB18AEFDC523}"/>
              </a:ext>
            </a:extLst>
          </p:cNvPr>
          <p:cNvSpPr/>
          <p:nvPr/>
        </p:nvSpPr>
        <p:spPr>
          <a:xfrm>
            <a:off x="517756" y="139280"/>
            <a:ext cx="8229600" cy="914400"/>
          </a:xfrm>
          <a:prstGeom prst="rect">
            <a:avLst/>
          </a:prstGeom>
          <a:noFill/>
          <a:ln/>
        </p:spPr>
        <p:txBody>
          <a:bodyPr wrap="square" lIns="0" tIns="0" rIns="0" bIns="0" rtlCol="0" anchor="ctr"/>
          <a:lstStyle/>
          <a:p>
            <a:pPr marL="0" indent="0">
              <a:buNone/>
            </a:pPr>
            <a:endParaRPr lang="en-US" sz="5200" dirty="0"/>
          </a:p>
        </p:txBody>
      </p:sp>
      <p:sp>
        <p:nvSpPr>
          <p:cNvPr id="6" name="Text 0">
            <a:extLst>
              <a:ext uri="{FF2B5EF4-FFF2-40B4-BE49-F238E27FC236}">
                <a16:creationId xmlns:a16="http://schemas.microsoft.com/office/drawing/2014/main" id="{4BBEF62B-AC35-7527-68C9-1B9672B53E3B}"/>
              </a:ext>
            </a:extLst>
          </p:cNvPr>
          <p:cNvSpPr/>
          <p:nvPr/>
        </p:nvSpPr>
        <p:spPr>
          <a:xfrm>
            <a:off x="3215148" y="587775"/>
            <a:ext cx="2942303" cy="342900"/>
          </a:xfrm>
          <a:prstGeom prst="rect">
            <a:avLst/>
          </a:prstGeom>
          <a:noFill/>
          <a:ln/>
        </p:spPr>
        <p:txBody>
          <a:bodyPr wrap="square" rtlCol="0" anchor="ctr"/>
          <a:lstStyle/>
          <a:p>
            <a:r>
              <a:rPr lang="en-US" b="1" dirty="0" err="1">
                <a:solidFill>
                  <a:srgbClr val="0E7490"/>
                </a:solidFill>
              </a:rPr>
              <a:t>dbt</a:t>
            </a:r>
            <a:r>
              <a:rPr lang="en-US" b="1" dirty="0">
                <a:solidFill>
                  <a:srgbClr val="0E7490"/>
                </a:solidFill>
              </a:rPr>
              <a:t> Daily run on Production</a:t>
            </a:r>
            <a:endParaRPr lang="en-US" dirty="0"/>
          </a:p>
        </p:txBody>
      </p:sp>
    </p:spTree>
    <p:extLst>
      <p:ext uri="{BB962C8B-B14F-4D97-AF65-F5344CB8AC3E}">
        <p14:creationId xmlns:p14="http://schemas.microsoft.com/office/powerpoint/2010/main" val="24116527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929D66E-1F82-8D41-83B8-892A3DC98D21}"/>
              </a:ext>
            </a:extLst>
          </p:cNvPr>
          <p:cNvPicPr>
            <a:picLocks noChangeAspect="1"/>
          </p:cNvPicPr>
          <p:nvPr/>
        </p:nvPicPr>
        <p:blipFill>
          <a:blip r:embed="rId2"/>
          <a:stretch>
            <a:fillRect/>
          </a:stretch>
        </p:blipFill>
        <p:spPr>
          <a:xfrm>
            <a:off x="1084007" y="1303167"/>
            <a:ext cx="7105920" cy="3353904"/>
          </a:xfrm>
          <a:prstGeom prst="rect">
            <a:avLst/>
          </a:prstGeom>
        </p:spPr>
      </p:pic>
      <p:sp>
        <p:nvSpPr>
          <p:cNvPr id="4" name="Text 0">
            <a:extLst>
              <a:ext uri="{FF2B5EF4-FFF2-40B4-BE49-F238E27FC236}">
                <a16:creationId xmlns:a16="http://schemas.microsoft.com/office/drawing/2014/main" id="{16219C64-0CD7-2AF7-5CD7-5F6791E519A0}"/>
              </a:ext>
            </a:extLst>
          </p:cNvPr>
          <p:cNvSpPr/>
          <p:nvPr/>
        </p:nvSpPr>
        <p:spPr>
          <a:xfrm>
            <a:off x="3045543" y="587775"/>
            <a:ext cx="4513006" cy="342900"/>
          </a:xfrm>
          <a:prstGeom prst="rect">
            <a:avLst/>
          </a:prstGeom>
          <a:noFill/>
          <a:ln/>
        </p:spPr>
        <p:txBody>
          <a:bodyPr wrap="square" rtlCol="0" anchor="ctr"/>
          <a:lstStyle/>
          <a:p>
            <a:r>
              <a:rPr lang="en-US" b="1" dirty="0" err="1">
                <a:solidFill>
                  <a:srgbClr val="0E7490"/>
                </a:solidFill>
              </a:rPr>
              <a:t>dbt</a:t>
            </a:r>
            <a:r>
              <a:rPr lang="en-US" b="1" dirty="0">
                <a:solidFill>
                  <a:srgbClr val="0E7490"/>
                </a:solidFill>
              </a:rPr>
              <a:t> Daily run on Production</a:t>
            </a:r>
            <a:endParaRPr lang="en-US" dirty="0"/>
          </a:p>
        </p:txBody>
      </p:sp>
    </p:spTree>
    <p:extLst>
      <p:ext uri="{BB962C8B-B14F-4D97-AF65-F5344CB8AC3E}">
        <p14:creationId xmlns:p14="http://schemas.microsoft.com/office/powerpoint/2010/main" val="39155351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40030" cy="5143500"/>
          </a:xfrm>
          <a:prstGeom prst="rect">
            <a:avLst/>
          </a:prstGeom>
          <a:solidFill>
            <a:srgbClr val="F2C811"/>
          </a:solidFill>
          <a:ln/>
        </p:spPr>
      </p:sp>
      <p:sp>
        <p:nvSpPr>
          <p:cNvPr id="3" name="Text 1"/>
          <p:cNvSpPr/>
          <p:nvPr/>
        </p:nvSpPr>
        <p:spPr>
          <a:xfrm>
            <a:off x="617220" y="480060"/>
            <a:ext cx="5486400" cy="274320"/>
          </a:xfrm>
          <a:prstGeom prst="rect">
            <a:avLst/>
          </a:prstGeom>
          <a:noFill/>
          <a:ln/>
        </p:spPr>
        <p:txBody>
          <a:bodyPr wrap="square" rtlCol="0" anchor="ctr"/>
          <a:lstStyle/>
          <a:p>
            <a:r>
              <a:rPr lang="en-US" sz="1050" b="1" kern="0" spc="450" dirty="0">
                <a:solidFill>
                  <a:srgbClr val="F2C811"/>
                </a:solidFill>
              </a:rPr>
              <a:t>INTRODUCTION</a:t>
            </a:r>
            <a:endParaRPr lang="en-US" sz="1050" dirty="0"/>
          </a:p>
        </p:txBody>
      </p:sp>
      <p:sp>
        <p:nvSpPr>
          <p:cNvPr id="4" name="Text 2"/>
          <p:cNvSpPr/>
          <p:nvPr/>
        </p:nvSpPr>
        <p:spPr>
          <a:xfrm>
            <a:off x="617220" y="754380"/>
            <a:ext cx="6858000" cy="960120"/>
          </a:xfrm>
          <a:prstGeom prst="rect">
            <a:avLst/>
          </a:prstGeom>
          <a:noFill/>
          <a:ln/>
        </p:spPr>
        <p:txBody>
          <a:bodyPr wrap="square" rtlCol="0" anchor="ctr"/>
          <a:lstStyle/>
          <a:p>
            <a:r>
              <a:rPr lang="en-US" sz="5400" b="1" dirty="0">
                <a:latin typeface="Calibri" pitchFamily="34" charset="0"/>
                <a:ea typeface="Calibri" pitchFamily="34" charset="-122"/>
                <a:cs typeface="Calibri" pitchFamily="34" charset="-120"/>
              </a:rPr>
              <a:t>Power BI</a:t>
            </a:r>
            <a:endParaRPr lang="en-US" sz="5400" dirty="0"/>
          </a:p>
        </p:txBody>
      </p:sp>
      <p:sp>
        <p:nvSpPr>
          <p:cNvPr id="5" name="Text 3"/>
          <p:cNvSpPr/>
          <p:nvPr/>
        </p:nvSpPr>
        <p:spPr>
          <a:xfrm>
            <a:off x="617220" y="2073041"/>
            <a:ext cx="8171849" cy="548640"/>
          </a:xfrm>
          <a:prstGeom prst="rect">
            <a:avLst/>
          </a:prstGeom>
          <a:noFill/>
          <a:ln/>
        </p:spPr>
        <p:txBody>
          <a:bodyPr wrap="square" rtlCol="0" anchor="ctr"/>
          <a:lstStyle/>
          <a:p>
            <a:r>
              <a:rPr lang="en-US" i="1" dirty="0">
                <a:latin typeface="Calibri" pitchFamily="34" charset="0"/>
                <a:ea typeface="Calibri" pitchFamily="34" charset="-122"/>
                <a:cs typeface="Calibri" pitchFamily="34" charset="-120"/>
              </a:rPr>
              <a:t>In our pipeline, Power BI is the final layer — connecting directly to Snowflake’s Gold tables to deliver dashboards and reports to end users.</a:t>
            </a:r>
            <a:endParaRPr lang="en-US" i="1" dirty="0"/>
          </a:p>
        </p:txBody>
      </p:sp>
      <p:sp>
        <p:nvSpPr>
          <p:cNvPr id="6" name="Shape 4"/>
          <p:cNvSpPr/>
          <p:nvPr/>
        </p:nvSpPr>
        <p:spPr>
          <a:xfrm>
            <a:off x="656924" y="3001879"/>
            <a:ext cx="822960" cy="0"/>
          </a:xfrm>
          <a:prstGeom prst="line">
            <a:avLst/>
          </a:prstGeom>
          <a:noFill/>
          <a:ln w="38100">
            <a:solidFill>
              <a:srgbClr val="F2C811"/>
            </a:solidFill>
            <a:prstDash val="solid"/>
          </a:ln>
        </p:spPr>
      </p:sp>
      <p:sp>
        <p:nvSpPr>
          <p:cNvPr id="8" name="Shape 6"/>
          <p:cNvSpPr/>
          <p:nvPr/>
        </p:nvSpPr>
        <p:spPr>
          <a:xfrm>
            <a:off x="617220" y="3634740"/>
            <a:ext cx="2674620" cy="1165860"/>
          </a:xfrm>
          <a:prstGeom prst="roundRect">
            <a:avLst>
              <a:gd name="adj" fmla="val 5882"/>
            </a:avLst>
          </a:prstGeom>
          <a:solidFill>
            <a:srgbClr val="1E293B"/>
          </a:solidFill>
          <a:ln w="12700">
            <a:solidFill>
              <a:srgbClr val="F2C811"/>
            </a:solidFill>
            <a:prstDash val="solid"/>
          </a:ln>
        </p:spPr>
      </p:sp>
      <p:sp>
        <p:nvSpPr>
          <p:cNvPr id="9" name="Text 7"/>
          <p:cNvSpPr/>
          <p:nvPr/>
        </p:nvSpPr>
        <p:spPr>
          <a:xfrm>
            <a:off x="754380" y="377190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0" name="Text 8"/>
          <p:cNvSpPr/>
          <p:nvPr/>
        </p:nvSpPr>
        <p:spPr>
          <a:xfrm>
            <a:off x="1234440" y="3771900"/>
            <a:ext cx="1988820" cy="308610"/>
          </a:xfrm>
          <a:prstGeom prst="rect">
            <a:avLst/>
          </a:prstGeom>
          <a:noFill/>
          <a:ln/>
        </p:spPr>
        <p:txBody>
          <a:bodyPr wrap="square" rtlCol="0" anchor="ctr"/>
          <a:lstStyle/>
          <a:p>
            <a:r>
              <a:rPr lang="en-US" sz="1200" b="1" dirty="0">
                <a:solidFill>
                  <a:srgbClr val="F2C811"/>
                </a:solidFill>
              </a:rPr>
              <a:t>Live Connection</a:t>
            </a:r>
            <a:endParaRPr lang="en-US" sz="1200" dirty="0"/>
          </a:p>
        </p:txBody>
      </p:sp>
      <p:sp>
        <p:nvSpPr>
          <p:cNvPr id="11" name="Text 9"/>
          <p:cNvSpPr/>
          <p:nvPr/>
        </p:nvSpPr>
        <p:spPr>
          <a:xfrm>
            <a:off x="1234440" y="4114800"/>
            <a:ext cx="1988820" cy="617220"/>
          </a:xfrm>
          <a:prstGeom prst="rect">
            <a:avLst/>
          </a:prstGeom>
          <a:noFill/>
          <a:ln/>
        </p:spPr>
        <p:txBody>
          <a:bodyPr wrap="square" rtlCol="0" anchor="ctr"/>
          <a:lstStyle/>
          <a:p>
            <a:r>
              <a:rPr lang="en-US" sz="900" dirty="0">
                <a:solidFill>
                  <a:srgbClr val="CBD5E1"/>
                </a:solidFill>
              </a:rPr>
              <a:t>Direct query to Snowflake Gold layer</a:t>
            </a:r>
            <a:endParaRPr lang="en-US" sz="900" dirty="0"/>
          </a:p>
        </p:txBody>
      </p:sp>
      <p:sp>
        <p:nvSpPr>
          <p:cNvPr id="12" name="Shape 10"/>
          <p:cNvSpPr/>
          <p:nvPr/>
        </p:nvSpPr>
        <p:spPr>
          <a:xfrm>
            <a:off x="3463290" y="3634740"/>
            <a:ext cx="2674620" cy="1165860"/>
          </a:xfrm>
          <a:prstGeom prst="roundRect">
            <a:avLst>
              <a:gd name="adj" fmla="val 5882"/>
            </a:avLst>
          </a:prstGeom>
          <a:solidFill>
            <a:srgbClr val="1E293B"/>
          </a:solidFill>
          <a:ln w="12700">
            <a:solidFill>
              <a:srgbClr val="F2C811"/>
            </a:solidFill>
            <a:prstDash val="solid"/>
          </a:ln>
        </p:spPr>
      </p:sp>
      <p:sp>
        <p:nvSpPr>
          <p:cNvPr id="13" name="Text 11"/>
          <p:cNvSpPr/>
          <p:nvPr/>
        </p:nvSpPr>
        <p:spPr>
          <a:xfrm>
            <a:off x="3600450" y="377190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4" name="Text 12"/>
          <p:cNvSpPr/>
          <p:nvPr/>
        </p:nvSpPr>
        <p:spPr>
          <a:xfrm>
            <a:off x="4080510" y="3771900"/>
            <a:ext cx="1988820" cy="308610"/>
          </a:xfrm>
          <a:prstGeom prst="rect">
            <a:avLst/>
          </a:prstGeom>
          <a:noFill/>
          <a:ln/>
        </p:spPr>
        <p:txBody>
          <a:bodyPr wrap="square" rtlCol="0" anchor="ctr"/>
          <a:lstStyle/>
          <a:p>
            <a:r>
              <a:rPr lang="en-US" sz="1200" b="1" dirty="0">
                <a:solidFill>
                  <a:srgbClr val="F2C811"/>
                </a:solidFill>
              </a:rPr>
              <a:t>Interactive Reports</a:t>
            </a:r>
            <a:endParaRPr lang="en-US" sz="1200" dirty="0"/>
          </a:p>
        </p:txBody>
      </p:sp>
      <p:sp>
        <p:nvSpPr>
          <p:cNvPr id="15" name="Text 13"/>
          <p:cNvSpPr/>
          <p:nvPr/>
        </p:nvSpPr>
        <p:spPr>
          <a:xfrm>
            <a:off x="4080510" y="4114800"/>
            <a:ext cx="1988820" cy="617220"/>
          </a:xfrm>
          <a:prstGeom prst="rect">
            <a:avLst/>
          </a:prstGeom>
          <a:noFill/>
          <a:ln/>
        </p:spPr>
        <p:txBody>
          <a:bodyPr wrap="square" rtlCol="0" anchor="ctr"/>
          <a:lstStyle/>
          <a:p>
            <a:r>
              <a:rPr lang="en-US" sz="900" dirty="0">
                <a:solidFill>
                  <a:srgbClr val="CBD5E1"/>
                </a:solidFill>
              </a:rPr>
              <a:t>Drill-down dashboards &amp; visuals</a:t>
            </a:r>
            <a:endParaRPr lang="en-US" sz="900" dirty="0"/>
          </a:p>
        </p:txBody>
      </p:sp>
      <p:sp>
        <p:nvSpPr>
          <p:cNvPr id="16" name="Shape 14"/>
          <p:cNvSpPr/>
          <p:nvPr/>
        </p:nvSpPr>
        <p:spPr>
          <a:xfrm>
            <a:off x="6309360" y="3634740"/>
            <a:ext cx="2674620" cy="1165860"/>
          </a:xfrm>
          <a:prstGeom prst="roundRect">
            <a:avLst>
              <a:gd name="adj" fmla="val 5882"/>
            </a:avLst>
          </a:prstGeom>
          <a:solidFill>
            <a:srgbClr val="1E293B"/>
          </a:solidFill>
          <a:ln w="12700">
            <a:solidFill>
              <a:srgbClr val="F2C811"/>
            </a:solidFill>
            <a:prstDash val="solid"/>
          </a:ln>
        </p:spPr>
      </p:sp>
      <p:sp>
        <p:nvSpPr>
          <p:cNvPr id="17" name="Text 15"/>
          <p:cNvSpPr/>
          <p:nvPr/>
        </p:nvSpPr>
        <p:spPr>
          <a:xfrm>
            <a:off x="6446520" y="377190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8" name="Text 16"/>
          <p:cNvSpPr/>
          <p:nvPr/>
        </p:nvSpPr>
        <p:spPr>
          <a:xfrm>
            <a:off x="6926580" y="3771900"/>
            <a:ext cx="1988820" cy="308610"/>
          </a:xfrm>
          <a:prstGeom prst="rect">
            <a:avLst/>
          </a:prstGeom>
          <a:noFill/>
          <a:ln/>
        </p:spPr>
        <p:txBody>
          <a:bodyPr wrap="square" rtlCol="0" anchor="ctr"/>
          <a:lstStyle/>
          <a:p>
            <a:r>
              <a:rPr lang="en-US" sz="1200" b="1" dirty="0">
                <a:solidFill>
                  <a:srgbClr val="F2C811"/>
                </a:solidFill>
              </a:rPr>
              <a:t>Self-Service BI</a:t>
            </a:r>
            <a:endParaRPr lang="en-US" sz="1200" dirty="0"/>
          </a:p>
        </p:txBody>
      </p:sp>
      <p:sp>
        <p:nvSpPr>
          <p:cNvPr id="19" name="Text 17"/>
          <p:cNvSpPr/>
          <p:nvPr/>
        </p:nvSpPr>
        <p:spPr>
          <a:xfrm>
            <a:off x="6926580" y="4114800"/>
            <a:ext cx="1988820" cy="617220"/>
          </a:xfrm>
          <a:prstGeom prst="rect">
            <a:avLst/>
          </a:prstGeom>
          <a:noFill/>
          <a:ln/>
        </p:spPr>
        <p:txBody>
          <a:bodyPr wrap="square" rtlCol="0" anchor="ctr"/>
          <a:lstStyle/>
          <a:p>
            <a:r>
              <a:rPr lang="en-US" sz="900" dirty="0">
                <a:solidFill>
                  <a:srgbClr val="CBD5E1"/>
                </a:solidFill>
              </a:rPr>
              <a:t>Empowers business users to explore data</a:t>
            </a:r>
            <a:endParaRPr lang="en-US" sz="900" dirty="0"/>
          </a:p>
        </p:txBody>
      </p:sp>
      <p:sp>
        <p:nvSpPr>
          <p:cNvPr id="20" name="Text 18"/>
          <p:cNvSpPr/>
          <p:nvPr/>
        </p:nvSpPr>
        <p:spPr>
          <a:xfrm>
            <a:off x="617220" y="4834890"/>
            <a:ext cx="6858000" cy="205740"/>
          </a:xfrm>
          <a:prstGeom prst="rect">
            <a:avLst/>
          </a:prstGeom>
          <a:noFill/>
          <a:ln/>
        </p:spPr>
        <p:txBody>
          <a:bodyPr wrap="square" rtlCol="0" anchor="ctr"/>
          <a:lstStyle/>
          <a:p>
            <a:r>
              <a:rPr lang="en-US" sz="825" dirty="0">
                <a:solidFill>
                  <a:srgbClr val="64748B"/>
                </a:solidFill>
              </a:rPr>
              <a:t>Pipeline Architecture  ·  Reporting Layer</a:t>
            </a:r>
            <a:endParaRPr lang="en-US" sz="825"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EC598E5-E290-BDA5-F683-0645D3ED5CC9}"/>
              </a:ext>
            </a:extLst>
          </p:cNvPr>
          <p:cNvPicPr>
            <a:picLocks noChangeAspect="1"/>
          </p:cNvPicPr>
          <p:nvPr/>
        </p:nvPicPr>
        <p:blipFill>
          <a:blip r:embed="rId2"/>
          <a:stretch>
            <a:fillRect/>
          </a:stretch>
        </p:blipFill>
        <p:spPr>
          <a:xfrm>
            <a:off x="608873" y="1064061"/>
            <a:ext cx="7269501" cy="3470920"/>
          </a:xfrm>
          <a:prstGeom prst="rect">
            <a:avLst/>
          </a:prstGeom>
        </p:spPr>
      </p:pic>
      <p:sp>
        <p:nvSpPr>
          <p:cNvPr id="4" name="Text 0">
            <a:extLst>
              <a:ext uri="{FF2B5EF4-FFF2-40B4-BE49-F238E27FC236}">
                <a16:creationId xmlns:a16="http://schemas.microsoft.com/office/drawing/2014/main" id="{CEA1F8A5-25BD-B7FA-8B84-06728EA2D9E0}"/>
              </a:ext>
            </a:extLst>
          </p:cNvPr>
          <p:cNvSpPr/>
          <p:nvPr/>
        </p:nvSpPr>
        <p:spPr>
          <a:xfrm>
            <a:off x="2938444" y="437069"/>
            <a:ext cx="2942303" cy="342900"/>
          </a:xfrm>
          <a:prstGeom prst="rect">
            <a:avLst/>
          </a:prstGeom>
          <a:noFill/>
          <a:ln/>
        </p:spPr>
        <p:txBody>
          <a:bodyPr wrap="square" rtlCol="0" anchor="ctr"/>
          <a:lstStyle/>
          <a:p>
            <a:r>
              <a:rPr lang="en-US" b="1" dirty="0">
                <a:solidFill>
                  <a:srgbClr val="0E7490"/>
                </a:solidFill>
              </a:rPr>
              <a:t>Power Bi Scheduled Refresh</a:t>
            </a:r>
            <a:endParaRPr lang="en-US" dirty="0"/>
          </a:p>
        </p:txBody>
      </p:sp>
    </p:spTree>
    <p:extLst>
      <p:ext uri="{BB962C8B-B14F-4D97-AF65-F5344CB8AC3E}">
        <p14:creationId xmlns:p14="http://schemas.microsoft.com/office/powerpoint/2010/main" val="15507632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E5A82C1-4790-1B76-9A21-6938EA52EBEC}"/>
              </a:ext>
            </a:extLst>
          </p:cNvPr>
          <p:cNvPicPr>
            <a:picLocks noChangeAspect="1"/>
          </p:cNvPicPr>
          <p:nvPr/>
        </p:nvPicPr>
        <p:blipFill>
          <a:blip r:embed="rId2"/>
          <a:stretch>
            <a:fillRect/>
          </a:stretch>
        </p:blipFill>
        <p:spPr>
          <a:xfrm>
            <a:off x="792294" y="906182"/>
            <a:ext cx="6888103" cy="3650293"/>
          </a:xfrm>
          <a:prstGeom prst="rect">
            <a:avLst/>
          </a:prstGeom>
        </p:spPr>
      </p:pic>
      <p:sp>
        <p:nvSpPr>
          <p:cNvPr id="5" name="Text 0">
            <a:extLst>
              <a:ext uri="{FF2B5EF4-FFF2-40B4-BE49-F238E27FC236}">
                <a16:creationId xmlns:a16="http://schemas.microsoft.com/office/drawing/2014/main" id="{FF21581B-B46A-828B-BC81-841FF8C17285}"/>
              </a:ext>
            </a:extLst>
          </p:cNvPr>
          <p:cNvSpPr/>
          <p:nvPr/>
        </p:nvSpPr>
        <p:spPr>
          <a:xfrm>
            <a:off x="2204250" y="415575"/>
            <a:ext cx="5127994" cy="342900"/>
          </a:xfrm>
          <a:prstGeom prst="rect">
            <a:avLst/>
          </a:prstGeom>
          <a:noFill/>
          <a:ln/>
        </p:spPr>
        <p:txBody>
          <a:bodyPr wrap="square" rtlCol="0" anchor="ctr"/>
          <a:lstStyle/>
          <a:p>
            <a:r>
              <a:rPr lang="en-US" b="1" dirty="0">
                <a:solidFill>
                  <a:srgbClr val="0E7490"/>
                </a:solidFill>
              </a:rPr>
              <a:t>Power Bi Connected to Snowflake Gold Layer</a:t>
            </a:r>
            <a:endParaRPr lang="en-US" dirty="0"/>
          </a:p>
        </p:txBody>
      </p:sp>
    </p:spTree>
    <p:extLst>
      <p:ext uri="{BB962C8B-B14F-4D97-AF65-F5344CB8AC3E}">
        <p14:creationId xmlns:p14="http://schemas.microsoft.com/office/powerpoint/2010/main" val="279990085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0D1B2A"/>
          </a:solidFill>
          <a:ln w="12700">
            <a:solidFill>
              <a:srgbClr val="0D1B2A"/>
            </a:solidFill>
            <a:prstDash val="solid"/>
          </a:ln>
        </p:spPr>
      </p:sp>
      <p:sp>
        <p:nvSpPr>
          <p:cNvPr id="3" name="Text 1"/>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KEY INSIGHTS</a:t>
            </a:r>
            <a:endParaRPr lang="en-US" sz="1300" dirty="0"/>
          </a:p>
        </p:txBody>
      </p:sp>
      <p:sp>
        <p:nvSpPr>
          <p:cNvPr id="4" name="Text 2"/>
          <p:cNvSpPr/>
          <p:nvPr/>
        </p:nvSpPr>
        <p:spPr>
          <a:xfrm>
            <a:off x="365760" y="0"/>
            <a:ext cx="8229600" cy="777240"/>
          </a:xfrm>
          <a:prstGeom prst="rect">
            <a:avLst/>
          </a:prstGeom>
          <a:noFill/>
          <a:ln/>
        </p:spPr>
        <p:txBody>
          <a:bodyPr wrap="square" lIns="0" tIns="0" rIns="0" bIns="0" rtlCol="0" anchor="ctr"/>
          <a:lstStyle/>
          <a:p>
            <a:pPr marL="0" indent="0" algn="r">
              <a:buNone/>
            </a:pPr>
            <a:r>
              <a:rPr lang="en-US" sz="1300" dirty="0">
                <a:solidFill>
                  <a:srgbClr val="FFFFFF"/>
                </a:solidFill>
              </a:rPr>
              <a:t>What the data tells us</a:t>
            </a:r>
            <a:endParaRPr lang="en-US" sz="1300" dirty="0"/>
          </a:p>
        </p:txBody>
      </p:sp>
      <p:graphicFrame>
        <p:nvGraphicFramePr>
          <p:cNvPr id="5" name="Chart 0"/>
          <p:cNvGraphicFramePr/>
          <p:nvPr/>
        </p:nvGraphicFramePr>
        <p:xfrm>
          <a:off x="365760" y="914400"/>
          <a:ext cx="4114800" cy="2286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1"/>
          <p:cNvGraphicFramePr/>
          <p:nvPr/>
        </p:nvGraphicFramePr>
        <p:xfrm>
          <a:off x="4663440" y="914400"/>
          <a:ext cx="4114800"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7" name="Shape 3"/>
          <p:cNvSpPr/>
          <p:nvPr/>
        </p:nvSpPr>
        <p:spPr>
          <a:xfrm>
            <a:off x="2527620" y="3433572"/>
            <a:ext cx="4160520" cy="594360"/>
          </a:xfrm>
          <a:prstGeom prst="rect">
            <a:avLst/>
          </a:prstGeom>
          <a:solidFill>
            <a:srgbClr val="FFFFFF"/>
          </a:solidFill>
          <a:ln w="12700">
            <a:solidFill>
              <a:srgbClr val="D0DCE8"/>
            </a:solidFill>
            <a:prstDash val="solid"/>
          </a:ln>
          <a:effectLst>
            <a:outerShdw blurRad="50800" dist="25400" dir="8100000" algn="bl" rotWithShape="0">
              <a:srgbClr val="000000">
                <a:alpha val="7000"/>
              </a:srgbClr>
            </a:outerShdw>
          </a:effectLst>
        </p:spPr>
      </p:sp>
      <p:grpSp>
        <p:nvGrpSpPr>
          <p:cNvPr id="24" name="Group 23">
            <a:extLst>
              <a:ext uri="{FF2B5EF4-FFF2-40B4-BE49-F238E27FC236}">
                <a16:creationId xmlns:a16="http://schemas.microsoft.com/office/drawing/2014/main" id="{A0922F34-A976-3142-BD35-67B86452DC6A}"/>
              </a:ext>
            </a:extLst>
          </p:cNvPr>
          <p:cNvGrpSpPr/>
          <p:nvPr/>
        </p:nvGrpSpPr>
        <p:grpSpPr>
          <a:xfrm>
            <a:off x="2527620" y="3429000"/>
            <a:ext cx="4023360" cy="594360"/>
            <a:chOff x="365760" y="3429000"/>
            <a:chExt cx="4023360" cy="594360"/>
          </a:xfrm>
        </p:grpSpPr>
        <p:sp>
          <p:nvSpPr>
            <p:cNvPr id="8" name="Shape 4"/>
            <p:cNvSpPr/>
            <p:nvPr/>
          </p:nvSpPr>
          <p:spPr>
            <a:xfrm>
              <a:off x="365760" y="3429000"/>
              <a:ext cx="54864" cy="594360"/>
            </a:xfrm>
            <a:prstGeom prst="rect">
              <a:avLst/>
            </a:prstGeom>
            <a:solidFill>
              <a:srgbClr val="00B4D8"/>
            </a:solidFill>
            <a:ln w="12700">
              <a:solidFill>
                <a:srgbClr val="00B4D8"/>
              </a:solidFill>
              <a:prstDash val="solid"/>
            </a:ln>
          </p:spPr>
        </p:sp>
        <p:sp>
          <p:nvSpPr>
            <p:cNvPr id="9" name="Text 5"/>
            <p:cNvSpPr/>
            <p:nvPr/>
          </p:nvSpPr>
          <p:spPr>
            <a:xfrm>
              <a:off x="502920" y="3465576"/>
              <a:ext cx="3840480" cy="256032"/>
            </a:xfrm>
            <a:prstGeom prst="rect">
              <a:avLst/>
            </a:prstGeom>
            <a:noFill/>
            <a:ln/>
          </p:spPr>
          <p:txBody>
            <a:bodyPr wrap="square" lIns="0" tIns="0" rIns="0" bIns="0" rtlCol="0" anchor="ctr"/>
            <a:lstStyle/>
            <a:p>
              <a:pPr marL="0" indent="0">
                <a:buNone/>
              </a:pPr>
              <a:r>
                <a:rPr lang="en-US" sz="1100" b="1" dirty="0">
                  <a:solidFill>
                    <a:srgbClr val="0D1B2A"/>
                  </a:solidFill>
                </a:rPr>
                <a:t>🚌 Bus Dominates</a:t>
              </a:r>
              <a:endParaRPr lang="en-US" sz="1100" dirty="0"/>
            </a:p>
          </p:txBody>
        </p:sp>
        <p:sp>
          <p:nvSpPr>
            <p:cNvPr id="10" name="Text 6"/>
            <p:cNvSpPr/>
            <p:nvPr/>
          </p:nvSpPr>
          <p:spPr>
            <a:xfrm>
              <a:off x="502920" y="3730752"/>
              <a:ext cx="3886200" cy="256032"/>
            </a:xfrm>
            <a:prstGeom prst="rect">
              <a:avLst/>
            </a:prstGeom>
            <a:noFill/>
            <a:ln/>
          </p:spPr>
          <p:txBody>
            <a:bodyPr wrap="square" lIns="0" tIns="0" rIns="0" bIns="0" rtlCol="0" anchor="ctr"/>
            <a:lstStyle/>
            <a:p>
              <a:pPr marL="0" indent="0">
                <a:buNone/>
              </a:pPr>
              <a:r>
                <a:rPr lang="en-US" sz="950" dirty="0">
                  <a:solidFill>
                    <a:srgbClr val="4A6278"/>
                  </a:solidFill>
                </a:rPr>
                <a:t>89.9% of all routes are bus — Stockholm's network is overwhelmingly bus-dependent</a:t>
              </a:r>
              <a:endParaRPr lang="en-US" sz="950" dirty="0"/>
            </a:p>
          </p:txBody>
        </p:sp>
      </p:grpSp>
      <p:sp>
        <p:nvSpPr>
          <p:cNvPr id="15" name="Shape 11"/>
          <p:cNvSpPr/>
          <p:nvPr/>
        </p:nvSpPr>
        <p:spPr>
          <a:xfrm>
            <a:off x="365760" y="4142232"/>
            <a:ext cx="4160520" cy="594360"/>
          </a:xfrm>
          <a:prstGeom prst="rect">
            <a:avLst/>
          </a:prstGeom>
          <a:solidFill>
            <a:srgbClr val="FFFFFF"/>
          </a:solidFill>
          <a:ln w="12700">
            <a:solidFill>
              <a:srgbClr val="D0DCE8"/>
            </a:solidFill>
            <a:prstDash val="solid"/>
          </a:ln>
          <a:effectLst>
            <a:outerShdw blurRad="50800" dist="25400" dir="8100000" algn="bl" rotWithShape="0">
              <a:srgbClr val="000000">
                <a:alpha val="7000"/>
              </a:srgbClr>
            </a:outerShdw>
          </a:effectLst>
        </p:spPr>
      </p:sp>
      <p:sp>
        <p:nvSpPr>
          <p:cNvPr id="16" name="Shape 12"/>
          <p:cNvSpPr/>
          <p:nvPr/>
        </p:nvSpPr>
        <p:spPr>
          <a:xfrm>
            <a:off x="365760" y="4142232"/>
            <a:ext cx="54864" cy="594360"/>
          </a:xfrm>
          <a:prstGeom prst="rect">
            <a:avLst/>
          </a:prstGeom>
          <a:solidFill>
            <a:srgbClr val="00B4D8"/>
          </a:solidFill>
          <a:ln w="12700">
            <a:solidFill>
              <a:srgbClr val="00B4D8"/>
            </a:solidFill>
            <a:prstDash val="solid"/>
          </a:ln>
        </p:spPr>
      </p:sp>
      <p:sp>
        <p:nvSpPr>
          <p:cNvPr id="17" name="Text 13"/>
          <p:cNvSpPr/>
          <p:nvPr/>
        </p:nvSpPr>
        <p:spPr>
          <a:xfrm>
            <a:off x="502920" y="4178808"/>
            <a:ext cx="3840480" cy="256032"/>
          </a:xfrm>
          <a:prstGeom prst="rect">
            <a:avLst/>
          </a:prstGeom>
          <a:noFill/>
          <a:ln/>
        </p:spPr>
        <p:txBody>
          <a:bodyPr wrap="square" lIns="0" tIns="0" rIns="0" bIns="0" rtlCol="0" anchor="ctr"/>
          <a:lstStyle/>
          <a:p>
            <a:pPr marL="0" indent="0">
              <a:buNone/>
            </a:pPr>
            <a:r>
              <a:rPr lang="en-US" sz="1100" b="1" dirty="0">
                <a:solidFill>
                  <a:srgbClr val="0D1B2A"/>
                </a:solidFill>
              </a:rPr>
              <a:t>⏰ Evening Peak at 17:00</a:t>
            </a:r>
            <a:endParaRPr lang="en-US" sz="1100" dirty="0"/>
          </a:p>
        </p:txBody>
      </p:sp>
      <p:sp>
        <p:nvSpPr>
          <p:cNvPr id="18" name="Text 14"/>
          <p:cNvSpPr/>
          <p:nvPr/>
        </p:nvSpPr>
        <p:spPr>
          <a:xfrm>
            <a:off x="502920" y="4443984"/>
            <a:ext cx="3886200" cy="256032"/>
          </a:xfrm>
          <a:prstGeom prst="rect">
            <a:avLst/>
          </a:prstGeom>
          <a:noFill/>
          <a:ln/>
        </p:spPr>
        <p:txBody>
          <a:bodyPr wrap="square" lIns="0" tIns="0" rIns="0" bIns="0" rtlCol="0" anchor="ctr"/>
          <a:lstStyle/>
          <a:p>
            <a:pPr marL="0" indent="0">
              <a:buNone/>
            </a:pPr>
            <a:r>
              <a:rPr lang="en-US" sz="950" dirty="0">
                <a:solidFill>
                  <a:srgbClr val="4A6278"/>
                </a:solidFill>
              </a:rPr>
              <a:t>Demand peaks at 16-17:00, not morning — suggesting asymmetric commuter patterns</a:t>
            </a:r>
            <a:endParaRPr lang="en-US" sz="950" dirty="0"/>
          </a:p>
        </p:txBody>
      </p:sp>
      <p:sp>
        <p:nvSpPr>
          <p:cNvPr id="19" name="Shape 15"/>
          <p:cNvSpPr/>
          <p:nvPr/>
        </p:nvSpPr>
        <p:spPr>
          <a:xfrm>
            <a:off x="4800600" y="4142232"/>
            <a:ext cx="4160520" cy="594360"/>
          </a:xfrm>
          <a:prstGeom prst="rect">
            <a:avLst/>
          </a:prstGeom>
          <a:solidFill>
            <a:srgbClr val="FFFFFF"/>
          </a:solidFill>
          <a:ln w="12700">
            <a:solidFill>
              <a:srgbClr val="D0DCE8"/>
            </a:solidFill>
            <a:prstDash val="solid"/>
          </a:ln>
          <a:effectLst>
            <a:outerShdw blurRad="50800" dist="25400" dir="8100000" algn="bl" rotWithShape="0">
              <a:srgbClr val="000000">
                <a:alpha val="7000"/>
              </a:srgbClr>
            </a:outerShdw>
          </a:effectLst>
        </p:spPr>
      </p:sp>
      <p:sp>
        <p:nvSpPr>
          <p:cNvPr id="20" name="Shape 16"/>
          <p:cNvSpPr/>
          <p:nvPr/>
        </p:nvSpPr>
        <p:spPr>
          <a:xfrm>
            <a:off x="4800600" y="4142232"/>
            <a:ext cx="54864" cy="594360"/>
          </a:xfrm>
          <a:prstGeom prst="rect">
            <a:avLst/>
          </a:prstGeom>
          <a:solidFill>
            <a:srgbClr val="00B4D8"/>
          </a:solidFill>
          <a:ln w="12700">
            <a:solidFill>
              <a:srgbClr val="00B4D8"/>
            </a:solidFill>
            <a:prstDash val="solid"/>
          </a:ln>
        </p:spPr>
      </p:sp>
      <p:sp>
        <p:nvSpPr>
          <p:cNvPr id="21" name="Text 17"/>
          <p:cNvSpPr/>
          <p:nvPr/>
        </p:nvSpPr>
        <p:spPr>
          <a:xfrm>
            <a:off x="4937760" y="4178808"/>
            <a:ext cx="3840480" cy="256032"/>
          </a:xfrm>
          <a:prstGeom prst="rect">
            <a:avLst/>
          </a:prstGeom>
          <a:noFill/>
          <a:ln/>
        </p:spPr>
        <p:txBody>
          <a:bodyPr wrap="square" lIns="0" tIns="0" rIns="0" bIns="0" rtlCol="0" anchor="ctr"/>
          <a:lstStyle/>
          <a:p>
            <a:pPr marL="0" indent="0">
              <a:buNone/>
            </a:pPr>
            <a:r>
              <a:rPr lang="en-US" sz="1100" b="1" dirty="0">
                <a:solidFill>
                  <a:srgbClr val="0D1B2A"/>
                </a:solidFill>
              </a:rPr>
              <a:t>🌙 24-Hour Service</a:t>
            </a:r>
            <a:endParaRPr lang="en-US" sz="1100" dirty="0"/>
          </a:p>
        </p:txBody>
      </p:sp>
      <p:sp>
        <p:nvSpPr>
          <p:cNvPr id="22" name="Text 18"/>
          <p:cNvSpPr/>
          <p:nvPr/>
        </p:nvSpPr>
        <p:spPr>
          <a:xfrm>
            <a:off x="4937760" y="4443984"/>
            <a:ext cx="3886200" cy="256032"/>
          </a:xfrm>
          <a:prstGeom prst="rect">
            <a:avLst/>
          </a:prstGeom>
          <a:noFill/>
          <a:ln/>
        </p:spPr>
        <p:txBody>
          <a:bodyPr wrap="square" lIns="0" tIns="0" rIns="0" bIns="0" rtlCol="0" anchor="ctr"/>
          <a:lstStyle/>
          <a:p>
            <a:pPr marL="0" indent="0">
              <a:buNone/>
            </a:pPr>
            <a:r>
              <a:rPr lang="en-US" sz="950" dirty="0">
                <a:solidFill>
                  <a:srgbClr val="4A6278"/>
                </a:solidFill>
              </a:rPr>
              <a:t>Service runs from 05:00 to 23:00 — night service is minimal across all modes</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018B5FAC-9853-E614-4349-76AB5381FDB9}"/>
              </a:ext>
            </a:extLst>
          </p:cNvPr>
          <p:cNvGrpSpPr/>
          <p:nvPr/>
        </p:nvGrpSpPr>
        <p:grpSpPr>
          <a:xfrm>
            <a:off x="2305808" y="4349149"/>
            <a:ext cx="4160520" cy="594360"/>
            <a:chOff x="4800600" y="3429000"/>
            <a:chExt cx="4160520" cy="594360"/>
          </a:xfrm>
        </p:grpSpPr>
        <p:sp>
          <p:nvSpPr>
            <p:cNvPr id="6" name="Shape 7">
              <a:extLst>
                <a:ext uri="{FF2B5EF4-FFF2-40B4-BE49-F238E27FC236}">
                  <a16:creationId xmlns:a16="http://schemas.microsoft.com/office/drawing/2014/main" id="{52A47785-74E8-16EC-A25A-DABD0FC77F5A}"/>
                </a:ext>
              </a:extLst>
            </p:cNvPr>
            <p:cNvSpPr/>
            <p:nvPr/>
          </p:nvSpPr>
          <p:spPr>
            <a:xfrm>
              <a:off x="4800600" y="3429000"/>
              <a:ext cx="4160520" cy="594360"/>
            </a:xfrm>
            <a:prstGeom prst="rect">
              <a:avLst/>
            </a:prstGeom>
            <a:solidFill>
              <a:srgbClr val="FFFFFF"/>
            </a:solidFill>
            <a:ln w="12700">
              <a:solidFill>
                <a:srgbClr val="D0DCE8"/>
              </a:solidFill>
              <a:prstDash val="solid"/>
            </a:ln>
            <a:effectLst>
              <a:outerShdw blurRad="50800" dist="25400" dir="8100000" algn="bl" rotWithShape="0">
                <a:srgbClr val="000000">
                  <a:alpha val="7000"/>
                </a:srgbClr>
              </a:outerShdw>
            </a:effectLst>
          </p:spPr>
        </p:sp>
        <p:sp>
          <p:nvSpPr>
            <p:cNvPr id="7" name="Shape 8">
              <a:extLst>
                <a:ext uri="{FF2B5EF4-FFF2-40B4-BE49-F238E27FC236}">
                  <a16:creationId xmlns:a16="http://schemas.microsoft.com/office/drawing/2014/main" id="{E4CB3C41-781E-8AA4-20AD-6240CAC55F59}"/>
                </a:ext>
              </a:extLst>
            </p:cNvPr>
            <p:cNvSpPr/>
            <p:nvPr/>
          </p:nvSpPr>
          <p:spPr>
            <a:xfrm>
              <a:off x="4800600" y="3429000"/>
              <a:ext cx="54864" cy="594360"/>
            </a:xfrm>
            <a:prstGeom prst="rect">
              <a:avLst/>
            </a:prstGeom>
            <a:solidFill>
              <a:srgbClr val="00B4D8"/>
            </a:solidFill>
            <a:ln w="12700">
              <a:solidFill>
                <a:srgbClr val="00B4D8"/>
              </a:solidFill>
              <a:prstDash val="solid"/>
            </a:ln>
          </p:spPr>
        </p:sp>
        <p:sp>
          <p:nvSpPr>
            <p:cNvPr id="8" name="Text 9">
              <a:extLst>
                <a:ext uri="{FF2B5EF4-FFF2-40B4-BE49-F238E27FC236}">
                  <a16:creationId xmlns:a16="http://schemas.microsoft.com/office/drawing/2014/main" id="{0358D034-6AD4-FCB7-56A2-319996AA88CC}"/>
                </a:ext>
              </a:extLst>
            </p:cNvPr>
            <p:cNvSpPr/>
            <p:nvPr/>
          </p:nvSpPr>
          <p:spPr>
            <a:xfrm>
              <a:off x="4937760" y="3465576"/>
              <a:ext cx="3840480" cy="256032"/>
            </a:xfrm>
            <a:prstGeom prst="rect">
              <a:avLst/>
            </a:prstGeom>
            <a:noFill/>
            <a:ln/>
          </p:spPr>
          <p:txBody>
            <a:bodyPr wrap="square" lIns="0" tIns="0" rIns="0" bIns="0" rtlCol="0" anchor="ctr"/>
            <a:lstStyle/>
            <a:p>
              <a:pPr marL="0" indent="0">
                <a:buNone/>
              </a:pPr>
              <a:r>
                <a:rPr lang="en-US" sz="1100" b="1" dirty="0">
                  <a:solidFill>
                    <a:srgbClr val="0D1B2A"/>
                  </a:solidFill>
                </a:rPr>
                <a:t>📍 Busiest Stop: Slussen</a:t>
              </a:r>
              <a:endParaRPr lang="en-US" sz="1100" dirty="0"/>
            </a:p>
          </p:txBody>
        </p:sp>
        <p:sp>
          <p:nvSpPr>
            <p:cNvPr id="9" name="Text 10">
              <a:extLst>
                <a:ext uri="{FF2B5EF4-FFF2-40B4-BE49-F238E27FC236}">
                  <a16:creationId xmlns:a16="http://schemas.microsoft.com/office/drawing/2014/main" id="{1BFCE615-57C8-93BC-E970-C4C159F0ABB1}"/>
                </a:ext>
              </a:extLst>
            </p:cNvPr>
            <p:cNvSpPr/>
            <p:nvPr/>
          </p:nvSpPr>
          <p:spPr>
            <a:xfrm>
              <a:off x="4937760" y="3730752"/>
              <a:ext cx="3886200" cy="256032"/>
            </a:xfrm>
            <a:prstGeom prst="rect">
              <a:avLst/>
            </a:prstGeom>
            <a:noFill/>
            <a:ln/>
          </p:spPr>
          <p:txBody>
            <a:bodyPr wrap="square" lIns="0" tIns="0" rIns="0" bIns="0" rtlCol="0" anchor="ctr"/>
            <a:lstStyle/>
            <a:p>
              <a:pPr marL="0" indent="0">
                <a:buNone/>
              </a:pPr>
              <a:r>
                <a:rPr lang="en-US" sz="950" dirty="0">
                  <a:solidFill>
                    <a:srgbClr val="4A6278"/>
                  </a:solidFill>
                </a:rPr>
                <a:t>Slussen has ~20K daily departures — the single most connected interchange in Stockholm</a:t>
              </a:r>
              <a:endParaRPr lang="en-US" sz="950" dirty="0"/>
            </a:p>
          </p:txBody>
        </p:sp>
      </p:grpSp>
      <p:pic>
        <p:nvPicPr>
          <p:cNvPr id="4" name="Picture 3">
            <a:extLst>
              <a:ext uri="{FF2B5EF4-FFF2-40B4-BE49-F238E27FC236}">
                <a16:creationId xmlns:a16="http://schemas.microsoft.com/office/drawing/2014/main" id="{53744987-8159-99BD-0A7D-29ED722D440D}"/>
              </a:ext>
            </a:extLst>
          </p:cNvPr>
          <p:cNvPicPr>
            <a:picLocks noChangeAspect="1"/>
          </p:cNvPicPr>
          <p:nvPr/>
        </p:nvPicPr>
        <p:blipFill>
          <a:blip r:embed="rId2"/>
          <a:stretch>
            <a:fillRect/>
          </a:stretch>
        </p:blipFill>
        <p:spPr>
          <a:xfrm>
            <a:off x="788596" y="542891"/>
            <a:ext cx="6992887" cy="3650375"/>
          </a:xfrm>
          <a:prstGeom prst="rect">
            <a:avLst/>
          </a:prstGeom>
        </p:spPr>
      </p:pic>
      <p:sp>
        <p:nvSpPr>
          <p:cNvPr id="2" name="Text 0">
            <a:extLst>
              <a:ext uri="{FF2B5EF4-FFF2-40B4-BE49-F238E27FC236}">
                <a16:creationId xmlns:a16="http://schemas.microsoft.com/office/drawing/2014/main" id="{BDF82F1F-F30F-CF7A-A71A-CBDD4F793F70}"/>
              </a:ext>
            </a:extLst>
          </p:cNvPr>
          <p:cNvSpPr/>
          <p:nvPr/>
        </p:nvSpPr>
        <p:spPr>
          <a:xfrm>
            <a:off x="3620031" y="199991"/>
            <a:ext cx="2942303" cy="342900"/>
          </a:xfrm>
          <a:prstGeom prst="rect">
            <a:avLst/>
          </a:prstGeom>
          <a:noFill/>
          <a:ln/>
        </p:spPr>
        <p:txBody>
          <a:bodyPr wrap="square" rtlCol="0" anchor="ctr"/>
          <a:lstStyle/>
          <a:p>
            <a:r>
              <a:rPr lang="en-US" b="1" dirty="0">
                <a:solidFill>
                  <a:srgbClr val="0E7490"/>
                </a:solidFill>
              </a:rPr>
              <a:t>Key Insights</a:t>
            </a:r>
            <a:endParaRPr lang="en-US" dirty="0"/>
          </a:p>
        </p:txBody>
      </p:sp>
    </p:spTree>
    <p:extLst>
      <p:ext uri="{BB962C8B-B14F-4D97-AF65-F5344CB8AC3E}">
        <p14:creationId xmlns:p14="http://schemas.microsoft.com/office/powerpoint/2010/main" val="28467093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74320" y="171450"/>
            <a:ext cx="54864" cy="4594860"/>
          </a:xfrm>
          <a:prstGeom prst="roundRect">
            <a:avLst>
              <a:gd name="adj" fmla="val 50000"/>
            </a:avLst>
          </a:prstGeom>
          <a:solidFill>
            <a:srgbClr val="2DBA4E"/>
          </a:solidFill>
          <a:ln/>
        </p:spPr>
      </p:sp>
      <p:sp>
        <p:nvSpPr>
          <p:cNvPr id="3" name="Text 1"/>
          <p:cNvSpPr/>
          <p:nvPr/>
        </p:nvSpPr>
        <p:spPr>
          <a:xfrm>
            <a:off x="445770" y="192024"/>
            <a:ext cx="2057400" cy="240030"/>
          </a:xfrm>
          <a:prstGeom prst="rect">
            <a:avLst/>
          </a:prstGeom>
          <a:noFill/>
          <a:ln/>
        </p:spPr>
        <p:txBody>
          <a:bodyPr wrap="square" rtlCol="0" anchor="ctr"/>
          <a:lstStyle/>
          <a:p>
            <a:r>
              <a:rPr lang="en-US" sz="1050" b="1" kern="0" spc="150" dirty="0">
                <a:solidFill>
                  <a:srgbClr val="8B949E"/>
                </a:solidFill>
              </a:rPr>
              <a:t>INTRODUCTION</a:t>
            </a:r>
            <a:endParaRPr lang="en-US" sz="1050" dirty="0"/>
          </a:p>
        </p:txBody>
      </p:sp>
      <p:sp>
        <p:nvSpPr>
          <p:cNvPr id="4" name="Text 2"/>
          <p:cNvSpPr/>
          <p:nvPr/>
        </p:nvSpPr>
        <p:spPr>
          <a:xfrm>
            <a:off x="445770" y="411480"/>
            <a:ext cx="6858000" cy="617220"/>
          </a:xfrm>
          <a:prstGeom prst="rect">
            <a:avLst/>
          </a:prstGeom>
          <a:noFill/>
          <a:ln/>
        </p:spPr>
        <p:txBody>
          <a:bodyPr wrap="square" rtlCol="0" anchor="ctr"/>
          <a:lstStyle/>
          <a:p>
            <a:r>
              <a:rPr lang="en-US" sz="5400" b="1" dirty="0">
                <a:solidFill>
                  <a:srgbClr val="7030A0"/>
                </a:solidFill>
              </a:rPr>
              <a:t>GitHub</a:t>
            </a:r>
            <a:endParaRPr lang="en-US" sz="5400" dirty="0">
              <a:solidFill>
                <a:srgbClr val="7030A0"/>
              </a:solidFill>
            </a:endParaRPr>
          </a:p>
        </p:txBody>
      </p:sp>
      <p:sp>
        <p:nvSpPr>
          <p:cNvPr id="5" name="Text 3"/>
          <p:cNvSpPr/>
          <p:nvPr/>
        </p:nvSpPr>
        <p:spPr>
          <a:xfrm>
            <a:off x="445770" y="1062990"/>
            <a:ext cx="7886700" cy="342900"/>
          </a:xfrm>
          <a:prstGeom prst="rect">
            <a:avLst/>
          </a:prstGeom>
          <a:noFill/>
          <a:ln/>
        </p:spPr>
        <p:txBody>
          <a:bodyPr wrap="square" rtlCol="0" anchor="ctr"/>
          <a:lstStyle/>
          <a:p>
            <a:r>
              <a:rPr lang="en-US" sz="1350" dirty="0">
                <a:solidFill>
                  <a:srgbClr val="7030A0"/>
                </a:solidFill>
              </a:rPr>
              <a:t>The world’s leading platform for developer collaboration, source control, and CI/CD automation</a:t>
            </a:r>
          </a:p>
        </p:txBody>
      </p:sp>
      <p:sp>
        <p:nvSpPr>
          <p:cNvPr id="6" name="Shape 4"/>
          <p:cNvSpPr/>
          <p:nvPr/>
        </p:nvSpPr>
        <p:spPr>
          <a:xfrm>
            <a:off x="445770" y="1474470"/>
            <a:ext cx="1714500" cy="27432"/>
          </a:xfrm>
          <a:prstGeom prst="rect">
            <a:avLst/>
          </a:prstGeom>
          <a:solidFill>
            <a:srgbClr val="2DBA4E"/>
          </a:solidFill>
          <a:ln/>
        </p:spPr>
      </p:sp>
      <p:sp>
        <p:nvSpPr>
          <p:cNvPr id="7" name="Text 5"/>
          <p:cNvSpPr/>
          <p:nvPr/>
        </p:nvSpPr>
        <p:spPr>
          <a:xfrm>
            <a:off x="445770" y="1611630"/>
            <a:ext cx="8044222" cy="960120"/>
          </a:xfrm>
          <a:prstGeom prst="rect">
            <a:avLst/>
          </a:prstGeom>
          <a:noFill/>
          <a:ln/>
        </p:spPr>
        <p:txBody>
          <a:bodyPr wrap="square" rtlCol="0" anchor="t"/>
          <a:lstStyle/>
          <a:p>
            <a:pPr algn="just"/>
            <a:r>
              <a:rPr lang="en-US" sz="1350" dirty="0">
                <a:solidFill>
                  <a:srgbClr val="7030A0"/>
                </a:solidFill>
              </a:rPr>
              <a:t>In this pipeline, GitHub hosts all source code, version-controlled dbt models, and Python scripts. GitHub Actions automates testing, linting, and deployment workflows, ensuring every change to the data pipeline is reviewed, traceable, and reproducible before reaching production.</a:t>
            </a:r>
          </a:p>
        </p:txBody>
      </p:sp>
      <p:sp>
        <p:nvSpPr>
          <p:cNvPr id="8" name="Shape 6"/>
          <p:cNvSpPr/>
          <p:nvPr/>
        </p:nvSpPr>
        <p:spPr>
          <a:xfrm>
            <a:off x="445770" y="2743200"/>
            <a:ext cx="2537460" cy="1714500"/>
          </a:xfrm>
          <a:prstGeom prst="roundRect">
            <a:avLst>
              <a:gd name="adj" fmla="val 4800"/>
            </a:avLst>
          </a:prstGeom>
          <a:solidFill>
            <a:srgbClr val="161B22"/>
          </a:solidFill>
          <a:ln w="12700">
            <a:solidFill>
              <a:srgbClr val="30363D"/>
            </a:solidFill>
            <a:prstDash val="solid"/>
          </a:ln>
        </p:spPr>
      </p:sp>
      <p:sp>
        <p:nvSpPr>
          <p:cNvPr id="9" name="Text 7"/>
          <p:cNvSpPr/>
          <p:nvPr/>
        </p:nvSpPr>
        <p:spPr>
          <a:xfrm>
            <a:off x="617220" y="2914650"/>
            <a:ext cx="34290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10" name="Text 8"/>
          <p:cNvSpPr/>
          <p:nvPr/>
        </p:nvSpPr>
        <p:spPr>
          <a:xfrm>
            <a:off x="617220" y="3326130"/>
            <a:ext cx="2194560" cy="274320"/>
          </a:xfrm>
          <a:prstGeom prst="rect">
            <a:avLst/>
          </a:prstGeom>
          <a:noFill/>
          <a:ln/>
        </p:spPr>
        <p:txBody>
          <a:bodyPr wrap="square" rtlCol="0" anchor="ctr"/>
          <a:lstStyle/>
          <a:p>
            <a:r>
              <a:rPr lang="en-US" sz="1350" b="1" dirty="0">
                <a:solidFill>
                  <a:srgbClr val="FFFFFF"/>
                </a:solidFill>
              </a:rPr>
              <a:t>Version Control</a:t>
            </a:r>
            <a:endParaRPr lang="en-US" sz="1350" dirty="0"/>
          </a:p>
        </p:txBody>
      </p:sp>
      <p:sp>
        <p:nvSpPr>
          <p:cNvPr id="11" name="Text 9"/>
          <p:cNvSpPr/>
          <p:nvPr/>
        </p:nvSpPr>
        <p:spPr>
          <a:xfrm>
            <a:off x="617220" y="3634740"/>
            <a:ext cx="2194560" cy="685800"/>
          </a:xfrm>
          <a:prstGeom prst="rect">
            <a:avLst/>
          </a:prstGeom>
          <a:noFill/>
          <a:ln/>
        </p:spPr>
        <p:txBody>
          <a:bodyPr wrap="square" rtlCol="0" anchor="t"/>
          <a:lstStyle/>
          <a:p>
            <a:r>
              <a:rPr lang="en-US" sz="1050" dirty="0">
                <a:solidFill>
                  <a:srgbClr val="8B949E"/>
                </a:solidFill>
              </a:rPr>
              <a:t>Tracks every change to code and models with full audit history</a:t>
            </a:r>
            <a:endParaRPr lang="en-US" sz="1050" dirty="0"/>
          </a:p>
        </p:txBody>
      </p:sp>
      <p:sp>
        <p:nvSpPr>
          <p:cNvPr id="12" name="Shape 10"/>
          <p:cNvSpPr/>
          <p:nvPr/>
        </p:nvSpPr>
        <p:spPr>
          <a:xfrm>
            <a:off x="3223260" y="2743200"/>
            <a:ext cx="2537460" cy="1714500"/>
          </a:xfrm>
          <a:prstGeom prst="roundRect">
            <a:avLst>
              <a:gd name="adj" fmla="val 4800"/>
            </a:avLst>
          </a:prstGeom>
          <a:solidFill>
            <a:srgbClr val="161B22"/>
          </a:solidFill>
          <a:ln w="12700">
            <a:solidFill>
              <a:srgbClr val="30363D"/>
            </a:solidFill>
            <a:prstDash val="solid"/>
          </a:ln>
        </p:spPr>
      </p:sp>
      <p:sp>
        <p:nvSpPr>
          <p:cNvPr id="13" name="Text 11"/>
          <p:cNvSpPr/>
          <p:nvPr/>
        </p:nvSpPr>
        <p:spPr>
          <a:xfrm>
            <a:off x="3394710" y="2914650"/>
            <a:ext cx="34290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14" name="Text 12"/>
          <p:cNvSpPr/>
          <p:nvPr/>
        </p:nvSpPr>
        <p:spPr>
          <a:xfrm>
            <a:off x="3394710" y="3326130"/>
            <a:ext cx="2194560" cy="274320"/>
          </a:xfrm>
          <a:prstGeom prst="rect">
            <a:avLst/>
          </a:prstGeom>
          <a:noFill/>
          <a:ln/>
        </p:spPr>
        <p:txBody>
          <a:bodyPr wrap="square" rtlCol="0" anchor="ctr"/>
          <a:lstStyle/>
          <a:p>
            <a:r>
              <a:rPr lang="en-US" sz="1350" b="1" dirty="0">
                <a:solidFill>
                  <a:srgbClr val="FFFFFF"/>
                </a:solidFill>
              </a:rPr>
              <a:t>GitHub Actions</a:t>
            </a:r>
            <a:endParaRPr lang="en-US" sz="1350" dirty="0"/>
          </a:p>
        </p:txBody>
      </p:sp>
      <p:sp>
        <p:nvSpPr>
          <p:cNvPr id="15" name="Text 13"/>
          <p:cNvSpPr/>
          <p:nvPr/>
        </p:nvSpPr>
        <p:spPr>
          <a:xfrm>
            <a:off x="3394710" y="3634740"/>
            <a:ext cx="2194560" cy="685800"/>
          </a:xfrm>
          <a:prstGeom prst="rect">
            <a:avLst/>
          </a:prstGeom>
          <a:noFill/>
          <a:ln/>
        </p:spPr>
        <p:txBody>
          <a:bodyPr wrap="square" rtlCol="0" anchor="t"/>
          <a:lstStyle/>
          <a:p>
            <a:r>
              <a:rPr lang="en-US" sz="1050" dirty="0">
                <a:solidFill>
                  <a:srgbClr val="8B949E"/>
                </a:solidFill>
              </a:rPr>
              <a:t>Automates CI/CD workflows for testing, building, and deploying</a:t>
            </a:r>
            <a:endParaRPr lang="en-US" sz="1050" dirty="0"/>
          </a:p>
        </p:txBody>
      </p:sp>
      <p:sp>
        <p:nvSpPr>
          <p:cNvPr id="16" name="Shape 14"/>
          <p:cNvSpPr/>
          <p:nvPr/>
        </p:nvSpPr>
        <p:spPr>
          <a:xfrm>
            <a:off x="6000750" y="2743200"/>
            <a:ext cx="2537460" cy="1714500"/>
          </a:xfrm>
          <a:prstGeom prst="roundRect">
            <a:avLst>
              <a:gd name="adj" fmla="val 4800"/>
            </a:avLst>
          </a:prstGeom>
          <a:solidFill>
            <a:srgbClr val="161B22"/>
          </a:solidFill>
          <a:ln w="12700">
            <a:solidFill>
              <a:srgbClr val="30363D"/>
            </a:solidFill>
            <a:prstDash val="solid"/>
          </a:ln>
        </p:spPr>
      </p:sp>
      <p:sp>
        <p:nvSpPr>
          <p:cNvPr id="17" name="Text 15"/>
          <p:cNvSpPr/>
          <p:nvPr/>
        </p:nvSpPr>
        <p:spPr>
          <a:xfrm>
            <a:off x="6172200" y="2914650"/>
            <a:ext cx="34290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18" name="Text 16"/>
          <p:cNvSpPr/>
          <p:nvPr/>
        </p:nvSpPr>
        <p:spPr>
          <a:xfrm>
            <a:off x="6172200" y="3326130"/>
            <a:ext cx="2194560" cy="274320"/>
          </a:xfrm>
          <a:prstGeom prst="rect">
            <a:avLst/>
          </a:prstGeom>
          <a:noFill/>
          <a:ln/>
        </p:spPr>
        <p:txBody>
          <a:bodyPr wrap="square" rtlCol="0" anchor="ctr"/>
          <a:lstStyle/>
          <a:p>
            <a:r>
              <a:rPr lang="en-US" sz="1350" b="1" dirty="0">
                <a:solidFill>
                  <a:srgbClr val="FFFFFF"/>
                </a:solidFill>
              </a:rPr>
              <a:t>Collaboration</a:t>
            </a:r>
            <a:endParaRPr lang="en-US" sz="1350" dirty="0"/>
          </a:p>
        </p:txBody>
      </p:sp>
      <p:sp>
        <p:nvSpPr>
          <p:cNvPr id="19" name="Text 17"/>
          <p:cNvSpPr/>
          <p:nvPr/>
        </p:nvSpPr>
        <p:spPr>
          <a:xfrm>
            <a:off x="6172200" y="3634740"/>
            <a:ext cx="2194560" cy="685800"/>
          </a:xfrm>
          <a:prstGeom prst="rect">
            <a:avLst/>
          </a:prstGeom>
          <a:noFill/>
          <a:ln/>
        </p:spPr>
        <p:txBody>
          <a:bodyPr wrap="square" rtlCol="0" anchor="t"/>
          <a:lstStyle/>
          <a:p>
            <a:r>
              <a:rPr lang="en-US" sz="1050" dirty="0">
                <a:solidFill>
                  <a:srgbClr val="8B949E"/>
                </a:solidFill>
              </a:rPr>
              <a:t>Pull requests and code reviews keep quality high across the team</a:t>
            </a:r>
            <a:endParaRPr lang="en-US" sz="1050" dirty="0"/>
          </a:p>
        </p:txBody>
      </p:sp>
      <p:sp>
        <p:nvSpPr>
          <p:cNvPr id="20" name="Text 18"/>
          <p:cNvSpPr/>
          <p:nvPr/>
        </p:nvSpPr>
        <p:spPr>
          <a:xfrm>
            <a:off x="445770" y="4869180"/>
            <a:ext cx="1371600" cy="171450"/>
          </a:xfrm>
          <a:prstGeom prst="rect">
            <a:avLst/>
          </a:prstGeom>
          <a:noFill/>
          <a:ln/>
        </p:spPr>
        <p:txBody>
          <a:bodyPr wrap="square" rtlCol="0" anchor="ctr"/>
          <a:lstStyle/>
          <a:p>
            <a:r>
              <a:rPr lang="en-US" sz="750" dirty="0">
                <a:solidFill>
                  <a:srgbClr val="484F58"/>
                </a:solidFill>
              </a:rPr>
              <a:t>© 2026</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C072C4C-52F6-5B5B-58F8-A228AC601C3B}"/>
              </a:ext>
            </a:extLst>
          </p:cNvPr>
          <p:cNvPicPr>
            <a:picLocks noChangeAspect="1"/>
          </p:cNvPicPr>
          <p:nvPr/>
        </p:nvPicPr>
        <p:blipFill>
          <a:blip r:embed="rId2"/>
          <a:stretch>
            <a:fillRect/>
          </a:stretch>
        </p:blipFill>
        <p:spPr>
          <a:xfrm>
            <a:off x="661588" y="564818"/>
            <a:ext cx="4550784" cy="4013864"/>
          </a:xfrm>
          <a:prstGeom prst="rect">
            <a:avLst/>
          </a:prstGeom>
        </p:spPr>
      </p:pic>
      <p:sp>
        <p:nvSpPr>
          <p:cNvPr id="4" name="Text 0">
            <a:extLst>
              <a:ext uri="{FF2B5EF4-FFF2-40B4-BE49-F238E27FC236}">
                <a16:creationId xmlns:a16="http://schemas.microsoft.com/office/drawing/2014/main" id="{B10E29EE-9596-DF1E-2A27-416F229512FB}"/>
              </a:ext>
            </a:extLst>
          </p:cNvPr>
          <p:cNvSpPr/>
          <p:nvPr/>
        </p:nvSpPr>
        <p:spPr>
          <a:xfrm>
            <a:off x="5540109" y="2291213"/>
            <a:ext cx="2942303" cy="342900"/>
          </a:xfrm>
          <a:prstGeom prst="rect">
            <a:avLst/>
          </a:prstGeom>
          <a:noFill/>
          <a:ln/>
        </p:spPr>
        <p:txBody>
          <a:bodyPr wrap="square" rtlCol="0" anchor="ctr"/>
          <a:lstStyle/>
          <a:p>
            <a:r>
              <a:rPr lang="en-US" b="1" dirty="0">
                <a:solidFill>
                  <a:srgbClr val="0E7490"/>
                </a:solidFill>
              </a:rPr>
              <a:t>GitHub Repo</a:t>
            </a:r>
            <a:endParaRPr lang="en-US" dirty="0"/>
          </a:p>
        </p:txBody>
      </p:sp>
    </p:spTree>
    <p:extLst>
      <p:ext uri="{BB962C8B-B14F-4D97-AF65-F5344CB8AC3E}">
        <p14:creationId xmlns:p14="http://schemas.microsoft.com/office/powerpoint/2010/main" val="35408001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914400" y="-914400"/>
            <a:ext cx="4572000" cy="4572000"/>
          </a:xfrm>
          <a:prstGeom prst="ellipse">
            <a:avLst/>
          </a:prstGeom>
          <a:solidFill>
            <a:srgbClr val="00B4D8">
              <a:alpha val="8000"/>
            </a:srgbClr>
          </a:solidFill>
          <a:ln w="12700">
            <a:solidFill>
              <a:srgbClr val="00B4D8">
                <a:alpha val="15000"/>
              </a:srgbClr>
            </a:solidFill>
            <a:prstDash val="solid"/>
          </a:ln>
        </p:spPr>
      </p:sp>
      <p:sp>
        <p:nvSpPr>
          <p:cNvPr id="3" name="Shape 1"/>
          <p:cNvSpPr/>
          <p:nvPr/>
        </p:nvSpPr>
        <p:spPr>
          <a:xfrm>
            <a:off x="6400800" y="2743200"/>
            <a:ext cx="3657600" cy="3657600"/>
          </a:xfrm>
          <a:prstGeom prst="ellipse">
            <a:avLst/>
          </a:prstGeom>
          <a:solidFill>
            <a:srgbClr val="00B4D8">
              <a:alpha val="10000"/>
            </a:srgbClr>
          </a:solidFill>
          <a:ln w="12700">
            <a:solidFill>
              <a:srgbClr val="00B4D8">
                <a:alpha val="15000"/>
              </a:srgbClr>
            </a:solidFill>
            <a:prstDash val="solid"/>
          </a:ln>
        </p:spPr>
      </p:sp>
      <p:sp>
        <p:nvSpPr>
          <p:cNvPr id="4" name="Shape 2"/>
          <p:cNvSpPr/>
          <p:nvPr/>
        </p:nvSpPr>
        <p:spPr>
          <a:xfrm>
            <a:off x="0" y="0"/>
            <a:ext cx="164592" cy="5143500"/>
          </a:xfrm>
          <a:prstGeom prst="rect">
            <a:avLst/>
          </a:prstGeom>
          <a:solidFill>
            <a:srgbClr val="00B4D8"/>
          </a:solidFill>
          <a:ln w="12700">
            <a:solidFill>
              <a:srgbClr val="00B4D8"/>
            </a:solidFill>
            <a:prstDash val="solid"/>
          </a:ln>
        </p:spPr>
      </p:sp>
      <p:sp>
        <p:nvSpPr>
          <p:cNvPr id="5" name="Text 3"/>
          <p:cNvSpPr/>
          <p:nvPr/>
        </p:nvSpPr>
        <p:spPr>
          <a:xfrm>
            <a:off x="457200" y="914400"/>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Calibri" pitchFamily="34" charset="0"/>
                <a:ea typeface="Calibri" pitchFamily="34" charset="-122"/>
                <a:cs typeface="Calibri" pitchFamily="34" charset="-120"/>
              </a:rPr>
              <a:t>Thank You</a:t>
            </a:r>
            <a:endParaRPr lang="en-US" sz="5200" dirty="0"/>
          </a:p>
        </p:txBody>
      </p:sp>
      <p:sp>
        <p:nvSpPr>
          <p:cNvPr id="6" name="Text 4"/>
          <p:cNvSpPr/>
          <p:nvPr/>
        </p:nvSpPr>
        <p:spPr>
          <a:xfrm>
            <a:off x="457200" y="1783080"/>
            <a:ext cx="8229600" cy="502920"/>
          </a:xfrm>
          <a:prstGeom prst="rect">
            <a:avLst/>
          </a:prstGeom>
          <a:noFill/>
          <a:ln/>
        </p:spPr>
        <p:txBody>
          <a:bodyPr wrap="square" lIns="0" tIns="0" rIns="0" bIns="0" rtlCol="0" anchor="ctr"/>
          <a:lstStyle/>
          <a:p>
            <a:pPr marL="0" indent="0">
              <a:buNone/>
            </a:pPr>
            <a:r>
              <a:rPr lang="en-US" sz="2200" dirty="0">
                <a:solidFill>
                  <a:srgbClr val="00B4D8"/>
                </a:solidFill>
                <a:latin typeface="Calibri" pitchFamily="34" charset="0"/>
                <a:ea typeface="Calibri" pitchFamily="34" charset="-122"/>
                <a:cs typeface="Calibri" pitchFamily="34" charset="-120"/>
              </a:rPr>
              <a:t>Questions welcome</a:t>
            </a:r>
            <a:endParaRPr lang="en-US" sz="2200" dirty="0"/>
          </a:p>
        </p:txBody>
      </p:sp>
      <p:sp>
        <p:nvSpPr>
          <p:cNvPr id="7" name="Shape 5"/>
          <p:cNvSpPr/>
          <p:nvPr/>
        </p:nvSpPr>
        <p:spPr>
          <a:xfrm>
            <a:off x="457200" y="2468880"/>
            <a:ext cx="3657600" cy="36576"/>
          </a:xfrm>
          <a:prstGeom prst="rect">
            <a:avLst/>
          </a:prstGeom>
          <a:solidFill>
            <a:srgbClr val="00B4D8"/>
          </a:solidFill>
          <a:ln w="12700">
            <a:solidFill>
              <a:srgbClr val="00B4D8"/>
            </a:solidFill>
            <a:prstDash val="solid"/>
          </a:ln>
        </p:spPr>
      </p:sp>
      <p:sp>
        <p:nvSpPr>
          <p:cNvPr id="8" name="Text 6"/>
          <p:cNvSpPr/>
          <p:nvPr/>
        </p:nvSpPr>
        <p:spPr>
          <a:xfrm>
            <a:off x="457200" y="2743200"/>
            <a:ext cx="6400800" cy="329184"/>
          </a:xfrm>
          <a:prstGeom prst="rect">
            <a:avLst/>
          </a:prstGeom>
          <a:noFill/>
          <a:ln/>
        </p:spPr>
        <p:txBody>
          <a:bodyPr wrap="square" lIns="0" tIns="0" rIns="0" bIns="0" rtlCol="0" anchor="ctr"/>
          <a:lstStyle/>
          <a:p>
            <a:pPr marL="0" indent="0">
              <a:buNone/>
            </a:pPr>
            <a:r>
              <a:rPr lang="en-US" sz="1300" b="1" dirty="0">
                <a:solidFill>
                  <a:srgbClr val="00B4D8"/>
                </a:solidFill>
              </a:rPr>
              <a:t>→ </a:t>
            </a:r>
            <a:r>
              <a:rPr lang="en-US" sz="1300" dirty="0">
                <a:solidFill>
                  <a:srgbClr val="FFFFFF"/>
                </a:solidFill>
              </a:rPr>
              <a:t>Real Trafiklab data — 21,829 stops, 614 routes, 2.78M scheduled departures</a:t>
            </a:r>
            <a:endParaRPr lang="en-US" sz="1300" dirty="0"/>
          </a:p>
        </p:txBody>
      </p:sp>
      <p:sp>
        <p:nvSpPr>
          <p:cNvPr id="9" name="Text 7"/>
          <p:cNvSpPr/>
          <p:nvPr/>
        </p:nvSpPr>
        <p:spPr>
          <a:xfrm>
            <a:off x="457200" y="3090672"/>
            <a:ext cx="6400800" cy="329184"/>
          </a:xfrm>
          <a:prstGeom prst="rect">
            <a:avLst/>
          </a:prstGeom>
          <a:noFill/>
          <a:ln/>
        </p:spPr>
        <p:txBody>
          <a:bodyPr wrap="square" lIns="0" tIns="0" rIns="0" bIns="0" rtlCol="0" anchor="ctr"/>
          <a:lstStyle/>
          <a:p>
            <a:pPr marL="0" indent="0">
              <a:buNone/>
            </a:pPr>
            <a:r>
              <a:rPr lang="en-US" sz="1300" b="1" dirty="0">
                <a:solidFill>
                  <a:srgbClr val="00B4D8"/>
                </a:solidFill>
              </a:rPr>
              <a:t>→ </a:t>
            </a:r>
            <a:r>
              <a:rPr lang="en-US" sz="1300" dirty="0">
                <a:solidFill>
                  <a:srgbClr val="FFFFFF"/>
                </a:solidFill>
              </a:rPr>
              <a:t>Full Azure cloud pipeline with security by design</a:t>
            </a:r>
            <a:endParaRPr lang="en-US" sz="1300" dirty="0"/>
          </a:p>
        </p:txBody>
      </p:sp>
      <p:sp>
        <p:nvSpPr>
          <p:cNvPr id="10" name="Text 8"/>
          <p:cNvSpPr/>
          <p:nvPr/>
        </p:nvSpPr>
        <p:spPr>
          <a:xfrm>
            <a:off x="457200" y="3438144"/>
            <a:ext cx="6400800" cy="329184"/>
          </a:xfrm>
          <a:prstGeom prst="rect">
            <a:avLst/>
          </a:prstGeom>
          <a:noFill/>
          <a:ln/>
        </p:spPr>
        <p:txBody>
          <a:bodyPr wrap="square" lIns="0" tIns="0" rIns="0" bIns="0" rtlCol="0" anchor="ctr"/>
          <a:lstStyle/>
          <a:p>
            <a:pPr marL="0" indent="0">
              <a:buNone/>
            </a:pPr>
            <a:r>
              <a:rPr lang="en-US" sz="1300" b="1" dirty="0">
                <a:solidFill>
                  <a:srgbClr val="00B4D8"/>
                </a:solidFill>
              </a:rPr>
              <a:t>→ </a:t>
            </a:r>
            <a:r>
              <a:rPr lang="en-US" sz="1300" dirty="0">
                <a:solidFill>
                  <a:srgbClr val="FFFFFF"/>
                </a:solidFill>
              </a:rPr>
              <a:t>Medallion architecture: bronze → silver → gold</a:t>
            </a:r>
            <a:endParaRPr lang="en-US" sz="1300" dirty="0"/>
          </a:p>
        </p:txBody>
      </p:sp>
      <p:sp>
        <p:nvSpPr>
          <p:cNvPr id="11" name="Text 9"/>
          <p:cNvSpPr/>
          <p:nvPr/>
        </p:nvSpPr>
        <p:spPr>
          <a:xfrm>
            <a:off x="457200" y="3785616"/>
            <a:ext cx="6400800" cy="329184"/>
          </a:xfrm>
          <a:prstGeom prst="rect">
            <a:avLst/>
          </a:prstGeom>
          <a:noFill/>
          <a:ln/>
        </p:spPr>
        <p:txBody>
          <a:bodyPr wrap="square" lIns="0" tIns="0" rIns="0" bIns="0" rtlCol="0" anchor="ctr"/>
          <a:lstStyle/>
          <a:p>
            <a:pPr marL="0" indent="0">
              <a:buNone/>
            </a:pPr>
            <a:r>
              <a:rPr lang="en-US" sz="1300" b="1" dirty="0">
                <a:solidFill>
                  <a:srgbClr val="00B4D8"/>
                </a:solidFill>
              </a:rPr>
              <a:t>→ </a:t>
            </a:r>
            <a:r>
              <a:rPr lang="en-US" sz="1300" dirty="0">
                <a:solidFill>
                  <a:srgbClr val="FFFFFF"/>
                </a:solidFill>
              </a:rPr>
              <a:t>dbt tests ensuring data quality at every layer</a:t>
            </a:r>
            <a:endParaRPr lang="en-US" sz="1300" dirty="0"/>
          </a:p>
        </p:txBody>
      </p:sp>
      <p:sp>
        <p:nvSpPr>
          <p:cNvPr id="12" name="Text 10"/>
          <p:cNvSpPr/>
          <p:nvPr/>
        </p:nvSpPr>
        <p:spPr>
          <a:xfrm>
            <a:off x="457200" y="4133088"/>
            <a:ext cx="6400800" cy="329184"/>
          </a:xfrm>
          <a:prstGeom prst="rect">
            <a:avLst/>
          </a:prstGeom>
          <a:noFill/>
          <a:ln/>
        </p:spPr>
        <p:txBody>
          <a:bodyPr wrap="square" lIns="0" tIns="0" rIns="0" bIns="0" rtlCol="0" anchor="ctr"/>
          <a:lstStyle/>
          <a:p>
            <a:pPr marL="0" indent="0">
              <a:buNone/>
            </a:pPr>
            <a:r>
              <a:rPr lang="en-US" sz="1300" b="1" dirty="0">
                <a:solidFill>
                  <a:srgbClr val="00B4D8"/>
                </a:solidFill>
              </a:rPr>
              <a:t>→ </a:t>
            </a:r>
            <a:r>
              <a:rPr lang="en-US" sz="1300" dirty="0">
                <a:solidFill>
                  <a:srgbClr val="FFFFFF"/>
                </a:solidFill>
              </a:rPr>
              <a:t>Live Power BI dashboard connected to Snowflake</a:t>
            </a:r>
            <a:endParaRPr lang="en-US" sz="1300" dirty="0"/>
          </a:p>
        </p:txBody>
      </p:sp>
      <p:sp>
        <p:nvSpPr>
          <p:cNvPr id="13" name="Text 11"/>
          <p:cNvSpPr/>
          <p:nvPr/>
        </p:nvSpPr>
        <p:spPr>
          <a:xfrm>
            <a:off x="457200" y="4709160"/>
            <a:ext cx="8229600" cy="274320"/>
          </a:xfrm>
          <a:prstGeom prst="rect">
            <a:avLst/>
          </a:prstGeom>
          <a:noFill/>
          <a:ln/>
        </p:spPr>
        <p:txBody>
          <a:bodyPr wrap="square" lIns="0" tIns="0" rIns="0" bIns="0" rtlCol="0" anchor="ctr"/>
          <a:lstStyle/>
          <a:p>
            <a:pPr marL="0" indent="0">
              <a:buNone/>
            </a:pPr>
            <a:r>
              <a:rPr lang="en-US" sz="1000" dirty="0">
                <a:solidFill>
                  <a:srgbClr val="8FA3B1"/>
                </a:solidFill>
              </a:rPr>
              <a:t>Pritha Banerjee · DA27 · Hyper Island Stockholm · 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7647</TotalTime>
  <Words>1774</Words>
  <Application>Microsoft Office PowerPoint</Application>
  <PresentationFormat>On-screen Show (16:9)</PresentationFormat>
  <Paragraphs>308</Paragraphs>
  <Slides>37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Stockholm Transport Analytics Pipeline</dc:title>
  <dc:subject>PptxGenJS Presentation</dc:subject>
  <dc:creator>Pritha Banerjee</dc:creator>
  <cp:lastModifiedBy>Subrata Rakshit</cp:lastModifiedBy>
  <cp:revision>30</cp:revision>
  <dcterms:created xsi:type="dcterms:W3CDTF">2026-05-28T11:02:49Z</dcterms:created>
  <dcterms:modified xsi:type="dcterms:W3CDTF">2026-06-08T11:27:02Z</dcterms:modified>
</cp:coreProperties>
</file>