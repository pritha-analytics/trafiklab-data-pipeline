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6.xml" ContentType="application/vnd.openxmlformats-officedocument.presentationml.notesSlide+xml"/>
  <Override PartName="/ppt/ink/ink18.xml" ContentType="application/inkml+xml"/>
  <Override PartName="/ppt/notesSlides/notesSlide7.xml" ContentType="application/vnd.openxmlformats-officedocument.presentationml.notesSlide+xml"/>
  <Override PartName="/ppt/ink/ink19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319" r:id="rId3"/>
    <p:sldId id="266" r:id="rId4"/>
    <p:sldId id="257" r:id="rId5"/>
    <p:sldId id="303" r:id="rId6"/>
    <p:sldId id="267" r:id="rId7"/>
    <p:sldId id="269" r:id="rId8"/>
    <p:sldId id="292" r:id="rId9"/>
    <p:sldId id="316" r:id="rId10"/>
    <p:sldId id="260" r:id="rId11"/>
    <p:sldId id="280" r:id="rId12"/>
    <p:sldId id="314" r:id="rId13"/>
    <p:sldId id="306" r:id="rId14"/>
    <p:sldId id="281" r:id="rId15"/>
    <p:sldId id="282" r:id="rId16"/>
    <p:sldId id="283" r:id="rId17"/>
    <p:sldId id="284" r:id="rId18"/>
    <p:sldId id="285" r:id="rId19"/>
    <p:sldId id="261" r:id="rId20"/>
    <p:sldId id="287" r:id="rId21"/>
    <p:sldId id="286" r:id="rId22"/>
    <p:sldId id="308" r:id="rId23"/>
    <p:sldId id="317" r:id="rId24"/>
    <p:sldId id="312" r:id="rId25"/>
    <p:sldId id="310" r:id="rId26"/>
    <p:sldId id="262" r:id="rId27"/>
    <p:sldId id="291" r:id="rId28"/>
    <p:sldId id="318" r:id="rId29"/>
    <p:sldId id="265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7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Routes by Transport Mode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Routes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95-4E45-BE2C-F41E66549AA3}"/>
              </c:ext>
            </c:extLst>
          </c:dPt>
          <c:dPt>
            <c:idx val="1"/>
            <c:invertIfNegative val="0"/>
            <c:bubble3D val="0"/>
            <c:spPr>
              <a:solidFill>
                <a:srgbClr val="0077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95-4E45-BE2C-F41E66549AA3}"/>
              </c:ext>
            </c:extLst>
          </c:dPt>
          <c:dPt>
            <c:idx val="2"/>
            <c:invertIfNegative val="0"/>
            <c:bubble3D val="0"/>
            <c:spPr>
              <a:solidFill>
                <a:srgbClr val="023E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95-4E45-BE2C-F41E66549AA3}"/>
              </c:ext>
            </c:extLst>
          </c:dPt>
          <c:dPt>
            <c:idx val="3"/>
            <c:invertIfNegative val="0"/>
            <c:bubble3D val="0"/>
            <c:spPr>
              <a:solidFill>
                <a:srgbClr val="0304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95-4E45-BE2C-F41E66549AA3}"/>
              </c:ext>
            </c:extLst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95-4E45-BE2C-F41E66549A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Bus</c:v>
                </c:pt>
                <c:pt idx="1">
                  <c:v>Ferry</c:v>
                </c:pt>
                <c:pt idx="2">
                  <c:v>Tram</c:v>
                </c:pt>
                <c:pt idx="3">
                  <c:v>Metro</c:v>
                </c:pt>
                <c:pt idx="4">
                  <c:v>Commuter Rail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552</c:v>
                </c:pt>
                <c:pt idx="1">
                  <c:v>37</c:v>
                </c:pt>
                <c:pt idx="2">
                  <c:v>13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595-4E45-BE2C-F41E66549A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Departures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Departures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500</c:v>
                </c:pt>
                <c:pt idx="1">
                  <c:v>300</c:v>
                </c:pt>
                <c:pt idx="2">
                  <c:v>200</c:v>
                </c:pt>
                <c:pt idx="3">
                  <c:v>150</c:v>
                </c:pt>
                <c:pt idx="4">
                  <c:v>1200</c:v>
                </c:pt>
                <c:pt idx="5">
                  <c:v>55000</c:v>
                </c:pt>
                <c:pt idx="6">
                  <c:v>120000</c:v>
                </c:pt>
                <c:pt idx="7">
                  <c:v>154000</c:v>
                </c:pt>
                <c:pt idx="8">
                  <c:v>152000</c:v>
                </c:pt>
                <c:pt idx="9">
                  <c:v>143000</c:v>
                </c:pt>
                <c:pt idx="10">
                  <c:v>144000</c:v>
                </c:pt>
                <c:pt idx="11">
                  <c:v>146000</c:v>
                </c:pt>
                <c:pt idx="12">
                  <c:v>148000</c:v>
                </c:pt>
                <c:pt idx="13">
                  <c:v>152000</c:v>
                </c:pt>
                <c:pt idx="14">
                  <c:v>158000</c:v>
                </c:pt>
                <c:pt idx="15">
                  <c:v>165000</c:v>
                </c:pt>
                <c:pt idx="16">
                  <c:v>172000</c:v>
                </c:pt>
                <c:pt idx="17">
                  <c:v>181000</c:v>
                </c:pt>
                <c:pt idx="18">
                  <c:v>175000</c:v>
                </c:pt>
                <c:pt idx="19">
                  <c:v>163000</c:v>
                </c:pt>
                <c:pt idx="20">
                  <c:v>132000</c:v>
                </c:pt>
                <c:pt idx="21">
                  <c:v>113000</c:v>
                </c:pt>
                <c:pt idx="22">
                  <c:v>104000</c:v>
                </c:pt>
                <c:pt idx="23">
                  <c:v>84000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B67-4430-887C-BD26EB720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15:39:17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1001 2 24575,'-33'0'0,"-42"-1"0,1 2 0,0 5 0,-91 17 0,115-10 0,0 2 0,1 3 0,1 1 0,1 3 0,1 2 0,-53 36 0,87-54 0,1 1 0,0 1 0,0 0 0,1 1 0,0-1 0,1 2 0,0 0 0,0 0 0,1 0 0,-13 23 0,9-6 0,0 2 0,2-1 0,1 1 0,1 1 0,2-1 0,1 1 0,1 1 0,2-1 0,1 0 0,1 1 0,1-1 0,8 41 0,3-5 0,3 0 0,3 0 0,3-2 0,42 93 0,-40-113 0,1 0 0,1-2 0,3 0 0,2-2 0,1-1 0,2-2 0,1-1 0,2-1 0,2-2 0,1-2 0,1-2 0,2-1 0,0-2 0,2-2 0,1-2 0,0-2 0,58 16 0,-78-30 0,1-1 0,0-1 0,1-2 0,-1 0 0,0-2 0,36-4 0,155-32 0,-167 26 0,-12 2 0,0-2 0,-1 0 0,0-3 0,52-25 0,-71 28 0,-1 0 0,1-1 0,-2-1 0,0-1 0,0 0 0,-1-1 0,-1-1 0,0 0 0,-1 0 0,14-24 0,-11 15 0,-2-1 0,-1-1 0,-1 0 0,-1 0 0,-1-1 0,-2-1 0,0 1 0,-2-1 0,-1-1 0,-1 1 0,-1-44 0,-1-51 0,-6-135 0,3 239 0,0 1 0,-2-1 0,-1 0 0,0 1 0,-1 0 0,-1 0 0,-1 0 0,0 0 0,-1 1 0,-1 1 0,-1-1 0,0 2 0,-14-17 0,-125-128 0,123 135 0,-2 1 0,-1 2 0,-61-37 0,67 46 0,-1 1 0,0 0 0,0 2 0,-1 1 0,-46-10 0,12 6 0,30 6 0,0 1 0,-1 2 0,-52-2 0,41 15-1365,29-6-5461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15:39:21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1936 85 24575,'-7'-1'0,"0"0"0,0 0 0,1-1 0,-13-5 0,-1 1 0,-53-11 0,-1 4 0,-1 3 0,-99-1 0,38 4 0,-125-2 0,187 9 0,0 3 0,-119 20 0,85-3 0,40-9 0,-121 38 0,153-37 0,0 3 0,-47 26 0,67-31 0,1 0 0,0 1 0,0 0 0,1 1 0,1 1 0,0 0 0,-12 17 0,14-15 0,1 0 0,0 0 0,1 2 0,1-1 0,0 1 0,1 0 0,1 0 0,1 1 0,0 0 0,1 0 0,1 0 0,1 0 0,0 37 0,3-38 0,6 148 0,-4-145 0,0 0 0,1-1 0,1 1 0,1-1 0,1 0 0,11 21 0,4 2 0,3 0 0,37 47 0,-32-50 0,2-1 0,1-2 0,46 38 0,25 17 0,-44-36 0,91 62 0,-85-73 0,1-3 0,3-3 0,0-3 0,3-3 0,91 27 0,-85-39 0,1-4 0,1-3 0,0-4 0,119-1 0,207 9 0,-5 0 0,-152-8 0,111-2 0,-350-8 0,0-1 0,-1 0 0,1-1 0,0 0 0,-1 0 0,1-1 0,-1 0 0,0-1 0,0-1 0,-1 1 0,16-13 0,3-6 0,-2 0 0,30-36 0,-23 24 0,-19 21 0,0-1 0,0-1 0,-2 0 0,0-1 0,-1 0 0,-1-1 0,0 0 0,-2-1 0,0 0 0,-1 0 0,-1-1 0,4-27 0,-2-26 0,-2-1 0,-7-118 0,-2 166 0,-1 0 0,-1 0 0,-1 0 0,-2 1 0,-1 0 0,0 0 0,-16-28 0,5 16 0,-2 0 0,-2 2 0,-49-59 0,8 26 0,-97-78 0,111 103 0,-139-105 0,143 115 0,32 23 0,-1 1 0,0 1 0,-1 0 0,0 1 0,-25-8 0,-91-18 0,86 24 0,-42-14 0,62 15 0,-2 1 0,1 1 0,-1 2 0,-55-3 0,-152 8-1365,221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15:39:43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24575,'977'0'0,"-926"9"129,-17-2-1623,-21-6-5332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11:06:47.53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11 24575,'574'0'0,"-548"1"0,1 2 0,-1 1 0,45 13 0,-42-9 0,0-1 0,48 4 0,-34-10 0,-11 0 0,45 7 0,-23-2 0,1-2 0,89-6 0,-44 0 0,589 2 0,-671-1 0,-1 0 0,20-5 0,31-3 0,138-4 0,-45-4 0,-114 14 0,54 3 0,35-1 0,-77-7 0,-34 4 0,42-1 0,962 6 0,-981-8-1365,-34 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11:06:47.54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69 24575,'7'-1'0,"0"0"0,0-1 0,0 1 0,0-1 0,11-5 0,20-6 0,48 1 0,110-2 0,88 15 0,-112 1 0,-143-2 0,291-13 0,-255 8 0,94 4 0,-67 3 0,38 7 0,-5-1 0,109 5 0,-83-6 0,20 3 0,76 11 0,-147-14 0,61 2 0,-38 0 0,-2 0 0,553-10 0,-638-1 0,0-1 0,39-10 0,-37 6 0,65-3 0,66 11-1365,-154-1-5461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11:06:47.54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24575,'1863'0'0,"-1734"8"0,-9 1 0,29-1 0,14 1 0,222 3 0,-22 2 0,-9-8 0,-84-5 0,-147 7 0,53 2 0,72 2 0,116-6 0,-203-8 0,-43 1 0,134 2 0,-162 7 0,36 1 0,184 3 0,26-6 0,-7-1 0,-319-5 0,516 51 0,-444-43 0,0-3 0,90-6 0,-48-1 0,287 2-1365,-394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11:06:47.54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36 24575,'94'2'0,"101"-4"0,44-25 0,255 19 0,-292 10 0,879-2 0,-961 8 0,4 1 0,-74-8 0,78 10 0,-76-6 0,1-2 0,58-5 0,-18 0 0,162 11 0,9 0 0,-176-11 0,112 4 0,-127 6 0,33 1 0,88 8 0,401-18-1365,-580 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11:06:47.54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52 24575,'0'0'0,"0"-1"0,1 0 0,-1 0 0,1 1 0,-1-1 0,1 0 0,-1 1 0,1-1 0,-1 1 0,1-1 0,0 1 0,-1-1 0,1 1 0,0-1 0,-1 1 0,1-1 0,0 1 0,-1 0 0,1-1 0,0 1 0,0 0 0,0 0 0,-1 0 0,1-1 0,0 1 0,0 0 0,0 0 0,30-2 0,-26 1 0,720-17 0,-509 20 0,254-4 0,-327-7 0,68 0 0,1696 10 0,-1783 8 0,5 0 0,-107-8 0,37 6 0,17 1 0,314-7 0,-187-2 0,-184 2 0,37 6 0,19 2 0,589-10-1365,-640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11:06:47.54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54 24575,'20'-7'0,"0"0"0,0 1 0,1 2 0,32-5 0,-28 6 0,79-8 0,1 4 0,114 9 0,-73 0 0,326 11 0,-262-8 0,45 4 0,0 1 0,-54-3 0,117 13 0,-131-14 0,12 2 0,107 1 0,-23-2 0,82 13 0,-231-15 0,48 4 0,187 1 0,-38-3 0,135 1 0,-283-10 0,6 3 0,498-15 0,-574 11 0,-69 3 0,85-11 0,23-8-1365,-138 16-5461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16:44:40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0:50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1756 120 24575,'0'-2'0,"-1"1"0,1-1 0,-1 1 0,1-1 0,-1 0 0,0 1 0,0-1 0,1 1 0,-1 0 0,0-1 0,0 1 0,0 0 0,-1-1 0,1 1 0,0 0 0,0 0 0,-1 0 0,1 0 0,-1 0 0,1 0 0,-1 1 0,1-1 0,-1 0 0,1 1 0,-1-1 0,0 1 0,1 0 0,-4-1 0,-10-2 0,0 1 0,-21-1 0,17 2 0,-245-18 0,174 15 0,-242 1 0,317 4 0,0 2 0,0-1 0,0 2 0,0 0 0,1 0 0,-14 8 0,-84 45 0,33-15 0,20-14 0,1 2 0,2 4 0,1 1 0,2 3 0,-54 50 0,10 20 0,83-93 0,-3 6 0,1 0 0,1 0 0,1 2 0,1-1 0,1 2 0,1 0 0,1 0 0,-13 51 0,17-33 0,3 0 0,2 0 0,7 78 0,0-82 0,2 1 0,2-1 0,26 66 0,-19-59 0,17 49 0,5-3 0,3-1 0,71 110 0,-76-145 0,2-2 0,73 76 0,-66-83 0,2-2 0,1-2 0,3-3 0,1-1 0,1-3 0,2-3 0,2-2 0,1-2 0,0-3 0,2-3 0,1-2 0,1-3 0,0-3 0,1-3 0,0-2 0,120 0 0,-138-8 0,0-2 0,-1-3 0,0-1 0,79-20 0,554-205 0,-647 218 0,-2-2 0,0-1 0,-1-1 0,29-23 0,-40 26 0,0-1 0,-2-1 0,0 0 0,0-1 0,-2-1 0,0 0 0,13-24 0,-11 13 0,-1-2 0,-1 0 0,8-32 0,21-99 0,-20 73 0,5-19 0,-5-1 0,-4-1 0,-5 0 0,-2-123 0,-9 145 0,0 39 0,-2 0 0,-12-84 0,7 108 0,-2 0 0,-1 0 0,-1 1 0,0 0 0,-2 1 0,-1 0 0,-23-32 0,1 9 0,-1 1 0,-51-47 0,66 73 0,-2 0 0,1 2 0,-2 0 0,0 1 0,-1 2 0,-1 0 0,0 2 0,0 1 0,-48-13 0,-8 4 0,-158-14 0,-127 25 0,219 10 0,76 2 0,-1 3 0,2 2 0,-106 29 0,110-24-1365,52-10-5461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0:57.5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1:01.3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2139 19 24575,'-540'-15'0,"486"12"0,-76 5 0,110 1 0,1 1 0,0 1 0,0 1 0,0 1 0,-18 9 0,18-8 0,0 0 0,0-1 0,-1-1 0,-32 5 0,22-6 0,0 2 0,0 0 0,-36 16 0,24-9 0,-128 28 0,30-9 0,74-15 0,-102 34 0,142-42 0,0 1 0,2 1 0,-1 1 0,-29 21 0,42-22 0,-1 1 0,2 0 0,0 0 0,0 1 0,2 0 0,-1 1 0,-11 25 0,3-6 0,7-11 0,0 1 0,2 1 0,1-1 0,1 1 0,-5 34 0,-17 56 0,17-75 0,1 0 0,1 1 0,3 0 0,1 0 0,2 1 0,2-1 0,2 1 0,5 45 0,0-60 0,0 0 0,2-1 0,15 37 0,38 72 0,-51-115 0,21 36 0,72 101 0,-44-72 0,-15-9 0,-29-49 0,25 35 0,-24-39 0,2-1 0,0-1 0,2 0 0,0-2 0,1 0 0,1-1 0,0-1 0,45 26 0,9 0 0,-52-29 0,0 0 0,1-1 0,1-2 0,46 16 0,98 8 0,255 20 0,-315-48 0,178-9 0,-256-2 0,49-12 0,-11 2 0,-23 7 0,215-43 0,-215 39 0,-1-2 0,0-3 0,67-32 0,-84 30 0,-1-1 0,0-2 0,-1 0 0,43-49 0,-60 61 0,-1 1 0,-1-1 0,1 0 0,-1 0 0,-1-1 0,0 0 0,-1 0 0,5-11 0,0-8 0,10-42 0,-19 67 0,22-70 0,3 1 0,3 1 0,43-75 0,-24 49 0,-26 54 0,-3-1 0,-1-1 0,-2 0 0,-3-2 0,13-76 0,-23 96 0,11-160 0,-14 171 0,-6-134 0,4 126 0,-2 0 0,-1 0 0,-16-47 0,13 50 0,-1 1 0,-1 1 0,-1 0 0,-1 0 0,0 1 0,-2 1 0,0 0 0,-1 0 0,-1 2 0,0 0 0,-1 1 0,-1 0 0,0 2 0,-1 0 0,-21-10 0,10 7 0,-1 2 0,0 0 0,-36-8 0,-98-19 0,104 28 0,49 10 0,-51-11 0,-84-9 0,-62-4 0,156 22-1365,-2-1-5461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4:06.755"/>
    </inkml:context>
    <inkml:brush xml:id="br0">
      <inkml:brushProperty name="width" value="0.035" units="cm"/>
      <inkml:brushProperty name="height" value="0.035" units="cm"/>
      <inkml:brushProperty name="color" value="#FFFFCC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7:57.38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24575,'580'13'0,"-467"-7"0,120-9 0,-165-4 0,-30 2 0,41 1 0,-62 4-1365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7:59.3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84 24575,'243'-8'0,"8"-1"0,-205 7 0,89-16 0,-66 8 0,11-3-37,106-11-1291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8:01.14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24575,'29'1'0,"36"7"0,23 1 0,492-8 80,-282-3-1525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9:21.3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1146 1 24575,'-56'0'0,"-213"4"0,199 1 0,-129 26 0,148-20 0,0 3 0,-92 37 0,128-44 0,1 0 0,-1 1 0,1 1 0,1 0 0,0 1 0,0 0 0,1 1 0,0 0 0,1 1 0,0 0 0,1 1 0,1 0 0,-14 23 0,2 11 0,1 0 0,2 1 0,3 1 0,2 0 0,1 1 0,3 0 0,3 1 0,1 0 0,3 52 0,2-66 0,0 36 0,13 111 0,-9-161 0,1 1 0,0 0 0,2-1 0,1 0 0,1-1 0,1 0 0,0 0 0,23 32 0,-15-29 0,1-1 0,2-1 0,0-1 0,2-1 0,0-1 0,1-1 0,27 17 0,0-6 0,1-2 0,95 35 0,43 12 0,173 64 0,-317-125 0,0-2 0,84 12 0,97-7 0,-172-18 0,1-4 0,-1-1 0,0-3 0,67-20 0,-32 8 0,-62 15 0,73-18 0,-88 20 0,0-1 0,-1 0 0,0-1 0,0 0 0,18-12 0,-23 11 0,0 0 0,0-1 0,-1 1 0,0-1 0,0-1 0,-1 1 0,0-1 0,5-12 0,12-19 0,65-83 0,-59 85 0,-17 22 0,-1-1 0,-1 0 0,0-1 0,-2 0 0,0 0 0,0-1 0,-2 0 0,-1 0 0,4-28 0,-2-21 0,-3-92 0,-4 123 0,-1-17 0,-2 0 0,-3 0 0,-2 1 0,-31-101 0,33 133 0,-18-62 0,-47-103 0,62 164 0,-2 0 0,0 0 0,-1 1 0,-1 1 0,-1 0 0,-1 1 0,-1 0 0,0 1 0,-27-20 0,25 26 0,0 0 0,-1 2 0,0 0 0,0 2 0,-1 0 0,-40-10 0,-135-14 0,186 31 0,-95-7 0,-145 7 0,111 3 0,8-2-1365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39:21.3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1146 1 24575,'-56'0'0,"-213"4"0,199 1 0,-129 26 0,148-20 0,0 3 0,-92 37 0,128-44 0,1 0 0,-1 1 0,1 1 0,1 0 0,0 1 0,0 0 0,1 1 0,0 0 0,1 1 0,0 0 0,1 1 0,1 0 0,-14 23 0,2 11 0,1 0 0,2 1 0,3 1 0,2 0 0,1 1 0,3 0 0,3 1 0,1 0 0,3 52 0,2-66 0,0 36 0,13 111 0,-9-161 0,1 1 0,0 0 0,2-1 0,1 0 0,1-1 0,1 0 0,0 0 0,23 32 0,-15-29 0,1-1 0,2-1 0,0-1 0,2-1 0,0-1 0,1-1 0,27 17 0,0-6 0,1-2 0,95 35 0,43 12 0,173 64 0,-317-125 0,0-2 0,84 12 0,97-7 0,-172-18 0,1-4 0,-1-1 0,0-3 0,67-20 0,-32 8 0,-62 15 0,73-18 0,-88 20 0,0-1 0,-1 0 0,0-1 0,0 0 0,18-12 0,-23 11 0,0 0 0,0-1 0,-1 1 0,0-1 0,0-1 0,-1 1 0,0-1 0,5-12 0,12-19 0,65-83 0,-59 85 0,-17 22 0,-1-1 0,-1 0 0,0-1 0,-2 0 0,0 0 0,0-1 0,-2 0 0,-1 0 0,4-28 0,-2-21 0,-3-92 0,-4 123 0,-1-17 0,-2 0 0,-3 0 0,-2 1 0,-31-101 0,33 133 0,-18-62 0,-47-103 0,62 164 0,-2 0 0,0 0 0,-1 1 0,-1 1 0,-1 0 0,-1 1 0,-1 0 0,0 1 0,-27-20 0,25 26 0,0 0 0,-1 2 0,0 0 0,0 2 0,-1 0 0,-40-10 0,-135-14 0,186 31 0,-95-7 0,-145 7 0,111 3 0,8-2-1365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431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BDCA-9C18-B429-BBB6-DD05D1E53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1A041-FB1D-4CE9-B358-780A6D34B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CB0CF-2BD6-2EC1-9426-239F9DB2F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1B53B-4D33-60BD-0956-7205A0906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40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69ED0-1F04-58CB-34D6-BC41A9970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854E1-C798-14F8-7F4E-9D12FBA39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2C505-8DBB-2065-8053-065477533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DF7BB-7F87-4217-E742-72BA01A34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75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9143A-51F9-A7AE-0A62-5DB67EA1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EA363-06FE-6103-2B79-B51B6B939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BD7FE-5F20-0397-4318-B23819ACD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5AFA1-2686-2914-9F0F-EA534799F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16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9.xml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7.xml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png"/><Relationship Id="rId5" Type="http://schemas.openxmlformats.org/officeDocument/2006/relationships/customXml" Target="../ink/ink12.xml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10.png"/><Relationship Id="rId7" Type="http://schemas.openxmlformats.org/officeDocument/2006/relationships/customXml" Target="../ink/ink15.xml"/><Relationship Id="rId12" Type="http://schemas.openxmlformats.org/officeDocument/2006/relationships/image" Target="../media/image27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customXml" Target="../ink/ink17.xml"/><Relationship Id="rId5" Type="http://schemas.openxmlformats.org/officeDocument/2006/relationships/image" Target="../media/image14.png"/><Relationship Id="rId10" Type="http://schemas.openxmlformats.org/officeDocument/2006/relationships/image" Target="../media/image260.png"/><Relationship Id="rId4" Type="http://schemas.openxmlformats.org/officeDocument/2006/relationships/image" Target="../media/image13.png"/><Relationship Id="rId9" Type="http://schemas.openxmlformats.org/officeDocument/2006/relationships/customXml" Target="../ink/ink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560320"/>
            <a:ext cx="2011680" cy="201168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E0EF"/>
                </a:solidFill>
              </a:rPr>
              <a:t>HYPER ISLAND · DA27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Stockholm Transport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Pipeline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End-to-end data engineering: from scheduled ingestion to insight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Pritha Banerjee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Data Analytics · Hyper Island ·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23444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algn="ctr"/>
            <a:r>
              <a:rPr lang="en-US" sz="1100" b="1" dirty="0">
                <a:solidFill>
                  <a:srgbClr val="00B4D8"/>
                </a:solidFill>
              </a:rPr>
              <a:t>Python</a:t>
            </a:r>
            <a:endParaRPr lang="en-IN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4160520"/>
            <a:ext cx="123444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Azure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4160520"/>
            <a:ext cx="123444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0B4D8"/>
                </a:solidFill>
              </a:rPr>
              <a:t>Snowflake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4160520"/>
            <a:ext cx="123444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 err="1">
                <a:solidFill>
                  <a:srgbClr val="00B4D8"/>
                </a:solidFill>
              </a:rPr>
              <a:t>dbt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4160520"/>
            <a:ext cx="123444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00" b="1" dirty="0">
              <a:solidFill>
                <a:srgbClr val="00B4D8"/>
              </a:solidFill>
            </a:endParaRPr>
          </a:p>
          <a:p>
            <a:pPr algn="ctr"/>
            <a:r>
              <a:rPr lang="en-US" sz="1100" b="1" dirty="0">
                <a:solidFill>
                  <a:srgbClr val="00B4D8"/>
                </a:solidFill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7145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Pipeline Architecture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29300" y="2194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</a:rPr>
              <a:t>Batch ingestion · Daily schedule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582930"/>
            <a:ext cx="8572500" cy="37719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82930"/>
            <a:ext cx="85725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D97706"/>
                </a:solidFill>
              </a:rPr>
              <a:t>🔒  </a:t>
            </a:r>
            <a:r>
              <a:rPr lang="en-US" sz="975" b="1" dirty="0">
                <a:solidFill>
                  <a:srgbClr val="1E293B"/>
                </a:solidFill>
              </a:rPr>
              <a:t>Azure Key Vault </a:t>
            </a:r>
            <a:r>
              <a:rPr lang="en-US" sz="975" dirty="0">
                <a:solidFill>
                  <a:srgbClr val="475569"/>
                </a:solidFill>
              </a:rPr>
              <a:t>— Secures all credentials throughout the pipeline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397764" y="1165860"/>
            <a:ext cx="1062990" cy="1165860"/>
          </a:xfrm>
          <a:prstGeom prst="roundRect">
            <a:avLst>
              <a:gd name="adj" fmla="val 516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5014" y="1179576"/>
            <a:ext cx="17145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1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97764" y="126873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📡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7764" y="1680210"/>
            <a:ext cx="10629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</a:rPr>
              <a:t>Trafiklab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97764" y="192024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0F766E"/>
                </a:solidFill>
              </a:rPr>
              <a:t>GTFS Static API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1467612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891B2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11630" y="1165860"/>
            <a:ext cx="1062990" cy="1165860"/>
          </a:xfrm>
          <a:prstGeom prst="roundRect">
            <a:avLst>
              <a:gd name="adj" fmla="val 516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179576"/>
            <a:ext cx="17145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2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611630" y="126873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📄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611630" y="1680210"/>
            <a:ext cx="10629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</a:rPr>
              <a:t>upload_stops.py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611630" y="192024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0F766E"/>
                </a:solidFill>
              </a:rPr>
              <a:t>Python script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2681478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891B2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825496" y="1165860"/>
            <a:ext cx="1062990" cy="1165860"/>
          </a:xfrm>
          <a:prstGeom prst="roundRect">
            <a:avLst>
              <a:gd name="adj" fmla="val 5161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2746" y="1179576"/>
            <a:ext cx="17145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3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825496" y="126873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💾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25496" y="1680210"/>
            <a:ext cx="10629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</a:rPr>
              <a:t>ADLS Gen2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825496" y="192024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1D4ED8"/>
                </a:solidFill>
              </a:rPr>
              <a:t>Bronze container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895344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891B2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039362" y="1165860"/>
            <a:ext cx="1062990" cy="1165860"/>
          </a:xfrm>
          <a:prstGeom prst="roundRect">
            <a:avLst>
              <a:gd name="adj" fmla="val 516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6612" y="1179576"/>
            <a:ext cx="17145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4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039362" y="126873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🏭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39362" y="1680210"/>
            <a:ext cx="10629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</a:rPr>
              <a:t>ADF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039362" y="192024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0F766E"/>
                </a:solidFill>
              </a:rPr>
              <a:t>Daily trigger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109210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891B2"/>
                </a:solidFill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253228" y="1165860"/>
            <a:ext cx="1062990" cy="1165860"/>
          </a:xfrm>
          <a:prstGeom prst="roundRect">
            <a:avLst>
              <a:gd name="adj" fmla="val 516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0478" y="1179576"/>
            <a:ext cx="17145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5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253228" y="126873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❄️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53228" y="1680210"/>
            <a:ext cx="10629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</a:rPr>
              <a:t>Snowflake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253228" y="192024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0F766E"/>
                </a:solidFill>
              </a:rPr>
              <a:t>Bronze→Silver→Gold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323076" y="154305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b="1" dirty="0">
                <a:solidFill>
                  <a:srgbClr val="D946EF"/>
                </a:solidFill>
              </a:rPr>
              <a:t>⇆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288786" y="1817370"/>
            <a:ext cx="2057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25" b="1" dirty="0">
                <a:solidFill>
                  <a:srgbClr val="D946EF"/>
                </a:solidFill>
              </a:rPr>
              <a:t>sync</a:t>
            </a:r>
            <a:endParaRPr lang="en-US" sz="525" dirty="0"/>
          </a:p>
        </p:txBody>
      </p:sp>
      <p:sp>
        <p:nvSpPr>
          <p:cNvPr id="37" name="Shape 35"/>
          <p:cNvSpPr/>
          <p:nvPr/>
        </p:nvSpPr>
        <p:spPr>
          <a:xfrm>
            <a:off x="6467094" y="1165860"/>
            <a:ext cx="1062990" cy="116586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24344" y="1179576"/>
            <a:ext cx="17145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6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467094" y="126873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🔧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67094" y="1680210"/>
            <a:ext cx="10629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</a:rPr>
              <a:t>dbt Cloud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467094" y="192024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B45309"/>
                </a:solidFill>
              </a:rPr>
              <a:t>Transform + tests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7536942" y="16459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891B2"/>
                </a:solidFill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680960" y="1165860"/>
            <a:ext cx="1062990" cy="116586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38210" y="1179576"/>
            <a:ext cx="17145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</a:rPr>
              <a:t>7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7680960" y="126873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📊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680960" y="1680210"/>
            <a:ext cx="106299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0F172A"/>
                </a:solidFill>
              </a:rPr>
              <a:t>Power BI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7680960" y="1920240"/>
            <a:ext cx="106299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b="1" dirty="0">
                <a:solidFill>
                  <a:srgbClr val="B45309"/>
                </a:solidFill>
              </a:rPr>
              <a:t>Dashboard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274320" y="2537460"/>
            <a:ext cx="8572500" cy="377190"/>
          </a:xfrm>
          <a:prstGeom prst="roundRect">
            <a:avLst>
              <a:gd name="adj" fmla="val 14545"/>
            </a:avLst>
          </a:prstGeom>
          <a:solidFill>
            <a:srgbClr val="FAE8FF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2537460"/>
            <a:ext cx="85725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000000"/>
                </a:solidFill>
              </a:rPr>
              <a:t>❄  ⇆  📊   </a:t>
            </a:r>
            <a:r>
              <a:rPr lang="en-US" sz="900" b="1" dirty="0">
                <a:solidFill>
                  <a:srgbClr val="1E293B"/>
                </a:solidFill>
              </a:rPr>
              <a:t>Power BI connects directly to Snowflake </a:t>
            </a:r>
            <a:r>
              <a:rPr lang="en-US" sz="900" dirty="0">
                <a:solidFill>
                  <a:srgbClr val="475569"/>
                </a:solidFill>
              </a:rPr>
              <a:t>— reads Gold-layer tables for reporting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3017520"/>
            <a:ext cx="8572500" cy="3429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01752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334155"/>
                </a:solidFill>
              </a:rPr>
              <a:t>Why batch? </a:t>
            </a:r>
            <a:r>
              <a:rPr lang="en-US" sz="825" dirty="0">
                <a:solidFill>
                  <a:srgbClr val="64748B"/>
                </a:solidFill>
              </a:rPr>
              <a:t>— Static stop data updates once daily. Scheduled batch ingestion is efficient, cost-effective and aligned with Trafiklab's update frequency.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274320" y="3463290"/>
            <a:ext cx="8572500" cy="15430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511296"/>
            <a:ext cx="8229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E7490"/>
                </a:solidFill>
              </a:rPr>
              <a:t>Architectural Decisions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11480" y="3806190"/>
            <a:ext cx="2400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D97706"/>
                </a:solidFill>
              </a:rPr>
              <a:t>🔒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85800" y="3806190"/>
            <a:ext cx="3840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50" b="1" dirty="0">
                <a:solidFill>
                  <a:srgbClr val="0F172A"/>
                </a:solidFill>
              </a:rPr>
              <a:t>Key Vault </a:t>
            </a:r>
            <a:r>
              <a:rPr lang="en-US" sz="750" dirty="0">
                <a:solidFill>
                  <a:srgbClr val="475569"/>
                </a:solidFill>
              </a:rPr>
              <a:t>— all credentials stored centrally, never hardcoded in any script or pipeline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629150" y="3806190"/>
            <a:ext cx="2400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0284C7"/>
                </a:solidFill>
              </a:rPr>
              <a:t>❄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903470" y="3806190"/>
            <a:ext cx="3840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50" b="1" dirty="0">
                <a:solidFill>
                  <a:srgbClr val="0F172A"/>
                </a:solidFill>
              </a:rPr>
              <a:t>Snowflake medallion </a:t>
            </a:r>
            <a:r>
              <a:rPr lang="en-US" sz="750" dirty="0">
                <a:solidFill>
                  <a:srgbClr val="475569"/>
                </a:solidFill>
              </a:rPr>
              <a:t>— bronze → silver → gold ensures data gets cleaner and more valuable at each step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11480" y="4354830"/>
            <a:ext cx="2400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1D4ED8"/>
                </a:solidFill>
              </a:rPr>
              <a:t>💾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85800" y="4354830"/>
            <a:ext cx="3840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50" b="1" dirty="0">
                <a:solidFill>
                  <a:srgbClr val="0F172A"/>
                </a:solidFill>
              </a:rPr>
              <a:t>ADLS Gen2 </a:t>
            </a:r>
            <a:r>
              <a:rPr lang="en-US" sz="750" dirty="0">
                <a:solidFill>
                  <a:srgbClr val="475569"/>
                </a:solidFill>
              </a:rPr>
              <a:t>— raw data preserved in bronze layer; safe to reprocess if anything goes wrong downstream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629150" y="4354830"/>
            <a:ext cx="2400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B45309"/>
                </a:solidFill>
              </a:rPr>
              <a:t>🔧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903470" y="4354830"/>
            <a:ext cx="3840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50" b="1" dirty="0">
                <a:solidFill>
                  <a:srgbClr val="0F172A"/>
                </a:solidFill>
              </a:rPr>
              <a:t>dbt tests </a:t>
            </a:r>
            <a:r>
              <a:rPr lang="en-US" sz="750" dirty="0">
                <a:solidFill>
                  <a:srgbClr val="475569"/>
                </a:solidFill>
              </a:rPr>
              <a:t>— not_null and unique constraints catch bad data before it ever reaches Power BI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8E2DA4-C9D1-DA74-E552-BAEB0FDED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76243"/>
            <a:ext cx="8461020" cy="40123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9831857-4527-D5D0-000B-41EDDCDAC412}"/>
              </a:ext>
            </a:extLst>
          </p:cNvPr>
          <p:cNvGrpSpPr/>
          <p:nvPr/>
        </p:nvGrpSpPr>
        <p:grpSpPr>
          <a:xfrm>
            <a:off x="750424" y="704462"/>
            <a:ext cx="4077993" cy="4016737"/>
            <a:chOff x="750424" y="704462"/>
            <a:chExt cx="4077993" cy="401673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F9EC98-D4F2-4B78-3EE9-1FFA0CFE3CAD}"/>
                    </a:ext>
                  </a:extLst>
                </p14:cNvPr>
                <p14:cNvContentPartPr/>
                <p14:nvPr/>
              </p14:nvContentPartPr>
              <p14:xfrm>
                <a:off x="2404301" y="704462"/>
                <a:ext cx="670320" cy="645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F9EC98-D4F2-4B78-3EE9-1FFA0CFE3CA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98181" y="698339"/>
                  <a:ext cx="682560" cy="6577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43170A-C3B8-92B4-1E22-58CF0BC1911F}"/>
                    </a:ext>
                  </a:extLst>
                </p14:cNvPr>
                <p14:cNvContentPartPr/>
                <p14:nvPr/>
              </p14:nvContentPartPr>
              <p14:xfrm>
                <a:off x="750424" y="1892790"/>
                <a:ext cx="1272600" cy="678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43170A-C3B8-92B4-1E22-58CF0BC1911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4306" y="1886670"/>
                  <a:ext cx="1284837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27A5ED-1539-DA41-E685-766EC59A73AA}"/>
                    </a:ext>
                  </a:extLst>
                </p14:cNvPr>
                <p14:cNvContentPartPr/>
                <p14:nvPr/>
              </p14:nvContentPartPr>
              <p14:xfrm>
                <a:off x="4441057" y="4715079"/>
                <a:ext cx="387360" cy="6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27A5ED-1539-DA41-E685-766EC59A73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34937" y="4709299"/>
                  <a:ext cx="399600" cy="17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93B97D24-46B8-FA54-6AC7-FB9FDA85AA32}"/>
              </a:ext>
            </a:extLst>
          </p:cNvPr>
          <p:cNvSpPr/>
          <p:nvPr/>
        </p:nvSpPr>
        <p:spPr>
          <a:xfrm>
            <a:off x="2739461" y="285946"/>
            <a:ext cx="2983608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E7490"/>
                </a:solidFill>
              </a:rPr>
              <a:t>TRAFIKLAB API – Data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2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we built and why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Analytical Question: </a:t>
            </a:r>
            <a:r>
              <a:rPr lang="en-US" sz="1400" dirty="0">
                <a:solidFill>
                  <a:srgbClr val="FFFFFF"/>
                </a:solidFill>
              </a:rPr>
              <a:t>How is Stockholm's public transport network distributed across the city and which stops are busiest?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21,829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Transport Stops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21031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21031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🚌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1460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614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3063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Routes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031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6344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2.78M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3063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Scheduled Departures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21031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21031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🚇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12280" y="2633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063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</a:rPr>
              <a:t>Transport Modes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</a:rPr>
              <a:t>Data Source: Trafiklab (GTFS Regional Static API) — Sweden's official public transport open data platform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7FC532B-22A3-8B75-EF74-429A8181CDC7}"/>
              </a:ext>
            </a:extLst>
          </p:cNvPr>
          <p:cNvGrpSpPr/>
          <p:nvPr/>
        </p:nvGrpSpPr>
        <p:grpSpPr>
          <a:xfrm>
            <a:off x="698491" y="255526"/>
            <a:ext cx="3924631" cy="4760157"/>
            <a:chOff x="199543" y="157946"/>
            <a:chExt cx="3924631" cy="47601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C8CABDC-28B4-16EB-58A6-8C76377A1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89" t="7697" r="-1389" b="310"/>
            <a:stretch>
              <a:fillRect/>
            </a:stretch>
          </p:blipFill>
          <p:spPr>
            <a:xfrm>
              <a:off x="199543" y="157946"/>
              <a:ext cx="3924631" cy="473171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D48440D-8DA7-519F-878B-447330057FCF}"/>
                    </a:ext>
                  </a:extLst>
                </p14:cNvPr>
                <p14:cNvContentPartPr/>
                <p14:nvPr/>
              </p14:nvContentPartPr>
              <p14:xfrm>
                <a:off x="1041664" y="2028953"/>
                <a:ext cx="1471320" cy="29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13EB8E5-3712-7ADE-AA83-4B8397B92DF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5544" y="2022833"/>
                  <a:ext cx="1483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04B48B-C30C-D1E0-7EC3-C992A9E14761}"/>
                    </a:ext>
                  </a:extLst>
                </p14:cNvPr>
                <p14:cNvContentPartPr/>
                <p14:nvPr/>
              </p14:nvContentPartPr>
              <p14:xfrm>
                <a:off x="1017184" y="2233943"/>
                <a:ext cx="1513440" cy="37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B6F0C7-36DE-C2DC-E13E-DC2577EDDEA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1064" y="2227823"/>
                  <a:ext cx="1525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CC1603-2EA1-B355-97B9-5C4ABFBEDC50}"/>
                    </a:ext>
                  </a:extLst>
                </p14:cNvPr>
                <p14:cNvContentPartPr/>
                <p14:nvPr/>
              </p14:nvContentPartPr>
              <p14:xfrm>
                <a:off x="1035184" y="2632032"/>
                <a:ext cx="2827440" cy="74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D474080-47DB-4E2C-C6FA-C19F55DEF9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29064" y="2625912"/>
                  <a:ext cx="2839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4AA942D-54CB-AEB8-1418-24C1E5FB7AFB}"/>
                    </a:ext>
                  </a:extLst>
                </p14:cNvPr>
                <p14:cNvContentPartPr/>
                <p14:nvPr/>
              </p14:nvContentPartPr>
              <p14:xfrm>
                <a:off x="1025503" y="2874023"/>
                <a:ext cx="1737720" cy="31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0A37299-B3E4-9A74-F2D9-E00AE174983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19383" y="2867903"/>
                  <a:ext cx="17499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1949F61-6AF4-B70C-094B-C9399C578686}"/>
                    </a:ext>
                  </a:extLst>
                </p14:cNvPr>
                <p14:cNvContentPartPr/>
                <p14:nvPr/>
              </p14:nvContentPartPr>
              <p14:xfrm>
                <a:off x="1047424" y="4715783"/>
                <a:ext cx="2004840" cy="19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123FB9-3412-B9A8-F408-192AD03C2B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1304" y="4709663"/>
                  <a:ext cx="2017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4B83B3-98AB-E94A-508B-F2624E8E4932}"/>
                    </a:ext>
                  </a:extLst>
                </p14:cNvPr>
                <p14:cNvContentPartPr/>
                <p14:nvPr/>
              </p14:nvContentPartPr>
              <p14:xfrm>
                <a:off x="1035184" y="4861223"/>
                <a:ext cx="2440080" cy="5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17DF6E-432C-9450-8055-7D9F4D7B174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29064" y="4855103"/>
                  <a:ext cx="2452320" cy="691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0A6B0F-ECAD-C77C-6187-427EDE73BE4B}"/>
                </a:ext>
              </a:extLst>
            </p:cNvPr>
            <p:cNvSpPr/>
            <p:nvPr/>
          </p:nvSpPr>
          <p:spPr>
            <a:xfrm>
              <a:off x="2997535" y="1641074"/>
              <a:ext cx="1047625" cy="52078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No</a:t>
              </a:r>
              <a:r>
                <a:rPr lang="en-US" dirty="0"/>
                <a:t> </a:t>
              </a:r>
              <a:r>
                <a:rPr lang="en-US" sz="800" dirty="0"/>
                <a:t>credentials has been exposed</a:t>
              </a:r>
              <a:endParaRPr lang="en-IN" sz="8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7AF621-B702-75BF-17E7-CDF837590BF9}"/>
                </a:ext>
              </a:extLst>
            </p:cNvPr>
            <p:cNvSpPr/>
            <p:nvPr/>
          </p:nvSpPr>
          <p:spPr>
            <a:xfrm>
              <a:off x="2997536" y="2815868"/>
              <a:ext cx="926512" cy="3604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Data comes from </a:t>
              </a:r>
              <a:r>
                <a:rPr lang="en-US" sz="800" dirty="0" err="1"/>
                <a:t>Trfiklab</a:t>
              </a:r>
              <a:endParaRPr lang="en-IN" sz="8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8011C1-E8F2-7D2E-694A-F2ED87B9D177}"/>
                </a:ext>
              </a:extLst>
            </p:cNvPr>
            <p:cNvSpPr/>
            <p:nvPr/>
          </p:nvSpPr>
          <p:spPr>
            <a:xfrm>
              <a:off x="3118649" y="4341886"/>
              <a:ext cx="926512" cy="4472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Data going to ADLS bronze</a:t>
              </a:r>
              <a:endParaRPr lang="en-IN" sz="800" dirty="0"/>
            </a:p>
          </p:txBody>
        </p:sp>
      </p:grpSp>
      <p:sp>
        <p:nvSpPr>
          <p:cNvPr id="13" name="Text 0">
            <a:extLst>
              <a:ext uri="{FF2B5EF4-FFF2-40B4-BE49-F238E27FC236}">
                <a16:creationId xmlns:a16="http://schemas.microsoft.com/office/drawing/2014/main" id="{38D8FFCF-81D4-788C-60F6-B1ECC07B5953}"/>
              </a:ext>
            </a:extLst>
          </p:cNvPr>
          <p:cNvSpPr/>
          <p:nvPr/>
        </p:nvSpPr>
        <p:spPr>
          <a:xfrm>
            <a:off x="4822723" y="2267486"/>
            <a:ext cx="424753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0E7490"/>
                </a:solidFill>
              </a:rPr>
              <a:t>Extract API keys from TRAFIKLAB and connected to ADLS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3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CFA5E44-24F8-12FF-2263-4AB4837131EC}"/>
                  </a:ext>
                </a:extLst>
              </p14:cNvPr>
              <p14:cNvContentPartPr/>
              <p14:nvPr/>
            </p14:nvContentPartPr>
            <p14:xfrm>
              <a:off x="3500104" y="234943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CFA5E44-24F8-12FF-2263-4AB4837131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3984" y="234331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C0DB644-42F3-6214-9403-F76705F7D8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445"/>
          <a:stretch>
            <a:fillRect/>
          </a:stretch>
        </p:blipFill>
        <p:spPr>
          <a:xfrm>
            <a:off x="295486" y="1043765"/>
            <a:ext cx="8672902" cy="241662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4BEDC8C-7F0B-AC87-6631-81C319953191}"/>
              </a:ext>
            </a:extLst>
          </p:cNvPr>
          <p:cNvSpPr/>
          <p:nvPr/>
        </p:nvSpPr>
        <p:spPr>
          <a:xfrm>
            <a:off x="2381679" y="397115"/>
            <a:ext cx="4170512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Azure Key Vault- Credential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63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6AB6B6-E17F-99D2-C509-A25A70C3E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53" y="1007104"/>
            <a:ext cx="6811574" cy="3491288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5E4FF8C2-9D26-C47A-16A0-4645F3D517D1}"/>
              </a:ext>
            </a:extLst>
          </p:cNvPr>
          <p:cNvSpPr/>
          <p:nvPr/>
        </p:nvSpPr>
        <p:spPr>
          <a:xfrm>
            <a:off x="3211300" y="354727"/>
            <a:ext cx="300783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ADLS Gen 2- Bronze Layer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2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962F9-13D4-EBEF-A122-39A4E0400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67" y="928674"/>
            <a:ext cx="7869167" cy="353638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867BBED-8671-6913-48B3-6F643E7AA866}"/>
              </a:ext>
            </a:extLst>
          </p:cNvPr>
          <p:cNvSpPr/>
          <p:nvPr/>
        </p:nvSpPr>
        <p:spPr>
          <a:xfrm>
            <a:off x="2714738" y="335546"/>
            <a:ext cx="4122067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Bronze Container Folder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36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41EF36-2AFB-7407-5134-08A4C23B5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77" y="923493"/>
            <a:ext cx="7990097" cy="364783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9048921-DFA6-61BC-DF5D-90695F21890E}"/>
              </a:ext>
            </a:extLst>
          </p:cNvPr>
          <p:cNvSpPr/>
          <p:nvPr/>
        </p:nvSpPr>
        <p:spPr>
          <a:xfrm>
            <a:off x="3471692" y="348670"/>
            <a:ext cx="242649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ADF Scheduled Trigger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59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SNOWFLAKE MEDALLION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1280160" cy="1143000"/>
          </a:xfrm>
          <a:prstGeom prst="rect">
            <a:avLst/>
          </a:prstGeom>
          <a:solidFill>
            <a:srgbClr val="CD7F32">
              <a:alpha val="75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BRONZE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0789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Raw data exactly as received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RAW_STOPS · RAW_ROUTES · RAW_TRIPS · RAW_STOP_TIMES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VARIANT type preserves original — safe to reprocess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810512"/>
            <a:ext cx="6858000" cy="36576"/>
          </a:xfrm>
          <a:prstGeom prst="rect">
            <a:avLst/>
          </a:prstGeom>
          <a:solidFill>
            <a:srgbClr val="CD7F32">
              <a:alpha val="40000"/>
            </a:srgbClr>
          </a:solidFill>
          <a:ln w="12700">
            <a:solidFill>
              <a:srgbClr val="CD7F32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8653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7F32"/>
                </a:solidFill>
              </a:rPr>
              <a:t>21,829 stops · 614 routes · 138K trips · 2.78M stop times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04288"/>
            <a:ext cx="1280160" cy="1143000"/>
          </a:xfrm>
          <a:prstGeom prst="rect">
            <a:avLst/>
          </a:prstGeom>
          <a:solidFill>
            <a:srgbClr val="C0C0C0">
              <a:alpha val="75000"/>
            </a:srgbClr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0428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2377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Cleaned, typed, validated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stg_stops · stg_routes · stg_stop_times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NULL filtering, type casting, transport mode mapping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3108960"/>
            <a:ext cx="6858000" cy="36576"/>
          </a:xfrm>
          <a:prstGeom prst="rect">
            <a:avLst/>
          </a:prstGeom>
          <a:solidFill>
            <a:srgbClr val="C0C0C0">
              <a:alpha val="40000"/>
            </a:srgbClr>
          </a:solidFill>
          <a:ln w="12700">
            <a:solidFill>
              <a:srgbClr val="C0C0C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31638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C0"/>
                </a:solidFill>
              </a:rPr>
              <a:t>Views built by dbt — always fresh from bronze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02736"/>
            <a:ext cx="1280160" cy="1143000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02736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GOLD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367588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Aggregated for consumption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fct_busiest_stops · fct_departures_by_hour · fct_routes_by_mode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Power BI reads only from here — no raw data exposure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4407408"/>
            <a:ext cx="6858000" cy="36576"/>
          </a:xfrm>
          <a:prstGeom prst="rect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446227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</a:rPr>
              <a:t>11,809 stops ranked · 24hr pattern · 5 transport modes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745736"/>
            <a:ext cx="8412480" cy="34747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COPY INTO from ADLS External Stage using SAS token stored in Key Vault — credentials never exposed in code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9D8D3-EA10-32C1-506F-23BC940F0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377CF3-F38B-312E-971C-3C85C4B03720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74F2B1-60DC-6657-9A5C-430EB4DB281C}"/>
              </a:ext>
            </a:extLst>
          </p:cNvPr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SNOWFLAKE MEDALLION ARCHITECTURE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06B62B-0F65-DF25-E4C7-043A89A37EA4}"/>
              </a:ext>
            </a:extLst>
          </p:cNvPr>
          <p:cNvSpPr/>
          <p:nvPr/>
        </p:nvSpPr>
        <p:spPr>
          <a:xfrm>
            <a:off x="365760" y="1005840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FED299-D8E8-D434-FC53-EA72A862D99B}"/>
              </a:ext>
            </a:extLst>
          </p:cNvPr>
          <p:cNvSpPr/>
          <p:nvPr/>
        </p:nvSpPr>
        <p:spPr>
          <a:xfrm>
            <a:off x="365760" y="1005840"/>
            <a:ext cx="1280160" cy="1143000"/>
          </a:xfrm>
          <a:prstGeom prst="rect">
            <a:avLst/>
          </a:prstGeom>
          <a:solidFill>
            <a:srgbClr val="CD7F32">
              <a:alpha val="75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BA9DFB-B729-04E7-131C-A1E33EF973C1}"/>
              </a:ext>
            </a:extLst>
          </p:cNvPr>
          <p:cNvSpPr/>
          <p:nvPr/>
        </p:nvSpPr>
        <p:spPr>
          <a:xfrm>
            <a:off x="365760" y="100584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BRONZE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C07F45-0071-F26A-897E-8432D782F7FA}"/>
              </a:ext>
            </a:extLst>
          </p:cNvPr>
          <p:cNvSpPr/>
          <p:nvPr/>
        </p:nvSpPr>
        <p:spPr>
          <a:xfrm>
            <a:off x="1737360" y="10789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Raw data exactly as received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RAW_STOPS · RAW_ROUTES · RAW_TRIPS · RAW_STOP_TIMES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VARIANT type preserves original — safe to reprocess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C6D3FF1-188F-9C93-1647-88B60CEBDA5E}"/>
              </a:ext>
            </a:extLst>
          </p:cNvPr>
          <p:cNvSpPr/>
          <p:nvPr/>
        </p:nvSpPr>
        <p:spPr>
          <a:xfrm>
            <a:off x="1737360" y="1810512"/>
            <a:ext cx="6858000" cy="36576"/>
          </a:xfrm>
          <a:prstGeom prst="rect">
            <a:avLst/>
          </a:prstGeom>
          <a:solidFill>
            <a:srgbClr val="CD7F32">
              <a:alpha val="40000"/>
            </a:srgbClr>
          </a:solidFill>
          <a:ln w="12700">
            <a:solidFill>
              <a:srgbClr val="CD7F32">
                <a:alpha val="4000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03868B-EAA9-090E-DD51-D61F150F4ADB}"/>
              </a:ext>
            </a:extLst>
          </p:cNvPr>
          <p:cNvSpPr/>
          <p:nvPr/>
        </p:nvSpPr>
        <p:spPr>
          <a:xfrm>
            <a:off x="1737360" y="18653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7F32"/>
                </a:solidFill>
              </a:rPr>
              <a:t>21,829 stops · 614 routes · 138K trips · 2.78M stop times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A938678-6807-0AC9-AF55-4E568BC86A34}"/>
              </a:ext>
            </a:extLst>
          </p:cNvPr>
          <p:cNvSpPr/>
          <p:nvPr/>
        </p:nvSpPr>
        <p:spPr>
          <a:xfrm>
            <a:off x="365760" y="2304288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04D2C90-F4CA-783F-B07C-907DE0DFE6C0}"/>
              </a:ext>
            </a:extLst>
          </p:cNvPr>
          <p:cNvSpPr/>
          <p:nvPr/>
        </p:nvSpPr>
        <p:spPr>
          <a:xfrm>
            <a:off x="365760" y="2304288"/>
            <a:ext cx="1280160" cy="1143000"/>
          </a:xfrm>
          <a:prstGeom prst="rect">
            <a:avLst/>
          </a:prstGeom>
          <a:solidFill>
            <a:srgbClr val="C0C0C0">
              <a:alpha val="75000"/>
            </a:srgbClr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074CD3D-1A94-E9F4-B9BD-7314F23AB8F3}"/>
              </a:ext>
            </a:extLst>
          </p:cNvPr>
          <p:cNvSpPr/>
          <p:nvPr/>
        </p:nvSpPr>
        <p:spPr>
          <a:xfrm>
            <a:off x="365760" y="230428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SILVER</a:t>
            </a: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314BD49-3BB5-2B7A-B540-054C637DD727}"/>
              </a:ext>
            </a:extLst>
          </p:cNvPr>
          <p:cNvSpPr/>
          <p:nvPr/>
        </p:nvSpPr>
        <p:spPr>
          <a:xfrm>
            <a:off x="1737360" y="2377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Cleaned, typed, validated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stg_stops · stg_routes · stg_stop_times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NULL filtering, type casting, transport mode mapping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6E43982-1634-FFDE-1ADF-C970B0EAE92F}"/>
              </a:ext>
            </a:extLst>
          </p:cNvPr>
          <p:cNvSpPr/>
          <p:nvPr/>
        </p:nvSpPr>
        <p:spPr>
          <a:xfrm>
            <a:off x="1737360" y="3108960"/>
            <a:ext cx="6858000" cy="36576"/>
          </a:xfrm>
          <a:prstGeom prst="rect">
            <a:avLst/>
          </a:prstGeom>
          <a:solidFill>
            <a:srgbClr val="C0C0C0">
              <a:alpha val="40000"/>
            </a:srgbClr>
          </a:solidFill>
          <a:ln w="12700">
            <a:solidFill>
              <a:srgbClr val="C0C0C0">
                <a:alpha val="40000"/>
              </a:srgbClr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1487686-23DC-9897-7D08-14292975D004}"/>
              </a:ext>
            </a:extLst>
          </p:cNvPr>
          <p:cNvSpPr/>
          <p:nvPr/>
        </p:nvSpPr>
        <p:spPr>
          <a:xfrm>
            <a:off x="1737360" y="31638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C0"/>
                </a:solidFill>
              </a:rPr>
              <a:t>Views built by dbt — always fresh from bronze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84ABD4A-719A-305B-BBFD-2A64C3E3EC9C}"/>
              </a:ext>
            </a:extLst>
          </p:cNvPr>
          <p:cNvSpPr/>
          <p:nvPr/>
        </p:nvSpPr>
        <p:spPr>
          <a:xfrm>
            <a:off x="365760" y="3602736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0C43671-3A49-A0BD-CF18-442CA720BF78}"/>
              </a:ext>
            </a:extLst>
          </p:cNvPr>
          <p:cNvSpPr/>
          <p:nvPr/>
        </p:nvSpPr>
        <p:spPr>
          <a:xfrm>
            <a:off x="365760" y="3602736"/>
            <a:ext cx="1280160" cy="1143000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077F88E-86AF-B07C-0C47-BFC8C44CD792}"/>
              </a:ext>
            </a:extLst>
          </p:cNvPr>
          <p:cNvSpPr/>
          <p:nvPr/>
        </p:nvSpPr>
        <p:spPr>
          <a:xfrm>
            <a:off x="365760" y="3602736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GOLD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01579A1-4A01-361C-D6BC-21D5D0820DFB}"/>
              </a:ext>
            </a:extLst>
          </p:cNvPr>
          <p:cNvSpPr/>
          <p:nvPr/>
        </p:nvSpPr>
        <p:spPr>
          <a:xfrm>
            <a:off x="1737360" y="367588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Aggregated for consumption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fct_busiest_stops · fct_departures_by_hour · fct_routes_by_mode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Power BI reads only from here — no raw data exposure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95945B4-7361-A32D-2D8E-B8B379891B03}"/>
              </a:ext>
            </a:extLst>
          </p:cNvPr>
          <p:cNvSpPr/>
          <p:nvPr/>
        </p:nvSpPr>
        <p:spPr>
          <a:xfrm>
            <a:off x="1737360" y="4407408"/>
            <a:ext cx="6858000" cy="36576"/>
          </a:xfrm>
          <a:prstGeom prst="rect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F991C6B-D8A0-4A67-7294-E4BE1C49C47E}"/>
              </a:ext>
            </a:extLst>
          </p:cNvPr>
          <p:cNvSpPr/>
          <p:nvPr/>
        </p:nvSpPr>
        <p:spPr>
          <a:xfrm>
            <a:off x="1737360" y="446227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</a:rPr>
              <a:t>11,809 stops ranked · 24hr pattern · 5 transport modes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A8970B4-8FA7-5F65-069A-BFAF026404E2}"/>
              </a:ext>
            </a:extLst>
          </p:cNvPr>
          <p:cNvSpPr/>
          <p:nvPr/>
        </p:nvSpPr>
        <p:spPr>
          <a:xfrm>
            <a:off x="365760" y="4745736"/>
            <a:ext cx="8412480" cy="34747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C002D9F-B2E0-C5C6-BE0F-7221469721F0}"/>
              </a:ext>
            </a:extLst>
          </p:cNvPr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COPY INTO from ADLS External Stage using SAS token stored in Key Vault — credentials never exposed in code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94EA617-012A-95A8-2D61-8352A9C95027}"/>
                  </a:ext>
                </a:extLst>
              </p14:cNvPr>
              <p14:cNvContentPartPr/>
              <p14:nvPr/>
            </p14:nvContentPartPr>
            <p14:xfrm>
              <a:off x="445864" y="1228463"/>
              <a:ext cx="1118160" cy="899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94EA617-012A-95A8-2D61-8352A9C950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744" y="1222343"/>
                <a:ext cx="1130400" cy="9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2BE1F43-E908-4237-20AD-F76F52ED1B2E}"/>
                  </a:ext>
                </a:extLst>
              </p14:cNvPr>
              <p14:cNvContentPartPr/>
              <p14:nvPr/>
            </p14:nvContentPartPr>
            <p14:xfrm>
              <a:off x="1229224" y="1204703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2BE1F43-E908-4237-20AD-F76F52ED1B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6224" y="114206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78D5A97-28E4-E5BF-73A2-7FB4E4E2812B}"/>
                  </a:ext>
                </a:extLst>
              </p14:cNvPr>
              <p14:cNvContentPartPr/>
              <p14:nvPr/>
            </p14:nvContentPartPr>
            <p14:xfrm>
              <a:off x="459184" y="1198223"/>
              <a:ext cx="1145880" cy="873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78D5A97-28E4-E5BF-73A2-7FB4E4E281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6544" y="1135583"/>
                <a:ext cx="1271520" cy="99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7018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CA9FA1-5022-6A17-34F5-83473FC5E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54" y="648929"/>
            <a:ext cx="4497452" cy="43345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73C7056-D93D-48A3-D113-20CF87C87D89}"/>
              </a:ext>
            </a:extLst>
          </p:cNvPr>
          <p:cNvSpPr/>
          <p:nvPr/>
        </p:nvSpPr>
        <p:spPr>
          <a:xfrm>
            <a:off x="4682613" y="2400300"/>
            <a:ext cx="43065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Snowflake Bronze Table Setup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429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D7BAA8-CBDF-D8D7-0EEA-745529E9D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65" y="452631"/>
            <a:ext cx="4069805" cy="436386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BE6F1B4-B07D-33E0-DB3E-507E59103FBD}"/>
              </a:ext>
            </a:extLst>
          </p:cNvPr>
          <p:cNvSpPr/>
          <p:nvPr/>
        </p:nvSpPr>
        <p:spPr>
          <a:xfrm>
            <a:off x="5154952" y="2338230"/>
            <a:ext cx="3480375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Snowflake COPY INTO Bronze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224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510AC7-E137-B64B-2550-BFAC9CBBE87F}"/>
                  </a:ext>
                </a:extLst>
              </p14:cNvPr>
              <p14:cNvContentPartPr/>
              <p14:nvPr/>
            </p14:nvContentPartPr>
            <p14:xfrm>
              <a:off x="1768144" y="2064679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510AC7-E137-B64B-2550-BFAC9CBBE8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2024" y="205855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10417D0-DE66-3CEF-8D75-ED4C73A1F7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9863"/>
          <a:stretch>
            <a:fillRect/>
          </a:stretch>
        </p:blipFill>
        <p:spPr>
          <a:xfrm>
            <a:off x="539224" y="176611"/>
            <a:ext cx="8156659" cy="14943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461EC7-F6A7-6DFE-7362-7AF646D3BA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5767"/>
          <a:stretch>
            <a:fillRect/>
          </a:stretch>
        </p:blipFill>
        <p:spPr>
          <a:xfrm>
            <a:off x="539224" y="1824558"/>
            <a:ext cx="8156659" cy="1494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0BAD2C-0530-13CB-4F32-6ACB96F754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5253"/>
          <a:stretch>
            <a:fillRect/>
          </a:stretch>
        </p:blipFill>
        <p:spPr>
          <a:xfrm>
            <a:off x="490506" y="3559062"/>
            <a:ext cx="8205377" cy="15082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BDE04D2-1018-8943-B38B-2BEA8DB3369D}"/>
                  </a:ext>
                </a:extLst>
              </p14:cNvPr>
              <p14:cNvContentPartPr/>
              <p14:nvPr/>
            </p14:nvContentPartPr>
            <p14:xfrm>
              <a:off x="8326264" y="1531583"/>
              <a:ext cx="406440" cy="7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BDE04D2-1018-8943-B38B-2BEA8DB336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90624" y="1495943"/>
                <a:ext cx="4780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800BC6A-4621-2FE4-6D87-1A2530D1F866}"/>
                  </a:ext>
                </a:extLst>
              </p14:cNvPr>
              <p14:cNvContentPartPr/>
              <p14:nvPr/>
            </p14:nvContentPartPr>
            <p14:xfrm>
              <a:off x="8368744" y="3306383"/>
              <a:ext cx="363960" cy="30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800BC6A-4621-2FE4-6D87-1A2530D1F86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32744" y="3270383"/>
                <a:ext cx="4356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035395F-BD9C-163D-D10B-AB15C38C67AF}"/>
                  </a:ext>
                </a:extLst>
              </p14:cNvPr>
              <p14:cNvContentPartPr/>
              <p14:nvPr/>
            </p14:nvContentPartPr>
            <p14:xfrm>
              <a:off x="8289904" y="5025743"/>
              <a:ext cx="381960" cy="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035395F-BD9C-163D-D10B-AB15C38C67A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54264" y="4990103"/>
                <a:ext cx="453600" cy="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51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F6499-3C15-DD62-043B-DFDC768B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8931C7-FE36-BDB7-0952-EC87433CA63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A55121-D244-C495-0EB8-CFC303B4A4DF}"/>
              </a:ext>
            </a:extLst>
          </p:cNvPr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SNOWFLAKE MEDALLION ARCHITECTURE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DB41A7-5220-4116-2BB9-0AA66D23E52C}"/>
              </a:ext>
            </a:extLst>
          </p:cNvPr>
          <p:cNvSpPr/>
          <p:nvPr/>
        </p:nvSpPr>
        <p:spPr>
          <a:xfrm>
            <a:off x="365760" y="1005840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19DC45C-DF36-6933-3E4E-9F4E2C5C137B}"/>
              </a:ext>
            </a:extLst>
          </p:cNvPr>
          <p:cNvSpPr/>
          <p:nvPr/>
        </p:nvSpPr>
        <p:spPr>
          <a:xfrm>
            <a:off x="365760" y="1005840"/>
            <a:ext cx="1280160" cy="1143000"/>
          </a:xfrm>
          <a:prstGeom prst="rect">
            <a:avLst/>
          </a:prstGeom>
          <a:solidFill>
            <a:srgbClr val="CD7F32">
              <a:alpha val="75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AA4EE2-5ECC-FE52-490B-C5C236238F60}"/>
              </a:ext>
            </a:extLst>
          </p:cNvPr>
          <p:cNvSpPr/>
          <p:nvPr/>
        </p:nvSpPr>
        <p:spPr>
          <a:xfrm>
            <a:off x="365760" y="100584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BRONZE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1C1AE3E-AE47-3C44-8686-29B90FC52E93}"/>
              </a:ext>
            </a:extLst>
          </p:cNvPr>
          <p:cNvSpPr/>
          <p:nvPr/>
        </p:nvSpPr>
        <p:spPr>
          <a:xfrm>
            <a:off x="1737360" y="10789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Raw data exactly as received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RAW_STOPS · RAW_ROUTES · RAW_TRIPS · RAW_STOP_TIMES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VARIANT type preserves original — safe to reprocess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2A0EB03-1ECA-905B-1BCF-884B75EB6EC6}"/>
              </a:ext>
            </a:extLst>
          </p:cNvPr>
          <p:cNvSpPr/>
          <p:nvPr/>
        </p:nvSpPr>
        <p:spPr>
          <a:xfrm>
            <a:off x="1737360" y="1810512"/>
            <a:ext cx="6858000" cy="36576"/>
          </a:xfrm>
          <a:prstGeom prst="rect">
            <a:avLst/>
          </a:prstGeom>
          <a:solidFill>
            <a:srgbClr val="CD7F32">
              <a:alpha val="40000"/>
            </a:srgbClr>
          </a:solidFill>
          <a:ln w="12700">
            <a:solidFill>
              <a:srgbClr val="CD7F32">
                <a:alpha val="4000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820B93-226A-8A73-5AA6-FC162EC96C38}"/>
              </a:ext>
            </a:extLst>
          </p:cNvPr>
          <p:cNvSpPr/>
          <p:nvPr/>
        </p:nvSpPr>
        <p:spPr>
          <a:xfrm>
            <a:off x="1737360" y="18653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7F32"/>
                </a:solidFill>
              </a:rPr>
              <a:t>21,829 stops · 614 routes · 138K trips · 2.78M stop times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5B892A7-BFCF-BA44-F18B-4EF0C612052E}"/>
              </a:ext>
            </a:extLst>
          </p:cNvPr>
          <p:cNvSpPr/>
          <p:nvPr/>
        </p:nvSpPr>
        <p:spPr>
          <a:xfrm>
            <a:off x="365760" y="2304288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1DD3690-0239-CB0C-8FBB-DC6DB3AF4676}"/>
              </a:ext>
            </a:extLst>
          </p:cNvPr>
          <p:cNvSpPr/>
          <p:nvPr/>
        </p:nvSpPr>
        <p:spPr>
          <a:xfrm>
            <a:off x="365760" y="2304288"/>
            <a:ext cx="1280160" cy="1143000"/>
          </a:xfrm>
          <a:prstGeom prst="rect">
            <a:avLst/>
          </a:prstGeom>
          <a:solidFill>
            <a:srgbClr val="C0C0C0">
              <a:alpha val="75000"/>
            </a:srgbClr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2C437CF-903F-3FDA-75FD-953D3C6A3100}"/>
              </a:ext>
            </a:extLst>
          </p:cNvPr>
          <p:cNvSpPr/>
          <p:nvPr/>
        </p:nvSpPr>
        <p:spPr>
          <a:xfrm>
            <a:off x="365760" y="230428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SILVER</a:t>
            </a: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F8772A-8A2D-4974-F493-AC0CFC76FCC2}"/>
              </a:ext>
            </a:extLst>
          </p:cNvPr>
          <p:cNvSpPr/>
          <p:nvPr/>
        </p:nvSpPr>
        <p:spPr>
          <a:xfrm>
            <a:off x="1737360" y="2377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Cleaned, typed, validated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stg_stops · stg_routes · stg_stop_times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NULL filtering, type casting, transport mode mapping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557093E-6C82-DEF8-3D48-2EE56F258BE5}"/>
              </a:ext>
            </a:extLst>
          </p:cNvPr>
          <p:cNvSpPr/>
          <p:nvPr/>
        </p:nvSpPr>
        <p:spPr>
          <a:xfrm>
            <a:off x="1737360" y="3108960"/>
            <a:ext cx="6858000" cy="36576"/>
          </a:xfrm>
          <a:prstGeom prst="rect">
            <a:avLst/>
          </a:prstGeom>
          <a:solidFill>
            <a:srgbClr val="C0C0C0">
              <a:alpha val="40000"/>
            </a:srgbClr>
          </a:solidFill>
          <a:ln w="12700">
            <a:solidFill>
              <a:srgbClr val="C0C0C0">
                <a:alpha val="40000"/>
              </a:srgbClr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71FBE01-27D6-55D4-C474-BE3662C13017}"/>
              </a:ext>
            </a:extLst>
          </p:cNvPr>
          <p:cNvSpPr/>
          <p:nvPr/>
        </p:nvSpPr>
        <p:spPr>
          <a:xfrm>
            <a:off x="1737360" y="31638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C0"/>
                </a:solidFill>
              </a:rPr>
              <a:t>Views built by dbt — always fresh from bronze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96CDED3-D86B-627B-E8FE-D379C52AB39E}"/>
              </a:ext>
            </a:extLst>
          </p:cNvPr>
          <p:cNvSpPr/>
          <p:nvPr/>
        </p:nvSpPr>
        <p:spPr>
          <a:xfrm>
            <a:off x="365760" y="3602736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55AABF2-7CB8-D451-869A-008D4799BFFE}"/>
              </a:ext>
            </a:extLst>
          </p:cNvPr>
          <p:cNvSpPr/>
          <p:nvPr/>
        </p:nvSpPr>
        <p:spPr>
          <a:xfrm>
            <a:off x="365760" y="3602736"/>
            <a:ext cx="1280160" cy="1143000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9B7F40-2BD3-FF9F-457F-05388D84C30F}"/>
              </a:ext>
            </a:extLst>
          </p:cNvPr>
          <p:cNvSpPr/>
          <p:nvPr/>
        </p:nvSpPr>
        <p:spPr>
          <a:xfrm>
            <a:off x="365760" y="3602736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GOLD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1C3927F-A8D7-3985-FA09-2F0509C53216}"/>
              </a:ext>
            </a:extLst>
          </p:cNvPr>
          <p:cNvSpPr/>
          <p:nvPr/>
        </p:nvSpPr>
        <p:spPr>
          <a:xfrm>
            <a:off x="1737360" y="367588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Aggregated for consumption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fct_busiest_stops · fct_departures_by_hour · fct_routes_by_mode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Power BI reads only from here — no raw data exposure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EB4B005-59B3-44AB-BA72-156FC18C4CD8}"/>
              </a:ext>
            </a:extLst>
          </p:cNvPr>
          <p:cNvSpPr/>
          <p:nvPr/>
        </p:nvSpPr>
        <p:spPr>
          <a:xfrm>
            <a:off x="1737360" y="4407408"/>
            <a:ext cx="6858000" cy="36576"/>
          </a:xfrm>
          <a:prstGeom prst="rect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698B175-8B55-4996-792D-8D241F71868A}"/>
              </a:ext>
            </a:extLst>
          </p:cNvPr>
          <p:cNvSpPr/>
          <p:nvPr/>
        </p:nvSpPr>
        <p:spPr>
          <a:xfrm>
            <a:off x="1737360" y="446227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</a:rPr>
              <a:t>11,809 stops ranked · 24hr pattern · 5 transport modes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321D549-7E23-E190-3644-0A0C15FC0D81}"/>
              </a:ext>
            </a:extLst>
          </p:cNvPr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F04A0B4-8086-632F-0866-20830D02CB1C}"/>
              </a:ext>
            </a:extLst>
          </p:cNvPr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COPY INTO from ADLS External Stage using SAS token stored in Key Vault — credentials never exposed in code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B73208F-2615-4E84-9AFF-8EE990BAE81B}"/>
                  </a:ext>
                </a:extLst>
              </p14:cNvPr>
              <p14:cNvContentPartPr/>
              <p14:nvPr/>
            </p14:nvContentPartPr>
            <p14:xfrm>
              <a:off x="592744" y="2555063"/>
              <a:ext cx="897480" cy="703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B73208F-2615-4E84-9AFF-8EE990BAE8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104" y="2519423"/>
                <a:ext cx="969120" cy="77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6797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A75FA1-C45B-D2DE-F734-E92F16336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934"/>
          <a:stretch>
            <a:fillRect/>
          </a:stretch>
        </p:blipFill>
        <p:spPr>
          <a:xfrm>
            <a:off x="369463" y="1677849"/>
            <a:ext cx="7976394" cy="244041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35EA9E6-06CD-6F22-588A-45C4DF96D0C3}"/>
              </a:ext>
            </a:extLst>
          </p:cNvPr>
          <p:cNvSpPr/>
          <p:nvPr/>
        </p:nvSpPr>
        <p:spPr>
          <a:xfrm>
            <a:off x="2841702" y="795558"/>
            <a:ext cx="430653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Snowflake Silver Layer (</a:t>
            </a:r>
            <a:r>
              <a:rPr lang="en-US" b="1" dirty="0" err="1">
                <a:solidFill>
                  <a:srgbClr val="0E7490"/>
                </a:solidFill>
              </a:rPr>
              <a:t>dbt</a:t>
            </a:r>
            <a:r>
              <a:rPr lang="en-US" b="1" dirty="0">
                <a:solidFill>
                  <a:srgbClr val="0E7490"/>
                </a:solidFill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838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9284-565A-71CF-03CC-8725E5C7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765D59-F0F1-2264-10C4-31EB1276B23D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58C6B7-3527-7CB5-407D-2B2F33457C94}"/>
              </a:ext>
            </a:extLst>
          </p:cNvPr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SNOWFLAKE MEDALLION ARCHITECTURE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D1D5A3-C641-8A7F-2D1B-B9457434A7CD}"/>
              </a:ext>
            </a:extLst>
          </p:cNvPr>
          <p:cNvSpPr/>
          <p:nvPr/>
        </p:nvSpPr>
        <p:spPr>
          <a:xfrm>
            <a:off x="365760" y="1005840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36A686-03F5-8303-59DD-E7C74421E96C}"/>
              </a:ext>
            </a:extLst>
          </p:cNvPr>
          <p:cNvSpPr/>
          <p:nvPr/>
        </p:nvSpPr>
        <p:spPr>
          <a:xfrm>
            <a:off x="365760" y="1005840"/>
            <a:ext cx="1280160" cy="1143000"/>
          </a:xfrm>
          <a:prstGeom prst="rect">
            <a:avLst/>
          </a:prstGeom>
          <a:solidFill>
            <a:srgbClr val="CD7F32">
              <a:alpha val="75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E65348-1ED1-E95E-9E29-6C40E6F0A66B}"/>
              </a:ext>
            </a:extLst>
          </p:cNvPr>
          <p:cNvSpPr/>
          <p:nvPr/>
        </p:nvSpPr>
        <p:spPr>
          <a:xfrm>
            <a:off x="365760" y="100584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BRONZE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C07DED-C774-AB5E-A8EC-A8D48D353C59}"/>
              </a:ext>
            </a:extLst>
          </p:cNvPr>
          <p:cNvSpPr/>
          <p:nvPr/>
        </p:nvSpPr>
        <p:spPr>
          <a:xfrm>
            <a:off x="1737360" y="107899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Raw data exactly as received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RAW_STOPS · RAW_ROUTES · RAW_TRIPS · RAW_STOP_TIMES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VARIANT type preserves original — safe to reprocess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7C746D6-5FEB-2850-A649-D3CF6AF940CE}"/>
              </a:ext>
            </a:extLst>
          </p:cNvPr>
          <p:cNvSpPr/>
          <p:nvPr/>
        </p:nvSpPr>
        <p:spPr>
          <a:xfrm>
            <a:off x="1737360" y="1810512"/>
            <a:ext cx="6858000" cy="36576"/>
          </a:xfrm>
          <a:prstGeom prst="rect">
            <a:avLst/>
          </a:prstGeom>
          <a:solidFill>
            <a:srgbClr val="CD7F32">
              <a:alpha val="40000"/>
            </a:srgbClr>
          </a:solidFill>
          <a:ln w="12700">
            <a:solidFill>
              <a:srgbClr val="CD7F32">
                <a:alpha val="40000"/>
              </a:srgbClr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0039DE-A821-E235-B8EA-ECC2513AD530}"/>
              </a:ext>
            </a:extLst>
          </p:cNvPr>
          <p:cNvSpPr/>
          <p:nvPr/>
        </p:nvSpPr>
        <p:spPr>
          <a:xfrm>
            <a:off x="1737360" y="18653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7F32"/>
                </a:solidFill>
              </a:rPr>
              <a:t>21,829 stops · 614 routes · 138K trips · 2.78M stop times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24576B5-14ED-97EE-F482-DFE37EDFF13A}"/>
              </a:ext>
            </a:extLst>
          </p:cNvPr>
          <p:cNvSpPr/>
          <p:nvPr/>
        </p:nvSpPr>
        <p:spPr>
          <a:xfrm>
            <a:off x="365760" y="2304288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D978EF6-25A0-070B-14C0-58A6FF8E0B64}"/>
              </a:ext>
            </a:extLst>
          </p:cNvPr>
          <p:cNvSpPr/>
          <p:nvPr/>
        </p:nvSpPr>
        <p:spPr>
          <a:xfrm>
            <a:off x="365760" y="2304288"/>
            <a:ext cx="1280160" cy="1143000"/>
          </a:xfrm>
          <a:prstGeom prst="rect">
            <a:avLst/>
          </a:prstGeom>
          <a:solidFill>
            <a:srgbClr val="C0C0C0">
              <a:alpha val="75000"/>
            </a:srgbClr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020247-E128-BD52-7162-08A397D82C4B}"/>
              </a:ext>
            </a:extLst>
          </p:cNvPr>
          <p:cNvSpPr/>
          <p:nvPr/>
        </p:nvSpPr>
        <p:spPr>
          <a:xfrm>
            <a:off x="365760" y="2304288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SILVER</a:t>
            </a: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D00265F-767E-5066-083A-82512AFD72E2}"/>
              </a:ext>
            </a:extLst>
          </p:cNvPr>
          <p:cNvSpPr/>
          <p:nvPr/>
        </p:nvSpPr>
        <p:spPr>
          <a:xfrm>
            <a:off x="1737360" y="2377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Cleaned, typed, validated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stg_stops · stg_routes · stg_stop_times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NULL filtering, type casting, transport mode mapping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D801552-62CF-2398-F286-FB7998A2FA8A}"/>
              </a:ext>
            </a:extLst>
          </p:cNvPr>
          <p:cNvSpPr/>
          <p:nvPr/>
        </p:nvSpPr>
        <p:spPr>
          <a:xfrm>
            <a:off x="1737360" y="3108960"/>
            <a:ext cx="6858000" cy="36576"/>
          </a:xfrm>
          <a:prstGeom prst="rect">
            <a:avLst/>
          </a:prstGeom>
          <a:solidFill>
            <a:srgbClr val="C0C0C0">
              <a:alpha val="40000"/>
            </a:srgbClr>
          </a:solidFill>
          <a:ln w="12700">
            <a:solidFill>
              <a:srgbClr val="C0C0C0">
                <a:alpha val="40000"/>
              </a:srgbClr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14E351-67A0-499B-1446-3188CFCCF7F3}"/>
              </a:ext>
            </a:extLst>
          </p:cNvPr>
          <p:cNvSpPr/>
          <p:nvPr/>
        </p:nvSpPr>
        <p:spPr>
          <a:xfrm>
            <a:off x="1737360" y="316382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C0"/>
                </a:solidFill>
              </a:rPr>
              <a:t>Views built by dbt — always fresh from bronze</a:t>
            </a:r>
            <a:endParaRPr lang="en-US" sz="9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B8AED88-4417-A123-2802-6FA63A7601BA}"/>
              </a:ext>
            </a:extLst>
          </p:cNvPr>
          <p:cNvSpPr/>
          <p:nvPr/>
        </p:nvSpPr>
        <p:spPr>
          <a:xfrm>
            <a:off x="365760" y="3602736"/>
            <a:ext cx="8412480" cy="11430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31085F6-CAA2-3BE4-CE02-0E1F8161986A}"/>
              </a:ext>
            </a:extLst>
          </p:cNvPr>
          <p:cNvSpPr/>
          <p:nvPr/>
        </p:nvSpPr>
        <p:spPr>
          <a:xfrm>
            <a:off x="365760" y="3602736"/>
            <a:ext cx="1280160" cy="1143000"/>
          </a:xfrm>
          <a:prstGeom prst="rect">
            <a:avLst/>
          </a:prstGeom>
          <a:solidFill>
            <a:srgbClr val="FFD166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0598370-D28C-7842-4E3E-9575693D493C}"/>
              </a:ext>
            </a:extLst>
          </p:cNvPr>
          <p:cNvSpPr/>
          <p:nvPr/>
        </p:nvSpPr>
        <p:spPr>
          <a:xfrm>
            <a:off x="365760" y="3602736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GOLD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1361BA9-B1C3-CBD6-CB14-13701027DEA6}"/>
              </a:ext>
            </a:extLst>
          </p:cNvPr>
          <p:cNvSpPr/>
          <p:nvPr/>
        </p:nvSpPr>
        <p:spPr>
          <a:xfrm>
            <a:off x="1737360" y="367588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Aggregated for consumption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fct_busiest_stops · fct_departures_by_hour · fct_routes_by_mode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Power BI reads only from here — no raw data exposure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01116FF-08DE-977B-5439-B2E28296C490}"/>
              </a:ext>
            </a:extLst>
          </p:cNvPr>
          <p:cNvSpPr/>
          <p:nvPr/>
        </p:nvSpPr>
        <p:spPr>
          <a:xfrm>
            <a:off x="1737360" y="4407408"/>
            <a:ext cx="6858000" cy="36576"/>
          </a:xfrm>
          <a:prstGeom prst="rect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7DB2529-BEAC-C9CD-C494-30C3DDE5C9C7}"/>
              </a:ext>
            </a:extLst>
          </p:cNvPr>
          <p:cNvSpPr/>
          <p:nvPr/>
        </p:nvSpPr>
        <p:spPr>
          <a:xfrm>
            <a:off x="1737360" y="446227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</a:rPr>
              <a:t>11,809 stops ranked · 24hr pattern · 5 transport modes</a:t>
            </a:r>
            <a:endParaRPr lang="en-US" sz="9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8A62855-6B75-8D6C-AF6C-3D24BBC42451}"/>
              </a:ext>
            </a:extLst>
          </p:cNvPr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A8C630C-1BAF-03B7-F41D-38000B05D130}"/>
              </a:ext>
            </a:extLst>
          </p:cNvPr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060"/>
                </a:solidFill>
              </a:rPr>
              <a:t>COPY INTO from ADLS External Stage using SAS token stored in Key Vault — credentials never exposed in code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D577A46-6C63-AF05-0DC3-E7D41D3F8F35}"/>
                  </a:ext>
                </a:extLst>
              </p14:cNvPr>
              <p14:cNvContentPartPr/>
              <p14:nvPr/>
            </p14:nvContentPartPr>
            <p14:xfrm>
              <a:off x="548640" y="3859776"/>
              <a:ext cx="897480" cy="703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D577A46-6C63-AF05-0DC3-E7D41D3F8F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000" y="3824136"/>
                <a:ext cx="969120" cy="77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2350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BAD4C-C736-308E-93D6-67DED1151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740"/>
          <a:stretch>
            <a:fillRect/>
          </a:stretch>
        </p:blipFill>
        <p:spPr>
          <a:xfrm>
            <a:off x="340070" y="1602849"/>
            <a:ext cx="8307106" cy="193780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E6526D3-6F3C-22DA-1CE6-4600006449C7}"/>
              </a:ext>
            </a:extLst>
          </p:cNvPr>
          <p:cNvSpPr/>
          <p:nvPr/>
        </p:nvSpPr>
        <p:spPr>
          <a:xfrm>
            <a:off x="2841702" y="795558"/>
            <a:ext cx="302620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Snowflake Gold Layer (</a:t>
            </a:r>
            <a:r>
              <a:rPr lang="en-US" b="1" dirty="0" err="1">
                <a:solidFill>
                  <a:srgbClr val="0E7490"/>
                </a:solidFill>
              </a:rPr>
              <a:t>dbt</a:t>
            </a:r>
            <a:r>
              <a:rPr lang="en-US" b="1" dirty="0">
                <a:solidFill>
                  <a:srgbClr val="0E7490"/>
                </a:solidFill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144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DBT CLOUD — TRANSFORMATION LAYER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</a:rPr>
              <a:t>Data quality + lineage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Lineage Graph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594360"/>
          </a:xfrm>
          <a:prstGeom prst="rect">
            <a:avLst/>
          </a:prstGeom>
          <a:solidFill>
            <a:srgbClr val="CD7F32">
              <a:alpha val="20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bronze.RAW_STOPS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35808" y="1371600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560320" cy="594360"/>
          </a:xfrm>
          <a:prstGeom prst="rect">
            <a:avLst/>
          </a:prstGeom>
          <a:solidFill>
            <a:srgbClr val="888888">
              <a:alpha val="20000"/>
            </a:srgbClr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stg_stops (silver)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61888" y="1371600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560320" cy="594360"/>
          </a:xfrm>
          <a:prstGeom prst="rect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fct_busiest_stops (gold)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dbt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194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Quality Tests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06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stg_stops.sql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6060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96C7"/>
                </a:solidFill>
              </a:rPr>
              <a:t>Silver · 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606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Cleans + filters raw stops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990088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900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stg_routes.sql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29900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96C7"/>
                </a:solidFill>
              </a:rPr>
              <a:t>Silver · 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29900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Maps route types to modes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374136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74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stg_stop_times.sql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374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96C7"/>
                </a:solidFill>
              </a:rPr>
              <a:t>Silver · 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33741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Extracts departure hours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5818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58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fct_busiest_stops.sql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37581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96C7"/>
                </a:solidFill>
              </a:rPr>
              <a:t>Gold · Table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37581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Ranks stops by departures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142232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42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fct_departures_by_hour.sql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41422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96C7"/>
                </a:solidFill>
              </a:rPr>
              <a:t>Gold · Table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4142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Hourly demand pattern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52628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526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fct_routes_by_mode.sql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4526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96C7"/>
                </a:solidFill>
              </a:rPr>
              <a:t>Gold · Table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4526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Network by transport type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6060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not_null on stop_id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80960" y="2679192"/>
            <a:ext cx="914400" cy="34747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2679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 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2004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unique on stop_id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680960" y="3273552"/>
            <a:ext cx="914400" cy="34747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32735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 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7947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not_null on stop_name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80960" y="3867912"/>
            <a:ext cx="914400" cy="34747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38679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 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438912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389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dbt build (all models)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680960" y="4462272"/>
            <a:ext cx="914400" cy="34747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44622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6/6 PASS ✓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597356-46BC-598C-F7D1-48D1609D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1260322"/>
            <a:ext cx="7245950" cy="344972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88D8752-7280-30C6-6820-EB39CAA78572}"/>
              </a:ext>
            </a:extLst>
          </p:cNvPr>
          <p:cNvSpPr/>
          <p:nvPr/>
        </p:nvSpPr>
        <p:spPr>
          <a:xfrm>
            <a:off x="2330245" y="573562"/>
            <a:ext cx="4866967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0E7490"/>
                </a:solidFill>
              </a:rPr>
              <a:t>Dbt</a:t>
            </a:r>
            <a:r>
              <a:rPr lang="en-US" b="1" dirty="0">
                <a:solidFill>
                  <a:srgbClr val="0E7490"/>
                </a:solidFill>
              </a:rPr>
              <a:t> – Source &amp; Models Configuration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629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96B7A0-E956-3576-B3BB-535F98640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61" y="1122201"/>
            <a:ext cx="7381714" cy="371245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B190BBF-D582-E2A3-8A12-3AE55E5E7E0E}"/>
              </a:ext>
            </a:extLst>
          </p:cNvPr>
          <p:cNvSpPr/>
          <p:nvPr/>
        </p:nvSpPr>
        <p:spPr>
          <a:xfrm>
            <a:off x="3411371" y="470164"/>
            <a:ext cx="268059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0E7490"/>
                </a:solidFill>
              </a:rPr>
              <a:t>dbt</a:t>
            </a:r>
            <a:r>
              <a:rPr lang="en-US" b="1" dirty="0">
                <a:solidFill>
                  <a:srgbClr val="0E7490"/>
                </a:solidFill>
              </a:rPr>
              <a:t> Silver &amp; Gold Model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172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7964B-13FE-9384-B725-6485D0051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42" y="1150570"/>
            <a:ext cx="7093843" cy="3333388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2610FBA0-2A22-D1C8-C802-DB18AEFDC523}"/>
              </a:ext>
            </a:extLst>
          </p:cNvPr>
          <p:cNvSpPr/>
          <p:nvPr/>
        </p:nvSpPr>
        <p:spPr>
          <a:xfrm>
            <a:off x="517756" y="139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BBEF62B-AC35-7527-68C9-1B9672B53E3B}"/>
              </a:ext>
            </a:extLst>
          </p:cNvPr>
          <p:cNvSpPr/>
          <p:nvPr/>
        </p:nvSpPr>
        <p:spPr>
          <a:xfrm>
            <a:off x="3215148" y="587775"/>
            <a:ext cx="294230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0E7490"/>
                </a:solidFill>
              </a:rPr>
              <a:t>dbt</a:t>
            </a:r>
            <a:r>
              <a:rPr lang="en-US" b="1" dirty="0">
                <a:solidFill>
                  <a:srgbClr val="0E7490"/>
                </a:solidFill>
              </a:rPr>
              <a:t> Daily run on Production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652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9D66E-1F82-8D41-83B8-892A3DC98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007" y="1303167"/>
            <a:ext cx="7105920" cy="335390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6219C64-0CD7-2AF7-5CD7-5F6791E519A0}"/>
              </a:ext>
            </a:extLst>
          </p:cNvPr>
          <p:cNvSpPr/>
          <p:nvPr/>
        </p:nvSpPr>
        <p:spPr>
          <a:xfrm>
            <a:off x="3045543" y="587775"/>
            <a:ext cx="4513006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0E7490"/>
                </a:solidFill>
              </a:rPr>
              <a:t>dbt</a:t>
            </a:r>
            <a:r>
              <a:rPr lang="en-US" b="1" dirty="0">
                <a:solidFill>
                  <a:srgbClr val="0E7490"/>
                </a:solidFill>
              </a:rPr>
              <a:t> Daily run on Production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535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C598E5-E290-BDA5-F683-0645D3ED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3" y="1064061"/>
            <a:ext cx="7269501" cy="347092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EA1F8A5-25BD-B7FA-8B84-06728EA2D9E0}"/>
              </a:ext>
            </a:extLst>
          </p:cNvPr>
          <p:cNvSpPr/>
          <p:nvPr/>
        </p:nvSpPr>
        <p:spPr>
          <a:xfrm>
            <a:off x="2938444" y="437069"/>
            <a:ext cx="294230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Power Bi Scheduled Refresh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763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5A82C1-4790-1B76-9A21-6938EA52E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94" y="906182"/>
            <a:ext cx="6888103" cy="3650293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F21581B-B46A-828B-BC81-841FF8C17285}"/>
              </a:ext>
            </a:extLst>
          </p:cNvPr>
          <p:cNvSpPr/>
          <p:nvPr/>
        </p:nvSpPr>
        <p:spPr>
          <a:xfrm>
            <a:off x="2204250" y="415575"/>
            <a:ext cx="5127994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Power Bi Connected to Snowflake Gold Layer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900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</a:rPr>
              <a:t>What the data tells us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144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91440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527620" y="343357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0922F34-A976-3142-BD35-67B86452DC6A}"/>
              </a:ext>
            </a:extLst>
          </p:cNvPr>
          <p:cNvGrpSpPr/>
          <p:nvPr/>
        </p:nvGrpSpPr>
        <p:grpSpPr>
          <a:xfrm>
            <a:off x="2527620" y="3429000"/>
            <a:ext cx="4023360" cy="594360"/>
            <a:chOff x="365760" y="3429000"/>
            <a:chExt cx="4023360" cy="594360"/>
          </a:xfrm>
        </p:grpSpPr>
        <p:sp>
          <p:nvSpPr>
            <p:cNvPr id="8" name="Shape 4"/>
            <p:cNvSpPr/>
            <p:nvPr/>
          </p:nvSpPr>
          <p:spPr>
            <a:xfrm>
              <a:off x="365760" y="3429000"/>
              <a:ext cx="54864" cy="59436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9" name="Text 5"/>
            <p:cNvSpPr/>
            <p:nvPr/>
          </p:nvSpPr>
          <p:spPr>
            <a:xfrm>
              <a:off x="502920" y="3465576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</a:rPr>
                <a:t>🚌 Bus Dominates</a:t>
              </a:r>
              <a:endParaRPr lang="en-US" sz="11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502920" y="3730752"/>
              <a:ext cx="3886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6278"/>
                  </a:solidFill>
                </a:rPr>
                <a:t>89.9% of all routes are bus — Stockholm's network is overwhelmingly bus-dependent</a:t>
              </a:r>
              <a:endParaRPr lang="en-US" sz="950" dirty="0"/>
            </a:p>
          </p:txBody>
        </p:sp>
      </p:grpSp>
      <p:sp>
        <p:nvSpPr>
          <p:cNvPr id="15" name="Shape 11"/>
          <p:cNvSpPr/>
          <p:nvPr/>
        </p:nvSpPr>
        <p:spPr>
          <a:xfrm>
            <a:off x="365760" y="414223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4142232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⏰ Evening Peak at 17:00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44439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Demand peaks at 16-17:00, not morning — suggesting asymmetric commuter patterns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800600" y="4142232"/>
            <a:ext cx="4160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00600" y="4142232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37760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🌙 24-Hour Service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37760" y="44439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Service runs from 05:00 to 23:00 — night service is minimal across all modes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18B5FAC-9853-E614-4349-76AB5381FDB9}"/>
              </a:ext>
            </a:extLst>
          </p:cNvPr>
          <p:cNvGrpSpPr/>
          <p:nvPr/>
        </p:nvGrpSpPr>
        <p:grpSpPr>
          <a:xfrm>
            <a:off x="2401814" y="4367881"/>
            <a:ext cx="4160520" cy="594360"/>
            <a:chOff x="4800600" y="3429000"/>
            <a:chExt cx="4160520" cy="594360"/>
          </a:xfrm>
        </p:grpSpPr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52A47785-74E8-16EC-A25A-DABD0FC77F5A}"/>
                </a:ext>
              </a:extLst>
            </p:cNvPr>
            <p:cNvSpPr/>
            <p:nvPr/>
          </p:nvSpPr>
          <p:spPr>
            <a:xfrm>
              <a:off x="4800600" y="3429000"/>
              <a:ext cx="416052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CE8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7000"/>
                </a:srgbClr>
              </a:outerShdw>
            </a:effectLst>
          </p:spPr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E4CB3C41-781E-8AA4-20AD-6240CAC55F59}"/>
                </a:ext>
              </a:extLst>
            </p:cNvPr>
            <p:cNvSpPr/>
            <p:nvPr/>
          </p:nvSpPr>
          <p:spPr>
            <a:xfrm>
              <a:off x="4800600" y="3429000"/>
              <a:ext cx="54864" cy="59436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0358D034-6AD4-FCB7-56A2-319996AA88CC}"/>
                </a:ext>
              </a:extLst>
            </p:cNvPr>
            <p:cNvSpPr/>
            <p:nvPr/>
          </p:nvSpPr>
          <p:spPr>
            <a:xfrm>
              <a:off x="4937760" y="3465576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</a:rPr>
                <a:t>📍 Busiest Stop: Slussen</a:t>
              </a:r>
              <a:endParaRPr lang="en-US" sz="11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1BFCE615-57C8-93BC-E970-C4C159F0ABB1}"/>
                </a:ext>
              </a:extLst>
            </p:cNvPr>
            <p:cNvSpPr/>
            <p:nvPr/>
          </p:nvSpPr>
          <p:spPr>
            <a:xfrm>
              <a:off x="4937760" y="3730752"/>
              <a:ext cx="3886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A6278"/>
                  </a:solidFill>
                </a:rPr>
                <a:t>Slussen has ~20K daily departures — the single most connected interchange in Stockholm</a:t>
              </a:r>
              <a:endParaRPr lang="en-US" sz="95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3744987-8159-99BD-0A7D-29ED722D4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96" y="603206"/>
            <a:ext cx="6992887" cy="365037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DF82F1F-F30F-CF7A-A71A-CBDD4F793F70}"/>
              </a:ext>
            </a:extLst>
          </p:cNvPr>
          <p:cNvSpPr/>
          <p:nvPr/>
        </p:nvSpPr>
        <p:spPr>
          <a:xfrm>
            <a:off x="3620031" y="199991"/>
            <a:ext cx="294230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Key Insights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709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72C4C-52F6-5B5B-58F8-A228AC601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88" y="564818"/>
            <a:ext cx="4550784" cy="40138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10E29EE-9596-DF1E-2A27-416F229512FB}"/>
              </a:ext>
            </a:extLst>
          </p:cNvPr>
          <p:cNvSpPr/>
          <p:nvPr/>
        </p:nvSpPr>
        <p:spPr>
          <a:xfrm>
            <a:off x="5540109" y="2291213"/>
            <a:ext cx="294230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E7490"/>
                </a:solidFill>
              </a:rPr>
              <a:t>GitHub Repo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00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 </a:t>
            </a:r>
            <a:r>
              <a:rPr lang="en-US" sz="1300" dirty="0">
                <a:solidFill>
                  <a:srgbClr val="FFFFFF"/>
                </a:solidFill>
              </a:rPr>
              <a:t>Real Trafiklab data — 21,829 stops, 614 routes, 2.78M scheduled departures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906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 </a:t>
            </a:r>
            <a:r>
              <a:rPr lang="en-US" sz="1300" dirty="0">
                <a:solidFill>
                  <a:srgbClr val="FFFFFF"/>
                </a:solidFill>
              </a:rPr>
              <a:t>Full Azure cloud pipeline with security by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381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 </a:t>
            </a:r>
            <a:r>
              <a:rPr lang="en-US" sz="1300" dirty="0">
                <a:solidFill>
                  <a:srgbClr val="FFFFFF"/>
                </a:solidFill>
              </a:rPr>
              <a:t>Medallion architecture: bronze → silver → gold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856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 </a:t>
            </a:r>
            <a:r>
              <a:rPr lang="en-US" sz="1300" dirty="0">
                <a:solidFill>
                  <a:srgbClr val="FFFFFF"/>
                </a:solidFill>
              </a:rPr>
              <a:t>dbt tests ensuring data quality at every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330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→ </a:t>
            </a:r>
            <a:r>
              <a:rPr lang="en-US" sz="1300" dirty="0">
                <a:solidFill>
                  <a:srgbClr val="FFFFFF"/>
                </a:solidFill>
              </a:rPr>
              <a:t>Live Power BI dashboard connected to Snowflake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</a:rPr>
              <a:t>Pritha Banerjee · DA27 · Hyper Island Stockholm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4970</TotalTime>
  <Words>1284</Words>
  <Application>Microsoft Office PowerPoint</Application>
  <PresentationFormat>On-screen Show (16:9)</PresentationFormat>
  <Paragraphs>232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Stockholm Transport Analytics Pipeline</dc:title>
  <dc:subject>PptxGenJS Presentation</dc:subject>
  <dc:creator>Pritha Banerjee</dc:creator>
  <cp:lastModifiedBy>Subrata Rakshit</cp:lastModifiedBy>
  <cp:revision>22</cp:revision>
  <dcterms:created xsi:type="dcterms:W3CDTF">2026-05-28T11:02:49Z</dcterms:created>
  <dcterms:modified xsi:type="dcterms:W3CDTF">2026-06-06T14:50:13Z</dcterms:modified>
</cp:coreProperties>
</file>